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오프닝 (2분): 오늘은 그래프가 언제 필요한지 판단하고, 인덱싱과 검색을 구분해 13개 논문을 비교합니다. 모든 그림은 발표용 재구성입니다. 현장 데모에서 일부 방법은 논문 그대로가 아닌 proxy 구현입니다.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예제는 프로젝트 내의 합성 문서입니다. 특정 회사에 관한 실존 사실을 주장하지 않습니다. Vector retrieval은 관련 문서를 찾고 Graph retrieval은 여러 문서 간 경로를 확장할 수 있습니다. 잘못 추출된 edge가 있으면 경로도 틀릴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Indexing(사전 구축)은 청크·문서 구조화와 KG 추출, community detection, embedding, provenance 저장이 핵심입니다. Retrieval(질의시)은 seed 찾기, graph 확장, 랭킹 및 LLM prompt 구성이 핵심입니다. 인덱싱 비용과 1회 검색 latency를 구분해 평가합니다.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6가지 설계 흐름과 benchmark를 나눠 소개합니다. When to use Graphs in RAG는 새로운 그래프 검색 알고리즘이 아니라 평가 연구입니다. 논문 소개 자료의 순서는 비교를 돕기 위해 재배열했습니다.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[RAPTOR — INDEXING] 약 50~75초 설명.</a:t>
            </a:r>
          </a:p>
          <a:p>
            <a:r>
              <a:t>핵심 문제: 원문과 상위 요약을 함께 검색해 여러 해상도의 맥락을 찾습니다.</a:t>
            </a:r>
          </a:p>
          <a:p>
            <a:r>
              <a:t>단계별 순서:</a:t>
            </a:r>
          </a:p>
          <a:p>
            <a:r>
              <a:t>  1. 원문 Chunk + embedding</a:t>
            </a:r>
          </a:p>
          <a:p>
            <a:r>
              <a:t>  2. UMAP 차원축소 / GMM soft clustering</a:t>
            </a:r>
          </a:p>
          <a:p>
            <a:r>
              <a:t>  3. Cluster별 LLM 요약 생성</a:t>
            </a:r>
          </a:p>
          <a:p>
            <a:r>
              <a:t>  4. Summary를 재임베딩하며 재귀 반복</a:t>
            </a:r>
          </a:p>
          <a:p>
            <a:r>
              <a:t>  5. Leaf + Summary tree 저장</a:t>
            </a:r>
          </a:p>
          <a:p>
            <a:r>
              <a:t>발표 예시: 배송 시스템 전체 전략과 특정 성과 수치를 한 번에 묻기</a:t>
            </a:r>
          </a:p>
          <a:p>
            <a:r>
              <a:t>논문 근거·구현 주의점: RAPTOR는 엔티티 관계 그래프보다 요약 트리 기반 다중 해상도 검색에 집중한다. soft cluster와 recursive summary의 선택을 설명한다. 사이트는 2-level proxy.</a:t>
            </a:r>
          </a:p>
          <a:p>
            <a:r>
              <a:t>장점: 장문 문서·요약과 세부사항을 모두 요구하는 질의</a:t>
            </a:r>
          </a:p>
          <a:p>
            <a:r>
              <a:t>한계: 요약 노드가 세부사실을 누락할 수 있음</a:t>
            </a:r>
          </a:p>
          <a:p>
            <a:r>
              <a:t>웹 실습은 교육용 축소 구현: 2단계 계층·요약을 사용하는 축소 재현; 원 논문 클러스터링·재귀 트리 전체 구현은 아님</a:t>
            </a:r>
          </a:p>
          <a:p>
            <a:r>
              <a:t>논문: https://arxiv.org/abs/2401.18059</a:t>
            </a:r>
          </a:p>
          <a:p>
            <a:r>
              <a:t>원 구현: https://github.com/parthsarthi03/raptor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[RAPTOR — RETRIEVAL] 약 50~75초 설명.</a:t>
            </a:r>
          </a:p>
          <a:p>
            <a:r>
              <a:t>핵심 문제: 원문과 상위 요약을 함께 검색해 여러 해상도의 맥락을 찾습니다.</a:t>
            </a:r>
          </a:p>
          <a:p>
            <a:r>
              <a:t>단계별 순서:</a:t>
            </a:r>
          </a:p>
          <a:p>
            <a:r>
              <a:t>  1. 질문 embedding</a:t>
            </a:r>
          </a:p>
          <a:p>
            <a:r>
              <a:t>  2. Tree 전체 또는 level별 similarity 탐색</a:t>
            </a:r>
          </a:p>
          <a:p>
            <a:r>
              <a:t>  3. Leaf / Summary node 선택</a:t>
            </a:r>
          </a:p>
          <a:p>
            <a:r>
              <a:t>  4. 다양한 해상도의 근거 병합</a:t>
            </a:r>
          </a:p>
          <a:p>
            <a:r>
              <a:t>  5. LLM answer + source trace</a:t>
            </a:r>
          </a:p>
          <a:p>
            <a:r>
              <a:t>발표 예시: 배송 시스템 전체 전략과 특정 성과 수치를 한 번에 묻기</a:t>
            </a:r>
          </a:p>
          <a:p>
            <a:r>
              <a:t>논문 근거·구현 주의점: RAPTOR는 엔티티 관계 그래프보다 요약 트리 기반 다중 해상도 검색에 집중한다. soft cluster와 recursive summary의 선택을 설명한다. 사이트는 2-level proxy.</a:t>
            </a:r>
          </a:p>
          <a:p>
            <a:r>
              <a:t>장점: 장문 문서·요약과 세부사항을 모두 요구하는 질의</a:t>
            </a:r>
          </a:p>
          <a:p>
            <a:r>
              <a:t>한계: 요약 노드가 세부사실을 누락할 수 있음</a:t>
            </a:r>
          </a:p>
          <a:p>
            <a:r>
              <a:t>웹 실습은 교육용 축소 구현: 2단계 계층·요약을 사용하는 축소 재현; 원 논문 클러스터링·재귀 트리 전체 구현은 아님</a:t>
            </a:r>
          </a:p>
          <a:p>
            <a:r>
              <a:t>논문: https://arxiv.org/abs/2401.18059</a:t>
            </a:r>
          </a:p>
          <a:p>
            <a:r>
              <a:t>원 구현: https://github.com/parthsarthi03/raptor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[Microsoft GraphRAG — INDEXING] 약 50~75초 설명.</a:t>
            </a:r>
          </a:p>
          <a:p>
            <a:r>
              <a:t>핵심 문제: 관계 그래프로 공동체를 만들고 보고서를 모아 전체적인 질문에 답합니다.</a:t>
            </a:r>
          </a:p>
          <a:p>
            <a:r>
              <a:t>단계별 순서:</a:t>
            </a:r>
          </a:p>
          <a:p>
            <a:r>
              <a:t>  1. Corpus → Text units</a:t>
            </a:r>
          </a:p>
          <a:p>
            <a:r>
              <a:t>  2. LLM Entity / Relationship / Claims 추출</a:t>
            </a:r>
          </a:p>
          <a:p>
            <a:r>
              <a:t>  3. Entity description / edge 병합</a:t>
            </a:r>
          </a:p>
          <a:p>
            <a:r>
              <a:t>  4. Leiden 계층 커뮤니티 탐지</a:t>
            </a:r>
          </a:p>
          <a:p>
            <a:r>
              <a:t>  5. Community Report 생성 + 저장</a:t>
            </a:r>
          </a:p>
          <a:p>
            <a:r>
              <a:t>발표 예시: 2026년 기술 전략의 공통 주제 3가지는?</a:t>
            </a:r>
          </a:p>
          <a:p>
            <a:r>
              <a:t>논문 근거·구현 주의점: 논문은 Global query-focused summarization이 주 문제다. Local search는 entity-neighborhood 및 source passages를 사용한다. 모든 report 대상으로 map reduce하면 비용이 크다. 사이트의 그룹 요약은 Leiden/map-reduce 생략.</a:t>
            </a:r>
          </a:p>
          <a:p>
            <a:r>
              <a:t>장점: 전체 데이터의 테마·트렌드·핵심 이슈</a:t>
            </a:r>
          </a:p>
          <a:p>
            <a:r>
              <a:t>한계: 엔티티 추출·커뮤니티 리포트 생성 비용</a:t>
            </a:r>
          </a:p>
          <a:p>
            <a:r>
              <a:t>웹 실습은 교육용 축소 구현: 간소화한 클러스터 리포트 검색; Leiden / full map-reduce 미포함</a:t>
            </a:r>
          </a:p>
          <a:p>
            <a:r>
              <a:t>논문: https://arxiv.org/abs/2404.16130</a:t>
            </a:r>
          </a:p>
          <a:p>
            <a:r>
              <a:t>원 구현: https://github.com/microsoft/graphrag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[Microsoft GraphRAG — RETRIEVAL] 약 50~75초 설명.</a:t>
            </a:r>
          </a:p>
          <a:p>
            <a:r>
              <a:t>핵심 문제: 관계 그래프로 공동체를 만들고 보고서를 모아 전체적인 질문에 답합니다.</a:t>
            </a:r>
          </a:p>
          <a:p>
            <a:r>
              <a:t>단계별 순서:</a:t>
            </a:r>
          </a:p>
          <a:p>
            <a:r>
              <a:t>  1. Global 질문 → Community Reports</a:t>
            </a:r>
          </a:p>
          <a:p>
            <a:r>
              <a:t>  2. Report별 map-stage 부분 답변</a:t>
            </a:r>
          </a:p>
          <a:p>
            <a:r>
              <a:t>  3. 중요도 / 품질 점수 지정</a:t>
            </a:r>
          </a:p>
          <a:p>
            <a:r>
              <a:t>  4. Reduce 단계에서 핵심 근거 종합</a:t>
            </a:r>
          </a:p>
          <a:p>
            <a:r>
              <a:t>  5. 최종 답변 + report citations</a:t>
            </a:r>
          </a:p>
          <a:p>
            <a:r>
              <a:t>발표 예시: 2026년 기술 전략의 공통 주제 3가지는?</a:t>
            </a:r>
          </a:p>
          <a:p>
            <a:r>
              <a:t>논문 근거·구현 주의점: 논문은 Global query-focused summarization이 주 문제다. Local search는 entity-neighborhood 및 source passages를 사용한다. 모든 report 대상으로 map reduce하면 비용이 크다. 사이트의 그룹 요약은 Leiden/map-reduce 생략.</a:t>
            </a:r>
          </a:p>
          <a:p>
            <a:r>
              <a:t>장점: 전체 데이터의 테마·트렌드·핵심 이슈</a:t>
            </a:r>
          </a:p>
          <a:p>
            <a:r>
              <a:t>한계: 엔티티 추출·커뮤니티 리포트 생성 비용</a:t>
            </a:r>
          </a:p>
          <a:p>
            <a:r>
              <a:t>웹 실습은 교육용 축소 구현: 간소화한 클러스터 리포트 검색; Leiden / full map-reduce 미포함</a:t>
            </a:r>
          </a:p>
          <a:p>
            <a:r>
              <a:t>논문: https://arxiv.org/abs/2404.16130</a:t>
            </a:r>
          </a:p>
          <a:p>
            <a:r>
              <a:t>원 구현: https://github.com/microsoft/graphrag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[LightRAG — INDEXING] 약 50~75초 설명.</a:t>
            </a:r>
          </a:p>
          <a:p>
            <a:r>
              <a:t>핵심 문제: 엔티티의 국소 정보와 관계의 상위 정보를 함께 조회합니다.</a:t>
            </a:r>
          </a:p>
          <a:p>
            <a:r>
              <a:t>단계별 순서:</a:t>
            </a:r>
          </a:p>
          <a:p>
            <a:r>
              <a:t>  1. Chunk 분할 및 고유 ID</a:t>
            </a:r>
          </a:p>
          <a:p>
            <a:r>
              <a:t>  2. LLM 엔티티 / 관계 추출 + dedup</a:t>
            </a:r>
          </a:p>
          <a:p>
            <a:r>
              <a:t>  3. Entity / Relation 설명 병합</a:t>
            </a:r>
          </a:p>
          <a:p>
            <a:r>
              <a:t>  4. Graph + Vector / KV index 구축</a:t>
            </a:r>
          </a:p>
          <a:p>
            <a:r>
              <a:t>  5. 신규 문서 증분 업데이트</a:t>
            </a:r>
          </a:p>
          <a:p>
            <a:r>
              <a:t>발표 예시: TrafficStream, Orion, Beacon의 관계를 묻기</a:t>
            </a:r>
          </a:p>
          <a:p>
            <a:r>
              <a:t>논문 근거·구현 주의점: Low-level은 entity 정보, high-level은 relationship 중심이다. 최근 구현은 hybrid/mix mode 및 reranker 등을 지원한다. 사이트는 dual-level core idea proxy.</a:t>
            </a:r>
          </a:p>
          <a:p>
            <a:r>
              <a:t>장점: 엔티티 중심 질의·가벼운 증분형 RAG</a:t>
            </a:r>
          </a:p>
          <a:p>
            <a:r>
              <a:t>한계: 키워드 및 추출된 관계 품질에 민감</a:t>
            </a:r>
          </a:p>
          <a:p>
            <a:r>
              <a:t>웹 실습은 교육용 축소 구현: 엔티티·관계 이중 검색의 핵심을 구현; 원 논문 키워드 프롬프트와 인덱스는 축약</a:t>
            </a:r>
          </a:p>
          <a:p>
            <a:r>
              <a:t>논문: https://arxiv.org/abs/2410.05779</a:t>
            </a:r>
          </a:p>
          <a:p>
            <a:r>
              <a:t>원 구현: https://github.com/HKUDS/LightRAG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[LightRAG — RETRIEVAL] 약 50~75초 설명.</a:t>
            </a:r>
          </a:p>
          <a:p>
            <a:r>
              <a:t>핵심 문제: 엔티티의 국소 정보와 관계의 상위 정보를 함께 조회합니다.</a:t>
            </a:r>
          </a:p>
          <a:p>
            <a:r>
              <a:t>단계별 순서:</a:t>
            </a:r>
          </a:p>
          <a:p>
            <a:r>
              <a:t>  1. Query → low / high keyword 추출</a:t>
            </a:r>
          </a:p>
          <a:p>
            <a:r>
              <a:t>  2. Low-level entity 벡터 검색</a:t>
            </a:r>
          </a:p>
          <a:p>
            <a:r>
              <a:t>  3. High-level relation 벡터 검색</a:t>
            </a:r>
          </a:p>
          <a:p>
            <a:r>
              <a:t>  4. Neighbor expansion + chunk provenance</a:t>
            </a:r>
          </a:p>
          <a:p>
            <a:r>
              <a:t>  5. Hybrid context 정렬 → LLM</a:t>
            </a:r>
          </a:p>
          <a:p>
            <a:r>
              <a:t>발표 예시: TrafficStream, Orion, Beacon의 관계를 묻기</a:t>
            </a:r>
          </a:p>
          <a:p>
            <a:r>
              <a:t>논문 근거·구현 주의점: Low-level은 entity 정보, high-level은 relationship 중심이다. 최근 구현은 hybrid/mix mode 및 reranker 등을 지원한다. 사이트는 dual-level core idea proxy.</a:t>
            </a:r>
          </a:p>
          <a:p>
            <a:r>
              <a:t>장점: 엔티티 중심 질의·가벼운 증분형 RAG</a:t>
            </a:r>
          </a:p>
          <a:p>
            <a:r>
              <a:t>한계: 키워드 및 추출된 관계 품질에 민감</a:t>
            </a:r>
          </a:p>
          <a:p>
            <a:r>
              <a:t>웹 실습은 교육용 축소 구현: 엔티티·관계 이중 검색의 핵심을 구현; 원 논문 키워드 프롬프트와 인덱스는 축약</a:t>
            </a:r>
          </a:p>
          <a:p>
            <a:r>
              <a:t>논문: https://arxiv.org/abs/2410.05779</a:t>
            </a:r>
          </a:p>
          <a:p>
            <a:r>
              <a:t>원 구현: https://github.com/HKUDS/LightRAG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[HippoRAG — INDEXING] 약 50~75초 설명.</a:t>
            </a:r>
          </a:p>
          <a:p>
            <a:r>
              <a:t>핵심 문제: 질문 엔티티에서 Personalized PageRank로 관련 근거를 확산 검색합니다.</a:t>
            </a:r>
          </a:p>
          <a:p>
            <a:r>
              <a:t>단계별 순서:</a:t>
            </a:r>
          </a:p>
          <a:p>
            <a:r>
              <a:t>  1. Passage 단위 문서 분할</a:t>
            </a:r>
          </a:p>
          <a:p>
            <a:r>
              <a:t>  2. OpenIE Triple 추출</a:t>
            </a:r>
          </a:p>
          <a:p>
            <a:r>
              <a:t>  3. Triple 정규화 / 동의어 연결</a:t>
            </a:r>
          </a:p>
          <a:p>
            <a:r>
              <a:t>  4. Entity KG + Passage mapping 저장</a:t>
            </a:r>
          </a:p>
          <a:p>
            <a:r>
              <a:t>  5. 비모수 장기기억 인덱스</a:t>
            </a:r>
          </a:p>
          <a:p>
            <a:r>
              <a:t>발표 예시: TrafficStream부터 고객사 지연 감소까지 multi-hop 경로</a:t>
            </a:r>
          </a:p>
          <a:p>
            <a:r>
              <a:t>논문 근거·구현 주의점: PPR은 seed 중심으로 graph 전체에 확률질량을 전파하여 연관 passage를 찾는다. 틀린 triple 한 개가 잘못된 경로를 만들 위험을 언급한다.</a:t>
            </a:r>
          </a:p>
          <a:p>
            <a:r>
              <a:t>장점: 여러 문서에 걸친 multi-hop 질문</a:t>
            </a:r>
          </a:p>
          <a:p>
            <a:r>
              <a:t>한계: 잘못 연결된 엔티티가 전파 오류를 만듦</a:t>
            </a:r>
          </a:p>
          <a:p>
            <a:r>
              <a:t>웹 실습은 교육용 축소 구현: 실제 PPR 기반 교육용 재현; OpenIE/동의어 링크는 단순화</a:t>
            </a:r>
          </a:p>
          <a:p>
            <a:r>
              <a:t>논문: https://arxiv.org/abs/2405.14831</a:t>
            </a:r>
          </a:p>
          <a:p>
            <a:r>
              <a:t>원 구현: https://github.com/OSU-NLP-Group/HippoRAG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[HippoRAG — RETRIEVAL] 약 50~75초 설명.</a:t>
            </a:r>
          </a:p>
          <a:p>
            <a:r>
              <a:t>핵심 문제: 질문 엔티티에서 Personalized PageRank로 관련 근거를 확산 검색합니다.</a:t>
            </a:r>
          </a:p>
          <a:p>
            <a:r>
              <a:t>단계별 순서:</a:t>
            </a:r>
          </a:p>
          <a:p>
            <a:r>
              <a:t>  1. Query에서 named-entity / keyphrase seed</a:t>
            </a:r>
          </a:p>
          <a:p>
            <a:r>
              <a:t>  2. KG node grounding</a:t>
            </a:r>
          </a:p>
          <a:p>
            <a:r>
              <a:t>  3. Personalized PageRank 확산</a:t>
            </a:r>
          </a:p>
          <a:p>
            <a:r>
              <a:t>  4. 높은 score entity → Passage 매핑</a:t>
            </a:r>
          </a:p>
          <a:p>
            <a:r>
              <a:t>  5. 근거 passage로 단일 LLM 생성</a:t>
            </a:r>
          </a:p>
          <a:p>
            <a:r>
              <a:t>발표 예시: TrafficStream부터 고객사 지연 감소까지 multi-hop 경로</a:t>
            </a:r>
          </a:p>
          <a:p>
            <a:r>
              <a:t>논문 근거·구현 주의점: PPR은 seed 중심으로 graph 전체에 확률질량을 전파하여 연관 passage를 찾는다. 틀린 triple 한 개가 잘못된 경로를 만들 위험을 언급한다.</a:t>
            </a:r>
          </a:p>
          <a:p>
            <a:r>
              <a:t>장점: 여러 문서에 걸친 multi-hop 질문</a:t>
            </a:r>
          </a:p>
          <a:p>
            <a:r>
              <a:t>한계: 잘못 연결된 엔티티가 전파 오류를 만듦</a:t>
            </a:r>
          </a:p>
          <a:p>
            <a:r>
              <a:t>웹 실습은 교육용 축소 구현: 실제 PPR 기반 교육용 재현; OpenIE/동의어 링크는 단순화</a:t>
            </a:r>
          </a:p>
          <a:p>
            <a:r>
              <a:t>논문: https://arxiv.org/abs/2405.14831</a:t>
            </a:r>
          </a:p>
          <a:p>
            <a:r>
              <a:t>원 구현: https://github.com/OSU-NLP-Group/HippoRAG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[HippoRAG 2 — INDEXING] 약 50~75초 설명.</a:t>
            </a:r>
          </a:p>
          <a:p>
            <a:r>
              <a:t>핵심 문제: 질문에 맞는 Passage를 먼저 인식하고 그래프 메모리와 함께 확산합니다.</a:t>
            </a:r>
          </a:p>
          <a:p>
            <a:r>
              <a:t>단계별 순서:</a:t>
            </a:r>
          </a:p>
          <a:p>
            <a:r>
              <a:t>  1. OpenIE 문서 / phrase 노드</a:t>
            </a:r>
          </a:p>
          <a:p>
            <a:r>
              <a:t>  2. Phrase–phrase semantic links</a:t>
            </a:r>
          </a:p>
          <a:p>
            <a:r>
              <a:t>  3. Passage node를 graph와 직접 연결</a:t>
            </a:r>
          </a:p>
          <a:p>
            <a:r>
              <a:t>  4. Passage/phrase embedding 저장</a:t>
            </a:r>
          </a:p>
          <a:p>
            <a:r>
              <a:t>  5. KG + Passage augmented memory</a:t>
            </a:r>
          </a:p>
          <a:p>
            <a:r>
              <a:t>발표 예시: 직접 사실 검색과 2~3 hop 질문을 같은 시스템으로</a:t>
            </a:r>
          </a:p>
          <a:p>
            <a:r>
              <a:t>논문 근거·구현 주의점: HippoRAG2는 passage의 semantic evidence를 PPR 메모리에 더 깊게 통합한다. 원 구현 LLM filtering / recognition은 단순 vector seed와 다르다. 사이트는 proxy.</a:t>
            </a:r>
          </a:p>
          <a:p>
            <a:r>
              <a:t>장점: 문맥이 중요한 multi-hop 검색</a:t>
            </a:r>
          </a:p>
          <a:p>
            <a:r>
              <a:t>한계: 추가 연결과 seed 보정에 따른 비용</a:t>
            </a:r>
          </a:p>
          <a:p>
            <a:r>
              <a:t>웹 실습은 교육용 축소 구현: passage-aware seed + PPR 교육용 축소; 실제 recognition memory 학습 과정 없음</a:t>
            </a:r>
          </a:p>
          <a:p>
            <a:r>
              <a:t>논문: https://arxiv.org/abs/2502.14802</a:t>
            </a:r>
          </a:p>
          <a:p>
            <a:r>
              <a:t>원 구현: https://github.com/OSU-NLP-Group/HippoRAG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[HippoRAG 2 — RETRIEVAL] 약 50~75초 설명.</a:t>
            </a:r>
          </a:p>
          <a:p>
            <a:r>
              <a:t>핵심 문제: 질문에 맞는 Passage를 먼저 인식하고 그래프 메모리와 함께 확산합니다.</a:t>
            </a:r>
          </a:p>
          <a:p>
            <a:r>
              <a:t>단계별 순서:</a:t>
            </a:r>
          </a:p>
          <a:p>
            <a:r>
              <a:t>  1. 질문 기반 phrase seed 검색</a:t>
            </a:r>
          </a:p>
          <a:p>
            <a:r>
              <a:t>  2. Passage recognition / relevance 준비</a:t>
            </a:r>
          </a:p>
          <a:p>
            <a:r>
              <a:t>  3. Phrase + Passage hybrid PPR</a:t>
            </a:r>
          </a:p>
          <a:p>
            <a:r>
              <a:t>  4. Passage reranking 및 filtering</a:t>
            </a:r>
          </a:p>
          <a:p>
            <a:r>
              <a:t>  5. LLM reasoning → evidence grounded 답변</a:t>
            </a:r>
          </a:p>
          <a:p>
            <a:r>
              <a:t>발표 예시: 직접 사실 검색과 2~3 hop 질문을 같은 시스템으로</a:t>
            </a:r>
          </a:p>
          <a:p>
            <a:r>
              <a:t>논문 근거·구현 주의점: HippoRAG2는 passage의 semantic evidence를 PPR 메모리에 더 깊게 통합한다. 원 구현 LLM filtering / recognition은 단순 vector seed와 다르다. 사이트는 proxy.</a:t>
            </a:r>
          </a:p>
          <a:p>
            <a:r>
              <a:t>장점: 문맥이 중요한 multi-hop 검색</a:t>
            </a:r>
          </a:p>
          <a:p>
            <a:r>
              <a:t>한계: 추가 연결과 seed 보정에 따른 비용</a:t>
            </a:r>
          </a:p>
          <a:p>
            <a:r>
              <a:t>웹 실습은 교육용 축소 구현: passage-aware seed + PPR 교육용 축소; 실제 recognition memory 학습 과정 없음</a:t>
            </a:r>
          </a:p>
          <a:p>
            <a:r>
              <a:t>논문: https://arxiv.org/abs/2502.14802</a:t>
            </a:r>
          </a:p>
          <a:p>
            <a:r>
              <a:t>원 구현: https://github.com/OSU-NLP-Group/HippoRAG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[ArchRAG — INDEXING] 약 50~75초 설명.</a:t>
            </a:r>
          </a:p>
          <a:p>
            <a:r>
              <a:t>핵심 문제: 구조와 의미를 고려한 커뮤니티 중 필요한 계층만 탐색합니다.</a:t>
            </a:r>
          </a:p>
          <a:p>
            <a:r>
              <a:t>단계별 순서:</a:t>
            </a:r>
          </a:p>
          <a:p>
            <a:r>
              <a:t>  1. Text Chunk → Entity KG</a:t>
            </a:r>
          </a:p>
          <a:p>
            <a:r>
              <a:t>  2. Node/Edge attribute embeddings</a:t>
            </a:r>
          </a:p>
          <a:p>
            <a:r>
              <a:t>  3. Connectivity + Semantics 기반 attributed communities</a:t>
            </a:r>
          </a:p>
          <a:p>
            <a:r>
              <a:t>  4. Community별 재귀 LLM 요약</a:t>
            </a:r>
          </a:p>
          <a:p>
            <a:r>
              <a:t>  5. C-HNSW 계층 검색 인덱스</a:t>
            </a:r>
          </a:p>
          <a:p>
            <a:r>
              <a:t>발표 예시: 넓은 조직 전략과 구체적인 팀 정책을 함께 탐색</a:t>
            </a:r>
          </a:p>
          <a:p>
            <a:r>
              <a:t>논문 근거·구현 주의점: C-HNSW는 원래의 vector ANN hierarchy에서 착안한 community 탐색이다. semantic attribute를 넣어 topology-only community 한계를 줄인다. 사이트에서는 단순 coarse-to-fine selector.</a:t>
            </a:r>
          </a:p>
          <a:p>
            <a:r>
              <a:t>장점: 전체 요약과 특정 사실을 모두 질문할 때</a:t>
            </a:r>
          </a:p>
          <a:p>
            <a:r>
              <a:t>한계: 계층 인덱스·커뮤니티 구축 복잡도</a:t>
            </a:r>
          </a:p>
          <a:p>
            <a:r>
              <a:t>웹 실습은 교육용 축소 구현: coarse-to-fine 계층 검색 구현; C-HNSW / attributed Leiden 재현 아님</a:t>
            </a:r>
          </a:p>
          <a:p>
            <a:r>
              <a:t>논문: https://arxiv.org/abs/2502.09891</a:t>
            </a:r>
          </a:p>
          <a:p>
            <a:r>
              <a:t>원 구현: https://github.com/sam234990/ArchRAG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[ArchRAG — RETRIEVAL] 약 50~75초 설명.</a:t>
            </a:r>
          </a:p>
          <a:p>
            <a:r>
              <a:t>핵심 문제: 구조와 의미를 고려한 커뮤니티 중 필요한 계층만 탐색합니다.</a:t>
            </a:r>
          </a:p>
          <a:p>
            <a:r>
              <a:t>단계별 순서:</a:t>
            </a:r>
          </a:p>
          <a:p>
            <a:r>
              <a:t>  1. Query vector → 상위 community</a:t>
            </a:r>
          </a:p>
          <a:p>
            <a:r>
              <a:t>  2. C-HNSW intra / inter-layer 탐색</a:t>
            </a:r>
          </a:p>
          <a:p>
            <a:r>
              <a:t>  3. Coarse→Fine candidate expansion</a:t>
            </a:r>
          </a:p>
          <a:p>
            <a:r>
              <a:t>  4. Adaptive relevance filtering</a:t>
            </a:r>
          </a:p>
          <a:p>
            <a:r>
              <a:t>  5. Selected summaries + passages → LLM</a:t>
            </a:r>
          </a:p>
          <a:p>
            <a:r>
              <a:t>발표 예시: 넓은 조직 전략과 구체적인 팀 정책을 함께 탐색</a:t>
            </a:r>
          </a:p>
          <a:p>
            <a:r>
              <a:t>논문 근거·구현 주의점: C-HNSW는 원래의 vector ANN hierarchy에서 착안한 community 탐색이다. semantic attribute를 넣어 topology-only community 한계를 줄인다. 사이트에서는 단순 coarse-to-fine selector.</a:t>
            </a:r>
          </a:p>
          <a:p>
            <a:r>
              <a:t>장점: 전체 요약과 특정 사실을 모두 질문할 때</a:t>
            </a:r>
          </a:p>
          <a:p>
            <a:r>
              <a:t>한계: 계층 인덱스·커뮤니티 구축 복잡도</a:t>
            </a:r>
          </a:p>
          <a:p>
            <a:r>
              <a:t>웹 실습은 교육용 축소 구현: coarse-to-fine 계층 검색 구현; C-HNSW / attributed Leiden 재현 아님</a:t>
            </a:r>
          </a:p>
          <a:p>
            <a:r>
              <a:t>논문: https://arxiv.org/abs/2502.09891</a:t>
            </a:r>
          </a:p>
          <a:p>
            <a:r>
              <a:t>원 구현: https://github.com/sam234990/ArchRAG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[LinearRAG — INDEXING] 약 50~75초 설명.</a:t>
            </a:r>
          </a:p>
          <a:p>
            <a:r>
              <a:t>핵심 문제: 관계 문장 추출 없이 엔티티와 문서 포함 관계로 전파합니다.</a:t>
            </a:r>
          </a:p>
          <a:p>
            <a:r>
              <a:t>단계별 순서:</a:t>
            </a:r>
          </a:p>
          <a:p>
            <a:r>
              <a:t>  1. Corpus → Passage + Sentence</a:t>
            </a:r>
          </a:p>
          <a:p>
            <a:r>
              <a:t>  2. Entity mention 추출</a:t>
            </a:r>
          </a:p>
          <a:p>
            <a:r>
              <a:t>  3. Entity–Sentence–Passage Tri-Graph</a:t>
            </a:r>
          </a:p>
          <a:p>
            <a:r>
              <a:t>  4. Co-occurrence / membership edges 구축</a:t>
            </a:r>
          </a:p>
          <a:p>
            <a:r>
              <a:t>  5. Relation labels 없이 그래프 저장</a:t>
            </a:r>
          </a:p>
          <a:p>
            <a:r>
              <a:t>발표 예시: 엔티티 경로를 찾되 부정 관계를 왜곡하지 않기</a:t>
            </a:r>
          </a:p>
          <a:p>
            <a:r>
              <a:t>논문 근거·구현 주의점: LinearRAG의 의미상 핵심은 relation-free Tri-Graph다. Entity-Passage 2부 그래프는 교육용 축소. 관계 추출 품질·토큰 비용을 회피하는 장점과 의미 누락 tradeoff를 함께 전달한다.</a:t>
            </a:r>
          </a:p>
          <a:p>
            <a:r>
              <a:t>장점: 관계 추출 비용이 부담인 다중 문서 검색</a:t>
            </a:r>
          </a:p>
          <a:p>
            <a:r>
              <a:t>한계: 연결의 의미를 명시적으로 이해하기 어려움</a:t>
            </a:r>
          </a:p>
          <a:p>
            <a:r>
              <a:t>웹 실습은 교육용 축소 구현: relation-free bipartite diffusion 구현; 원 논문의 Tri-Graph와 검색 전체와 다름</a:t>
            </a:r>
          </a:p>
          <a:p>
            <a:r>
              <a:t>논문: https://arxiv.org/abs/2510.10114</a:t>
            </a:r>
          </a:p>
          <a:p>
            <a:r>
              <a:t>원 구현: https://github.com/DEEP-PolyU/LinearRAG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[LinearRAG — RETRIEVAL] 약 50~75초 설명.</a:t>
            </a:r>
          </a:p>
          <a:p>
            <a:r>
              <a:t>핵심 문제: 관계 문장 추출 없이 엔티티와 문서 포함 관계로 전파합니다.</a:t>
            </a:r>
          </a:p>
          <a:p>
            <a:r>
              <a:t>단계별 순서:</a:t>
            </a:r>
          </a:p>
          <a:p>
            <a:r>
              <a:t>  1. Query → semantic entity seed</a:t>
            </a:r>
          </a:p>
          <a:p>
            <a:r>
              <a:t>  2. Local semantic bridging</a:t>
            </a:r>
          </a:p>
          <a:p>
            <a:r>
              <a:t>  3. Graph Personalized PageRank</a:t>
            </a:r>
          </a:p>
          <a:p>
            <a:r>
              <a:t>  4. Passage score로 투영 / ranking</a:t>
            </a:r>
          </a:p>
          <a:p>
            <a:r>
              <a:t>  5. Original passages → LLM</a:t>
            </a:r>
          </a:p>
          <a:p>
            <a:r>
              <a:t>발표 예시: 엔티티 경로를 찾되 부정 관계를 왜곡하지 않기</a:t>
            </a:r>
          </a:p>
          <a:p>
            <a:r>
              <a:t>논문 근거·구현 주의점: LinearRAG의 의미상 핵심은 relation-free Tri-Graph다. Entity-Passage 2부 그래프는 교육용 축소. 관계 추출 품질·토큰 비용을 회피하는 장점과 의미 누락 tradeoff를 함께 전달한다.</a:t>
            </a:r>
          </a:p>
          <a:p>
            <a:r>
              <a:t>장점: 관계 추출 비용이 부담인 다중 문서 검색</a:t>
            </a:r>
          </a:p>
          <a:p>
            <a:r>
              <a:t>한계: 연결의 의미를 명시적으로 이해하기 어려움</a:t>
            </a:r>
          </a:p>
          <a:p>
            <a:r>
              <a:t>웹 실습은 교육용 축소 구현: relation-free bipartite diffusion 구현; 원 논문의 Tri-Graph와 검색 전체와 다름</a:t>
            </a:r>
          </a:p>
          <a:p>
            <a:r>
              <a:t>논문: https://arxiv.org/abs/2510.10114</a:t>
            </a:r>
          </a:p>
          <a:p>
            <a:r>
              <a:t>원 구현: https://github.com/DEEP-PolyU/LinearRAG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[AtomicRAG — INDEXING] 약 50~75초 설명.</a:t>
            </a:r>
          </a:p>
          <a:p>
            <a:r>
              <a:t>핵심 문제: 긴 Chunk를 독립적으로 이해할 수 있는 원자적 사실로 나눠 검색합니다.</a:t>
            </a:r>
          </a:p>
          <a:p>
            <a:r>
              <a:t>단계별 순서:</a:t>
            </a:r>
          </a:p>
          <a:p>
            <a:r>
              <a:t>  1. Document → self-contained knowledge atoms</a:t>
            </a:r>
          </a:p>
          <a:p>
            <a:r>
              <a:t>  2. Atom에서 Entity 추출</a:t>
            </a:r>
          </a:p>
          <a:p>
            <a:r>
              <a:t>  3. Atom–Entity Graph(AEG) 구축</a:t>
            </a:r>
          </a:p>
          <a:p>
            <a:r>
              <a:t>  4. Entity–Entity 존재성 edge 연결</a:t>
            </a:r>
          </a:p>
          <a:p>
            <a:r>
              <a:t>  5. Atom ↔ 원문 provenance 저장</a:t>
            </a:r>
          </a:p>
          <a:p>
            <a:r>
              <a:t>발표 예시: 하나의 긴 문서 속 여러 사실 중 MAE 수치만 찾기</a:t>
            </a:r>
          </a:p>
          <a:p>
            <a:r>
              <a:t>논문 근거·구현 주의점: AtomicRAG는 relation label 자체보다 독립적 fact text의 의미 보존을 강조한다. Atom Sieve와 PPR의 역할을 구분한다. 사이트는 선별/전파 축소.</a:t>
            </a:r>
          </a:p>
          <a:p>
            <a:r>
              <a:t>장점: 세부 사실이 여러 개 섞인 Chunk·긴 근거 제거</a:t>
            </a:r>
          </a:p>
          <a:p>
            <a:r>
              <a:t>한계: 잘못 나눈 atom은 문맥을 잃을 수 있음</a:t>
            </a:r>
          </a:p>
          <a:p>
            <a:r>
              <a:t>웹 실습은 교육용 축소 구현: 독립 문장 atom 검색; 원 논문 PPR/atomic sieve 전체 구현은 아님</a:t>
            </a:r>
          </a:p>
          <a:p>
            <a:r>
              <a:t>논문: https://arxiv.org/abs/2604.20844</a:t>
            </a:r>
          </a:p>
          <a:p>
            <a:r>
              <a:t>원 구현: https://github.com/7HHHHH/AtomicRAG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[AtomicRAG — RETRIEVAL] 약 50~75초 설명.</a:t>
            </a:r>
          </a:p>
          <a:p>
            <a:r>
              <a:t>핵심 문제: 긴 Chunk를 독립적으로 이해할 수 있는 원자적 사실로 나눠 검색합니다.</a:t>
            </a:r>
          </a:p>
          <a:p>
            <a:r>
              <a:t>단계별 순서:</a:t>
            </a:r>
          </a:p>
          <a:p>
            <a:r>
              <a:t>  1. Query → entity / atom candidates</a:t>
            </a:r>
          </a:p>
          <a:p>
            <a:r>
              <a:t>  2. Entity graph Personalized PageRank</a:t>
            </a:r>
          </a:p>
          <a:p>
            <a:r>
              <a:t>  3. 관련 atom 후보 확장</a:t>
            </a:r>
          </a:p>
          <a:p>
            <a:r>
              <a:t>  4. Atom sieve / relevance filtering</a:t>
            </a:r>
          </a:p>
          <a:p>
            <a:r>
              <a:t>  5. 선별 atom과 source → LLM</a:t>
            </a:r>
          </a:p>
          <a:p>
            <a:r>
              <a:t>발표 예시: 하나의 긴 문서 속 여러 사실 중 MAE 수치만 찾기</a:t>
            </a:r>
          </a:p>
          <a:p>
            <a:r>
              <a:t>논문 근거·구현 주의점: AtomicRAG는 relation label 자체보다 독립적 fact text의 의미 보존을 강조한다. Atom Sieve와 PPR의 역할을 구분한다. 사이트는 선별/전파 축소.</a:t>
            </a:r>
          </a:p>
          <a:p>
            <a:r>
              <a:t>장점: 세부 사실이 여러 개 섞인 Chunk·긴 근거 제거</a:t>
            </a:r>
          </a:p>
          <a:p>
            <a:r>
              <a:t>한계: 잘못 나눈 atom은 문맥을 잃을 수 있음</a:t>
            </a:r>
          </a:p>
          <a:p>
            <a:r>
              <a:t>웹 실습은 교육용 축소 구현: 독립 문장 atom 검색; 원 논문 PPR/atomic sieve 전체 구현은 아님</a:t>
            </a:r>
          </a:p>
          <a:p>
            <a:r>
              <a:t>논문: https://arxiv.org/abs/2604.20844</a:t>
            </a:r>
          </a:p>
          <a:p>
            <a:r>
              <a:t>원 구현: https://github.com/7HHHHH/AtomicRAG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[MiniRAG — INDEXING] 약 50~75초 설명.</a:t>
            </a:r>
          </a:p>
          <a:p>
            <a:r>
              <a:t>핵심 문제: 작은 모델이 읽기 쉬운 짧은 엔티티 경로로 근거를 압축합니다.</a:t>
            </a:r>
          </a:p>
          <a:p>
            <a:r>
              <a:t>단계별 순서:</a:t>
            </a:r>
          </a:p>
          <a:p>
            <a:r>
              <a:t>  1. Document → chunk 및 entity</a:t>
            </a:r>
          </a:p>
          <a:p>
            <a:r>
              <a:t>  2. 가벼운 entity extraction</a:t>
            </a:r>
          </a:p>
          <a:p>
            <a:r>
              <a:t>  3. Entity–Entity + Entity–Chunk heterograph</a:t>
            </a:r>
          </a:p>
          <a:p>
            <a:r>
              <a:t>  4. Chunk 의미 및 topology 함께 저장</a:t>
            </a:r>
          </a:p>
          <a:p>
            <a:r>
              <a:t>  5. 작은 LLM에 적합한 인덱스</a:t>
            </a:r>
          </a:p>
          <a:p>
            <a:r>
              <a:t>발표 예시: 저자원 환경에서 2-hop 연결 근거를 검색</a:t>
            </a:r>
          </a:p>
          <a:p>
            <a:r>
              <a:t>논문 근거·구현 주의점: MiniRAG는 작은 open-source LM의 약한 추론을 topology-enhanced retrieval로 보완하는 쪽이다. 전체 알고리즘 재현 대신 shortest-path proxy 사용.</a:t>
            </a:r>
          </a:p>
          <a:p>
            <a:r>
              <a:t>장점: SLM·적은 컨텍스트 예산</a:t>
            </a:r>
          </a:p>
          <a:p>
            <a:r>
              <a:t>한계: 짧은 경로에서 중요한 원문 정보 생략 가능</a:t>
            </a:r>
          </a:p>
          <a:p>
            <a:r>
              <a:t>웹 실습은 교육용 축소 구현: 최단 경로 압축 근사; 논문 이질 그래프·전체 검색기와 다름</a:t>
            </a:r>
          </a:p>
          <a:p>
            <a:r>
              <a:t>논문: https://arxiv.org/abs/2501.06713</a:t>
            </a:r>
          </a:p>
          <a:p>
            <a:r>
              <a:t>원 구현: https://github.com/HKUDS/MiniRAG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[MiniRAG — RETRIEVAL] 약 50~75초 설명.</a:t>
            </a:r>
          </a:p>
          <a:p>
            <a:r>
              <a:t>핵심 문제: 작은 모델이 읽기 쉬운 짧은 엔티티 경로로 근거를 압축합니다.</a:t>
            </a:r>
          </a:p>
          <a:p>
            <a:r>
              <a:t>단계별 순서:</a:t>
            </a:r>
          </a:p>
          <a:p>
            <a:r>
              <a:t>  1. Query entity / relationship clues</a:t>
            </a:r>
          </a:p>
          <a:p>
            <a:r>
              <a:t>  2. Topology-enhanced entity selection</a:t>
            </a:r>
          </a:p>
          <a:p>
            <a:r>
              <a:t>  3. Relevant path search / pruning</a:t>
            </a:r>
          </a:p>
          <a:p>
            <a:r>
              <a:t>  4. Entity-aligned chunk 집계</a:t>
            </a:r>
          </a:p>
          <a:p>
            <a:r>
              <a:t>  5. Small LLM with concise evidence</a:t>
            </a:r>
          </a:p>
          <a:p>
            <a:r>
              <a:t>발표 예시: 저자원 환경에서 2-hop 연결 근거를 검색</a:t>
            </a:r>
          </a:p>
          <a:p>
            <a:r>
              <a:t>논문 근거·구현 주의점: MiniRAG는 작은 open-source LM의 약한 추론을 topology-enhanced retrieval로 보완하는 쪽이다. 전체 알고리즘 재현 대신 shortest-path proxy 사용.</a:t>
            </a:r>
          </a:p>
          <a:p>
            <a:r>
              <a:t>장점: SLM·적은 컨텍스트 예산</a:t>
            </a:r>
          </a:p>
          <a:p>
            <a:r>
              <a:t>한계: 짧은 경로에서 중요한 원문 정보 생략 가능</a:t>
            </a:r>
          </a:p>
          <a:p>
            <a:r>
              <a:t>웹 실습은 교육용 축소 구현: 최단 경로 압축 근사; 논문 이질 그래프·전체 검색기와 다름</a:t>
            </a:r>
          </a:p>
          <a:p>
            <a:r>
              <a:t>논문: https://arxiv.org/abs/2501.06713</a:t>
            </a:r>
          </a:p>
          <a:p>
            <a:r>
              <a:t>원 구현: https://github.com/HKUDS/MiniRAG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[GFM-RAG — INDEXING] 약 50~75초 설명.</a:t>
            </a:r>
          </a:p>
          <a:p>
            <a:r>
              <a:t>핵심 문제: 질문 관련성이 그래프 이웃으로 전파되는 방식을 보여 줍니다.</a:t>
            </a:r>
          </a:p>
          <a:p>
            <a:r>
              <a:t>단계별 순서:</a:t>
            </a:r>
          </a:p>
          <a:p>
            <a:r>
              <a:t>  1. Raw docs → Entity KG index</a:t>
            </a:r>
          </a:p>
          <a:p>
            <a:r>
              <a:t>  2. KG node / relation / document mapping</a:t>
            </a:r>
          </a:p>
          <a:p>
            <a:r>
              <a:t>  3. Graph tensor/feature preprocessing</a:t>
            </a:r>
          </a:p>
          <a:p>
            <a:r>
              <a:t>  4. Pretrained GFM retriever weights 준비</a:t>
            </a:r>
          </a:p>
          <a:p>
            <a:r>
              <a:t>  5. 새 corpus graph에 zero-shot 적용</a:t>
            </a:r>
          </a:p>
          <a:p>
            <a:r>
              <a:t>발표 예시: 새로운 지식 그래프에서 별도 튜닝 없이 검색하기</a:t>
            </a:r>
          </a:p>
          <a:p>
            <a:r>
              <a:t>논문 근거·구현 주의점: 핵심은 대규모 사전 학습된 GFM의 zero-shot 일반화. 실제 가중치 없이 고정 message propagation하는 사이트는 learned GNN을 구현하지 않은 proxy.</a:t>
            </a:r>
          </a:p>
          <a:p>
            <a:r>
              <a:t>장점: 학습된 그래프 검색기의 필요성·비교 실험</a:t>
            </a:r>
          </a:p>
          <a:p>
            <a:r>
              <a:t>한계: 실제 GFM은 별도 학습된 GNN 가중치 필요</a:t>
            </a:r>
          </a:p>
          <a:p>
            <a:r>
              <a:t>웹 실습은 교육용 축소 구현: 설명용 비학습 propagation proxy — 학습 GNN, 논문 성능 재현 불가</a:t>
            </a:r>
          </a:p>
          <a:p>
            <a:r>
              <a:t>논문: https://arxiv.org/abs/2502.01113</a:t>
            </a:r>
          </a:p>
          <a:p>
            <a:r>
              <a:t>원 구현: https://github.com/RManLuo/gfm-rag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[GFM-RAG — RETRIEVAL] 약 50~75초 설명.</a:t>
            </a:r>
          </a:p>
          <a:p>
            <a:r>
              <a:t>핵심 문제: 질문 관련성이 그래프 이웃으로 전파되는 방식을 보여 줍니다.</a:t>
            </a:r>
          </a:p>
          <a:p>
            <a:r>
              <a:t>단계별 순서:</a:t>
            </a:r>
          </a:p>
          <a:p>
            <a:r>
              <a:t>  1. Query embedding / node grounding</a:t>
            </a:r>
          </a:p>
          <a:p>
            <a:r>
              <a:t>  2. Query-conditioned Graph Neural Network</a:t>
            </a:r>
          </a:p>
          <a:p>
            <a:r>
              <a:t>  3. Graph message passing / node ranking</a:t>
            </a:r>
          </a:p>
          <a:p>
            <a:r>
              <a:t>  4. Relevant passage / document projection</a:t>
            </a:r>
          </a:p>
          <a:p>
            <a:r>
              <a:t>  5. Retrieved context → generator LLM</a:t>
            </a:r>
          </a:p>
          <a:p>
            <a:r>
              <a:t>발표 예시: 새로운 지식 그래프에서 별도 튜닝 없이 검색하기</a:t>
            </a:r>
          </a:p>
          <a:p>
            <a:r>
              <a:t>논문 근거·구현 주의점: 핵심은 대규모 사전 학습된 GFM의 zero-shot 일반화. 실제 가중치 없이 고정 message propagation하는 사이트는 learned GNN을 구현하지 않은 proxy.</a:t>
            </a:r>
          </a:p>
          <a:p>
            <a:r>
              <a:t>장점: 학습된 그래프 검색기의 필요성·비교 실험</a:t>
            </a:r>
          </a:p>
          <a:p>
            <a:r>
              <a:t>한계: 실제 GFM은 별도 학습된 GNN 가중치 필요</a:t>
            </a:r>
          </a:p>
          <a:p>
            <a:r>
              <a:t>웹 실습은 교육용 축소 구현: 설명용 비학습 propagation proxy — 학습 GNN, 논문 성능 재현 불가</a:t>
            </a:r>
          </a:p>
          <a:p>
            <a:r>
              <a:t>논문: https://arxiv.org/abs/2502.01113</a:t>
            </a:r>
          </a:p>
          <a:p>
            <a:r>
              <a:t>원 구현: https://github.com/RManLuo/gfm-rag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[G-Reasoner — INDEXING] 약 50~75초 설명.</a:t>
            </a:r>
          </a:p>
          <a:p>
            <a:r>
              <a:t>핵심 문제: 엔티티·속성·문서·커뮤니티의 여러 계층을 한 화면에서 검색합니다.</a:t>
            </a:r>
          </a:p>
          <a:p>
            <a:r>
              <a:t>단계별 순서:</a:t>
            </a:r>
          </a:p>
          <a:p>
            <a:r>
              <a:t>  1. Entity / Attribute / Document / Community</a:t>
            </a:r>
          </a:p>
          <a:p>
            <a:r>
              <a:t>  2. 4층 QuadGraph schema 정규화</a:t>
            </a:r>
          </a:p>
          <a:p>
            <a:r>
              <a:t>  3. Heterogeneous cross-layer connections</a:t>
            </a:r>
          </a:p>
          <a:p>
            <a:r>
              <a:t>  4. Graph feature + training labels</a:t>
            </a:r>
          </a:p>
          <a:p>
            <a:r>
              <a:t>  5. Pretrained G-Reasoner representation</a:t>
            </a:r>
          </a:p>
          <a:p>
            <a:r>
              <a:t>발표 예시: 엔티티·속성·문서·커뮤니티를 같이 탐색</a:t>
            </a:r>
          </a:p>
          <a:p>
            <a:r>
              <a:t>논문 근거·구현 주의점: QuadGraph는 여러 GraphRAG 저장 형식의 공통 구조를 목표로 한다. 발표의 4-layer grouping은 개념화된 도식이며 repo의 실제 tensor edges는 원 구현 문서 참조. 사이트는 임의 가중치 proxy.</a:t>
            </a:r>
          </a:p>
          <a:p>
            <a:r>
              <a:t>장점: 이질 그래프 검색의 통합 인터페이스 탐색</a:t>
            </a:r>
          </a:p>
          <a:p>
            <a:r>
              <a:t>한계: 원 논문의 학습된 QuadGraph relevance 모델 필요</a:t>
            </a:r>
          </a:p>
          <a:p>
            <a:r>
              <a:t>웹 실습은 교육용 축소 구현: QuadGraph 레이어 선택의 비학습 proxy — 원 논문의 GFM 모델 아님</a:t>
            </a:r>
          </a:p>
          <a:p>
            <a:r>
              <a:t>논문: https://arxiv.org/abs/2509.24276</a:t>
            </a:r>
          </a:p>
          <a:p>
            <a:r>
              <a:t>원 구현: https://github.com/RManLuo/gfm-rag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[G-Reasoner — RETRIEVAL] 약 50~75초 설명.</a:t>
            </a:r>
          </a:p>
          <a:p>
            <a:r>
              <a:t>핵심 문제: 엔티티·속성·문서·커뮤니티의 여러 계층을 한 화면에서 검색합니다.</a:t>
            </a:r>
          </a:p>
          <a:p>
            <a:r>
              <a:t>단계별 순서:</a:t>
            </a:r>
          </a:p>
          <a:p>
            <a:r>
              <a:t>  1. Query-conditioned graph input</a:t>
            </a:r>
          </a:p>
          <a:p>
            <a:r>
              <a:t>  2. GFM cross-layer reasoning</a:t>
            </a:r>
          </a:p>
          <a:p>
            <a:r>
              <a:t>  3. Layer별 node relevance prediction</a:t>
            </a:r>
          </a:p>
          <a:p>
            <a:r>
              <a:t>  4. Attributed document evidence aggregation</a:t>
            </a:r>
          </a:p>
          <a:p>
            <a:r>
              <a:t>  5. Relevant passage context + LLM</a:t>
            </a:r>
          </a:p>
          <a:p>
            <a:r>
              <a:t>발표 예시: 엔티티·속성·문서·커뮤니티를 같이 탐색</a:t>
            </a:r>
          </a:p>
          <a:p>
            <a:r>
              <a:t>논문 근거·구현 주의점: QuadGraph는 여러 GraphRAG 저장 형식의 공통 구조를 목표로 한다. 발표의 4-layer grouping은 개념화된 도식이며 repo의 실제 tensor edges는 원 구현 문서 참조. 사이트는 임의 가중치 proxy.</a:t>
            </a:r>
          </a:p>
          <a:p>
            <a:r>
              <a:t>장점: 이질 그래프 검색의 통합 인터페이스 탐색</a:t>
            </a:r>
          </a:p>
          <a:p>
            <a:r>
              <a:t>한계: 원 논문의 학습된 QuadGraph relevance 모델 필요</a:t>
            </a:r>
          </a:p>
          <a:p>
            <a:r>
              <a:t>웹 실습은 교육용 축소 구현: QuadGraph 레이어 선택의 비학습 proxy — 원 논문의 GFM 모델 아님</a:t>
            </a:r>
          </a:p>
          <a:p>
            <a:r>
              <a:t>논문: https://arxiv.org/abs/2509.24276</a:t>
            </a:r>
          </a:p>
          <a:p>
            <a:r>
              <a:t>원 구현: https://github.com/RManLuo/gfm-rag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[RAG-Anything — INDEXING] 약 50~75초 설명.</a:t>
            </a:r>
          </a:p>
          <a:p>
            <a:r>
              <a:t>핵심 문제: 텍스트와 이미지 설명을 같은 구조적 검색 공간으로 연결합니다.</a:t>
            </a:r>
          </a:p>
          <a:p>
            <a:r>
              <a:t>단계별 순서:</a:t>
            </a:r>
          </a:p>
          <a:p>
            <a:r>
              <a:t>  1. PDF/Office → MinerU/Docling parsing</a:t>
            </a:r>
          </a:p>
          <a:p>
            <a:r>
              <a:t>  2. Text / Image / Table / Equation 분류</a:t>
            </a:r>
          </a:p>
          <a:p>
            <a:r>
              <a:t>  3. Modality-aware VLM 캡션·구조화</a:t>
            </a:r>
          </a:p>
          <a:p>
            <a:r>
              <a:t>  4. Cross-modal entities + relationships</a:t>
            </a:r>
          </a:p>
          <a:p>
            <a:r>
              <a:t>  5. Multimodal KG + LightRAG indices</a:t>
            </a:r>
          </a:p>
          <a:p>
            <a:r>
              <a:t>발표 예시: 아키텍처 이미지의 화살표 + 운영 문서 사실을 통합</a:t>
            </a:r>
          </a:p>
          <a:p>
            <a:r>
              <a:t>논문 근거·구현 주의점: 원 프로젝트는 다양한 parser·modality 처리를 지원하지만 데모는 Vision caption을 텍스트로 만들고 검색한다. 표/수식 parser 자체 재현은 아니다.</a:t>
            </a:r>
          </a:p>
          <a:p>
            <a:r>
              <a:t>장점: 보고서 속 그림·표·도식 중심 질의</a:t>
            </a:r>
          </a:p>
          <a:p>
            <a:r>
              <a:t>한계: 실제 이미지 이해는 Live mode와 vision 지원 모델 필요</a:t>
            </a:r>
          </a:p>
          <a:p>
            <a:r>
              <a:t>웹 실습은 교육용 축소 구현: 실제 Vision API 캡션+텍스트 검색 데모; 논문 멀티모달 parsing 전 과정 아님</a:t>
            </a:r>
          </a:p>
          <a:p>
            <a:r>
              <a:t>논문: https://arxiv.org/abs/2510.12323</a:t>
            </a:r>
          </a:p>
          <a:p>
            <a:r>
              <a:t>원 구현: https://github.com/HKUDS/RAG-Anything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[RAG-Anything — RETRIEVAL] 약 50~75초 설명.</a:t>
            </a:r>
          </a:p>
          <a:p>
            <a:r>
              <a:t>핵심 문제: 텍스트와 이미지 설명을 같은 구조적 검색 공간으로 연결합니다.</a:t>
            </a:r>
          </a:p>
          <a:p>
            <a:r>
              <a:t>단계별 순서:</a:t>
            </a:r>
          </a:p>
          <a:p>
            <a:r>
              <a:t>  1. Query modality/context 분석</a:t>
            </a:r>
          </a:p>
          <a:p>
            <a:r>
              <a:t>  2. Entity/relationship hybrid retrieval</a:t>
            </a:r>
          </a:p>
          <a:p>
            <a:r>
              <a:t>  3. Text + table + image aligned recall</a:t>
            </a:r>
          </a:p>
          <a:p>
            <a:r>
              <a:t>  4. Linked multimodal evidence assembling</a:t>
            </a:r>
          </a:p>
          <a:p>
            <a:r>
              <a:t>  5. VLM/LLM generate grounded answer</a:t>
            </a:r>
          </a:p>
          <a:p>
            <a:r>
              <a:t>발표 예시: 아키텍처 이미지의 화살표 + 운영 문서 사실을 통합</a:t>
            </a:r>
          </a:p>
          <a:p>
            <a:r>
              <a:t>논문 근거·구현 주의점: 원 프로젝트는 다양한 parser·modality 처리를 지원하지만 데모는 Vision caption을 텍스트로 만들고 검색한다. 표/수식 parser 자체 재현은 아니다.</a:t>
            </a:r>
          </a:p>
          <a:p>
            <a:r>
              <a:t>장점: 보고서 속 그림·표·도식 중심 질의</a:t>
            </a:r>
          </a:p>
          <a:p>
            <a:r>
              <a:t>한계: 실제 이미지 이해는 Live mode와 vision 지원 모델 필요</a:t>
            </a:r>
          </a:p>
          <a:p>
            <a:r>
              <a:t>웹 실습은 교육용 축소 구현: 실제 Vision API 캡션+텍스트 검색 데모; 논문 멀티모달 parsing 전 과정 아님</a:t>
            </a:r>
          </a:p>
          <a:p>
            <a:r>
              <a:t>논문: https://arxiv.org/abs/2510.12323</a:t>
            </a:r>
          </a:p>
          <a:p>
            <a:r>
              <a:t>원 구현: https://github.com/HKUDS/RAG-Anything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[When to Use Graphs in RAG — INDEXING] 약 50~75초 설명.</a:t>
            </a:r>
          </a:p>
          <a:p>
            <a:r>
              <a:t>핵심 문제: 질문 특성에 따라 Chunk·Graph·Community 전략을 선택합니다.</a:t>
            </a:r>
          </a:p>
          <a:p>
            <a:r>
              <a:t>단계별 순서:</a:t>
            </a:r>
          </a:p>
          <a:p>
            <a:r>
              <a:t>  1. QA tasks / Corpus datasets 준비</a:t>
            </a:r>
          </a:p>
          <a:p>
            <a:r>
              <a:t>  2. Classic RAG and GraphRAG 구축</a:t>
            </a:r>
          </a:p>
          <a:p>
            <a:r>
              <a:t>  3. Question-type / graph quality labeling</a:t>
            </a:r>
          </a:p>
          <a:p>
            <a:r>
              <a:t>  4. Evidence / accuracy / budget 기록</a:t>
            </a:r>
          </a:p>
          <a:p>
            <a:r>
              <a:t>  5. 비교 가능한 benchmark suite</a:t>
            </a:r>
          </a:p>
          <a:p>
            <a:r>
              <a:t>발표 예시: 어떤 QA 유형에서 그래프 도입 가치가 있는가?</a:t>
            </a:r>
          </a:p>
          <a:p>
            <a:r>
              <a:t>논문 근거·구현 주의점: 이 연구는 새 retrieval algorithm이 아니라 GraphRAG 성능 조건을 분석하는 benchmark이다. 사이트의 router는 논문 저자가 제안한 공식 학습 router가 아니다.</a:t>
            </a:r>
          </a:p>
          <a:p>
            <a:r>
              <a:t>장점: 기술 선택·성능 및 비용 트레이드오프 진단</a:t>
            </a:r>
          </a:p>
          <a:p>
            <a:r>
              <a:t>한계: 실제 선택 기준은 벤치마크로 검증해야 함</a:t>
            </a:r>
          </a:p>
          <a:p>
            <a:r>
              <a:t>웹 실습은 교육용 축소 구현: 질문 유형 기반 교육용 휴리스틱 라우터; 원 논문은 비교·분석 연구</a:t>
            </a:r>
          </a:p>
          <a:p>
            <a:r>
              <a:t>논문: https://arxiv.org/abs/2506.05690</a:t>
            </a:r>
          </a:p>
          <a:p>
            <a:r>
              <a:t>원 구현: https://github.com/GraphRAG-Bench/GraphRAG-Benchmark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[When to Use Graphs in RAG — RETRIEVAL] 약 50~75초 설명.</a:t>
            </a:r>
          </a:p>
          <a:p>
            <a:r>
              <a:t>핵심 문제: 질문 특성에 따라 Chunk·Graph·Community 전략을 선택합니다.</a:t>
            </a:r>
          </a:p>
          <a:p>
            <a:r>
              <a:t>단계별 순서:</a:t>
            </a:r>
          </a:p>
          <a:p>
            <a:r>
              <a:t>  1. 질문 유형: simple / multi-hop / global</a:t>
            </a:r>
          </a:p>
          <a:p>
            <a:r>
              <a:t>  2. Corpus 연결성과 graph noise 판단</a:t>
            </a:r>
          </a:p>
          <a:p>
            <a:r>
              <a:t>  3. Baseline / GraphRAG retrieve 동일 비교</a:t>
            </a:r>
          </a:p>
          <a:p>
            <a:r>
              <a:t>  4. Recall / correctness / latency / cost 분석</a:t>
            </a:r>
          </a:p>
          <a:p>
            <a:r>
              <a:t>  5. Evidence에 따라 시스템 선택</a:t>
            </a:r>
          </a:p>
          <a:p>
            <a:r>
              <a:t>발표 예시: 어떤 QA 유형에서 그래프 도입 가치가 있는가?</a:t>
            </a:r>
          </a:p>
          <a:p>
            <a:r>
              <a:t>논문 근거·구현 주의점: 이 연구는 새 retrieval algorithm이 아니라 GraphRAG 성능 조건을 분석하는 benchmark이다. 사이트의 router는 논문 저자가 제안한 공식 학습 router가 아니다.</a:t>
            </a:r>
          </a:p>
          <a:p>
            <a:r>
              <a:t>장점: 기술 선택·성능 및 비용 트레이드오프 진단</a:t>
            </a:r>
          </a:p>
          <a:p>
            <a:r>
              <a:t>한계: 실제 선택 기준은 벤치마크로 검증해야 함</a:t>
            </a:r>
          </a:p>
          <a:p>
            <a:r>
              <a:t>웹 실습은 교육용 축소 구현: 질문 유형 기반 교육용 휴리스틱 라우터; 원 논문은 비교·분석 연구</a:t>
            </a:r>
          </a:p>
          <a:p>
            <a:r>
              <a:t>논문: https://arxiv.org/abs/2506.05690</a:t>
            </a:r>
          </a:p>
          <a:p>
            <a:r>
              <a:t>원 구현: https://github.com/GraphRAG-Bench/GraphRAG-Benchmark</a:t>
            </a:r>
          </a:p>
          <a:p>
            <a:r>
              <a:t>발표 중 원논문의 공식 파이프라인과 교육용 재구성을 혼동하지 않도록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검증 설계: 단일 데이터셋, retrieval top-k, 동일 generator와 동일 질문 집합으로 비교합니다. 정답이 없는 경우에는 abstention / insufficient context 같은 케이스를 별도로 설계합니다. 실제 결과는 실험하지 않았으므로 수치를 제시하지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데모 흐름 (10분): 1) 로컬 접속, 2) 예제 인덱스, 3) 질문 하나로 baseline과 hipporag 검색 비교, 4) Trace에서 선택된 근거 확인, 5) Live API로 변경한 뒤 GPT-6 Luna 스트리밍. 원 논문 파이프라인과 교육용 근사를 다시 강조합니다. 외부 노출 키는 절대 스크린에 띄우지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(약 5분): 인덱싱 비용, 그래프 추출 오류, PPR와 shortest path, 커뮤니티 retrieval, GFM 배포 환경 등의 질문을 받습니다. 키를 공개하는 데모는 피하세요. 공식 원 구현 재현은 별도의 dependency와 벤치마크 검증이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401.18059" TargetMode="External"/><Relationship Id="rId3" Type="http://schemas.openxmlformats.org/officeDocument/2006/relationships/hyperlink" Target="https://github.com/parthsarthi03/rapto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401.18059" TargetMode="External"/><Relationship Id="rId3" Type="http://schemas.openxmlformats.org/officeDocument/2006/relationships/hyperlink" Target="https://github.com/parthsarthi03/raptor" TargetMode="Externa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404.16130" TargetMode="External"/><Relationship Id="rId3" Type="http://schemas.openxmlformats.org/officeDocument/2006/relationships/hyperlink" Target="https://github.com/microsoft/graphrag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404.16130" TargetMode="External"/><Relationship Id="rId3" Type="http://schemas.openxmlformats.org/officeDocument/2006/relationships/hyperlink" Target="https://github.com/microsoft/graphrag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410.05779" TargetMode="External"/><Relationship Id="rId3" Type="http://schemas.openxmlformats.org/officeDocument/2006/relationships/hyperlink" Target="https://github.com/HKUDS/LightRAG" TargetMode="Externa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410.05779" TargetMode="External"/><Relationship Id="rId3" Type="http://schemas.openxmlformats.org/officeDocument/2006/relationships/hyperlink" Target="https://github.com/HKUDS/LightRAG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405.14831" TargetMode="External"/><Relationship Id="rId3" Type="http://schemas.openxmlformats.org/officeDocument/2006/relationships/hyperlink" Target="https://github.com/OSU-NLP-Group/HippoRAG" TargetMode="Externa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405.14831" TargetMode="External"/><Relationship Id="rId3" Type="http://schemas.openxmlformats.org/officeDocument/2006/relationships/hyperlink" Target="https://github.com/OSU-NLP-Group/HippoRAG" TargetMode="Externa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2.14802" TargetMode="External"/><Relationship Id="rId3" Type="http://schemas.openxmlformats.org/officeDocument/2006/relationships/hyperlink" Target="https://github.com/OSU-NLP-Group/HippoRAG" TargetMode="Externa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2.14802" TargetMode="External"/><Relationship Id="rId3" Type="http://schemas.openxmlformats.org/officeDocument/2006/relationships/hyperlink" Target="https://github.com/OSU-NLP-Group/HippoRAG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2.09891" TargetMode="External"/><Relationship Id="rId3" Type="http://schemas.openxmlformats.org/officeDocument/2006/relationships/hyperlink" Target="https://github.com/sam234990/ArchRAG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2.09891" TargetMode="External"/><Relationship Id="rId3" Type="http://schemas.openxmlformats.org/officeDocument/2006/relationships/hyperlink" Target="https://github.com/sam234990/ArchRAG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10.10114" TargetMode="External"/><Relationship Id="rId3" Type="http://schemas.openxmlformats.org/officeDocument/2006/relationships/hyperlink" Target="https://github.com/DEEP-PolyU/LinearRAG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10.10114" TargetMode="External"/><Relationship Id="rId3" Type="http://schemas.openxmlformats.org/officeDocument/2006/relationships/hyperlink" Target="https://github.com/DEEP-PolyU/LinearRAG" TargetMode="Externa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604.20844" TargetMode="External"/><Relationship Id="rId3" Type="http://schemas.openxmlformats.org/officeDocument/2006/relationships/hyperlink" Target="https://github.com/7HHHHH/AtomicRAG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604.20844" TargetMode="External"/><Relationship Id="rId3" Type="http://schemas.openxmlformats.org/officeDocument/2006/relationships/hyperlink" Target="https://github.com/7HHHHH/AtomicRAG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1.06713" TargetMode="External"/><Relationship Id="rId3" Type="http://schemas.openxmlformats.org/officeDocument/2006/relationships/hyperlink" Target="https://github.com/HKUDS/MiniRAG" TargetMode="Externa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1.06713" TargetMode="External"/><Relationship Id="rId3" Type="http://schemas.openxmlformats.org/officeDocument/2006/relationships/hyperlink" Target="https://github.com/HKUDS/MiniRAG" TargetMode="Externa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2.01113" TargetMode="External"/><Relationship Id="rId3" Type="http://schemas.openxmlformats.org/officeDocument/2006/relationships/hyperlink" Target="https://github.com/RManLuo/gfm-rag" TargetMode="Externa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2.01113" TargetMode="External"/><Relationship Id="rId3" Type="http://schemas.openxmlformats.org/officeDocument/2006/relationships/hyperlink" Target="https://github.com/RManLuo/gfm-rag" TargetMode="Externa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9.24276" TargetMode="External"/><Relationship Id="rId3" Type="http://schemas.openxmlformats.org/officeDocument/2006/relationships/hyperlink" Target="https://github.com/RManLuo/gfm-rag" TargetMode="Externa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9.24276" TargetMode="External"/><Relationship Id="rId3" Type="http://schemas.openxmlformats.org/officeDocument/2006/relationships/hyperlink" Target="https://github.com/RManLuo/gfm-rag" TargetMode="External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10.12323" TargetMode="External"/><Relationship Id="rId3" Type="http://schemas.openxmlformats.org/officeDocument/2006/relationships/hyperlink" Target="https://github.com/HKUDS/RAG-Anything" TargetMode="Externa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10.12323" TargetMode="External"/><Relationship Id="rId3" Type="http://schemas.openxmlformats.org/officeDocument/2006/relationships/hyperlink" Target="https://github.com/HKUDS/RAG-Anything" TargetMode="External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6.05690" TargetMode="External"/><Relationship Id="rId3" Type="http://schemas.openxmlformats.org/officeDocument/2006/relationships/hyperlink" Target="https://github.com/GraphRAG-Bench/GraphRAG-Benchmark" TargetMode="Externa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6.05690" TargetMode="External"/><Relationship Id="rId3" Type="http://schemas.openxmlformats.org/officeDocument/2006/relationships/hyperlink" Target="https://github.com/GraphRAG-Bench/GraphRAG-Benchmark" TargetMode="External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SEMINAR / 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From Chunks to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GraphRAG — 13 Papers, 13 Architectures, 1 Interactive Laboratory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</a:t>
            </a:r>
          </a:p>
        </p:txBody>
      </p:sp>
      <p:pic>
        <p:nvPicPr>
          <p:cNvPr id="10" name="Picture 9" descr="knowledge-unive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74519"/>
            <a:ext cx="617220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1975104"/>
            <a:ext cx="4864608" cy="351129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4233672" cy="6126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F4F7F7"/>
                </a:solidFill>
                <a:latin typeface="Malgun Gothic"/>
              </a:defRPr>
            </a:pPr>
            <a:r>
              <a:t>질문을 해결하는</a:t>
            </a:r>
          </a:p>
          <a:p>
            <a:pPr>
              <a:spcAft>
                <a:spcPts val="500"/>
              </a:spcAft>
              <a:defRPr sz="2300" b="1">
                <a:solidFill>
                  <a:srgbClr val="F4F7F7"/>
                </a:solidFill>
                <a:latin typeface="Malgun Gothic"/>
              </a:defRPr>
            </a:pPr>
            <a:r>
              <a:t>최소 지식 단위는?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3657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A8B8C7"/>
                </a:solidFill>
                <a:latin typeface="Malgun Gothic"/>
              </a:defRPr>
            </a:pPr>
            <a:r>
              <a:t>01  Chunk /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87952"/>
            <a:ext cx="3657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A8B8C7"/>
                </a:solidFill>
                <a:latin typeface="Malgun Gothic"/>
              </a:defRPr>
            </a:pPr>
            <a:r>
              <a:t>02  Entity / Relation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17136"/>
            <a:ext cx="3657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80E0CB"/>
                </a:solidFill>
                <a:latin typeface="Malgun Gothic"/>
              </a:defRPr>
            </a:pPr>
            <a:r>
              <a:t>03  Passage / Atom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46320"/>
            <a:ext cx="3657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A8B8C7"/>
                </a:solidFill>
                <a:latin typeface="Malgun Gothic"/>
              </a:defRPr>
            </a:pPr>
            <a:r>
              <a:t>04  Community / GFM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961888"/>
            <a:ext cx="914400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80E0CB"/>
                </a:solidFill>
                <a:latin typeface="Malgun Gothic"/>
              </a:defRPr>
            </a:pPr>
            <a:r>
              <a:t>Interactive Lab · Graph Trace · Streaming Answers · GPT-6 Luna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B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C4B0F4"/>
                </a:solidFill>
                <a:latin typeface="Malgun Gothic"/>
              </a:defRPr>
            </a:pPr>
            <a:r>
              <a:t>02 / WHY 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One answer across four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배송 지연 감소 경로를 알아내려면 분리된 문서의 관계를 조합해야 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C4B0F4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" y="2331720"/>
            <a:ext cx="2660904" cy="196596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87752"/>
            <a:ext cx="20574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C4B0F4"/>
                </a:solidFill>
                <a:latin typeface="Malgun Gothic"/>
              </a:defRPr>
            </a:pPr>
            <a:r>
              <a:t>D2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2267712" cy="3383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4F7F7"/>
                </a:solidFill>
                <a:latin typeface="Malgun Gothic"/>
              </a:defRPr>
            </a:pPr>
            <a:r>
              <a:t>TrafficStream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02152"/>
            <a:ext cx="2276856" cy="3108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지연 신호 수집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072384"/>
            <a:ext cx="256032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1296" y="2331720"/>
            <a:ext cx="2660904" cy="196596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2587752"/>
            <a:ext cx="20574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C4B0F4"/>
                </a:solidFill>
                <a:latin typeface="Malgun Gothic"/>
              </a:defRPr>
            </a:pPr>
            <a:r>
              <a:t>D7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2971800"/>
            <a:ext cx="2267712" cy="3383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4F7F7"/>
                </a:solidFill>
                <a:latin typeface="Malgun Gothic"/>
              </a:defRPr>
            </a:pPr>
            <a:r>
              <a:t>Orion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3502152"/>
            <a:ext cx="2276856" cy="3108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운영 신호 중계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072384"/>
            <a:ext cx="256032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64808" y="2331720"/>
            <a:ext cx="2660904" cy="196596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2587752"/>
            <a:ext cx="20574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C4B0F4"/>
                </a:solidFill>
                <a:latin typeface="Malgun Gothic"/>
              </a:defRPr>
            </a:pPr>
            <a:r>
              <a:t>D1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2971800"/>
            <a:ext cx="2267712" cy="3383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4F7F7"/>
                </a:solidFill>
                <a:latin typeface="Malgun Gothic"/>
              </a:defRPr>
            </a:pPr>
            <a:r>
              <a:t>Beacon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4264" y="3502152"/>
            <a:ext cx="2276856" cy="3108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추천 의사결정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3072384"/>
            <a:ext cx="256032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19" y="2331720"/>
            <a:ext cx="2660904" cy="196596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37776" y="2587752"/>
            <a:ext cx="20574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C4B0F4"/>
                </a:solidFill>
                <a:latin typeface="Malgun Gothic"/>
              </a:defRPr>
            </a:pPr>
            <a:r>
              <a:t>D3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7776" y="2971800"/>
            <a:ext cx="2267712" cy="3383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4F7F7"/>
                </a:solidFill>
                <a:latin typeface="Malgun Gothic"/>
              </a:defRPr>
            </a:pPr>
            <a:r>
              <a:t>Aurora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502152"/>
            <a:ext cx="2276856" cy="3108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배송 지연 감소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4782312"/>
            <a:ext cx="100584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F4F7F7"/>
                </a:solidFill>
                <a:latin typeface="Malgun Gothic"/>
              </a:defRPr>
            </a:pPr>
            <a:r>
              <a:t>Question  /  “TrafficStream이 오로라 물류의 지연 감소에 어떻게 기여했나?”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" y="5504688"/>
            <a:ext cx="10058400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Baseline: similarity matching   ·   Graph: entity grounding + multi-hop expansion + passage provenance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Indexing vs.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오프라인 준비 비용과 온라인 질의 처리 비용을 분리해서 생각합니다.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2011680"/>
            <a:ext cx="5468112" cy="3584448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2249424"/>
            <a:ext cx="49377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8AC7F4"/>
                </a:solidFill>
                <a:latin typeface="Malgun Gothic"/>
              </a:defRPr>
            </a:pPr>
            <a:r>
              <a:t>INDEXING / Offline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2752344"/>
            <a:ext cx="5020056" cy="475488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2871216"/>
            <a:ext cx="44805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4F7F7"/>
                </a:solidFill>
                <a:latin typeface="Malgun Gothic"/>
              </a:defRPr>
            </a:pPr>
            <a:r>
              <a:t>01   Corpus &amp; parsing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3346703"/>
            <a:ext cx="5020056" cy="475488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3465576"/>
            <a:ext cx="44805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4F7F7"/>
                </a:solidFill>
                <a:latin typeface="Malgun Gothic"/>
              </a:defRPr>
            </a:pPr>
            <a:r>
              <a:t>02   Entity / Atom / Chunk extraction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941063"/>
            <a:ext cx="5020056" cy="475488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4059936"/>
            <a:ext cx="44805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4F7F7"/>
                </a:solidFill>
                <a:latin typeface="Malgun Gothic"/>
              </a:defRPr>
            </a:pPr>
            <a:r>
              <a:t>03   Graph, vector, community / hierarchy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" y="4535424"/>
            <a:ext cx="5020056" cy="475488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3" y="4654296"/>
            <a:ext cx="44805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4F7F7"/>
                </a:solidFill>
                <a:latin typeface="Malgun Gothic"/>
              </a:defRPr>
            </a:pPr>
            <a:r>
              <a:t>04   Persistent indices &amp; provenance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2512" y="2011680"/>
            <a:ext cx="5468112" cy="3584448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1112" y="2249424"/>
            <a:ext cx="49377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80E0CB"/>
                </a:solidFill>
                <a:latin typeface="Malgun Gothic"/>
              </a:defRPr>
            </a:pPr>
            <a:r>
              <a:t>RETRIEVAL / Online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1968" y="2752344"/>
            <a:ext cx="5020056" cy="475488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79" y="2871216"/>
            <a:ext cx="44805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4F7F7"/>
                </a:solidFill>
                <a:latin typeface="Malgun Gothic"/>
              </a:defRPr>
            </a:pPr>
            <a:r>
              <a:t>01   User query &amp; grounding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1968" y="3346703"/>
            <a:ext cx="5020056" cy="475488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79" y="3465576"/>
            <a:ext cx="44805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4F7F7"/>
                </a:solidFill>
                <a:latin typeface="Malgun Gothic"/>
              </a:defRPr>
            </a:pPr>
            <a:r>
              <a:t>02   Vector or graph seed selection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1968" y="3941063"/>
            <a:ext cx="5020056" cy="475488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79" y="4059936"/>
            <a:ext cx="44805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4F7F7"/>
                </a:solidFill>
                <a:latin typeface="Malgun Gothic"/>
              </a:defRPr>
            </a:pPr>
            <a:r>
              <a:t>03   Expansion: PPR / path / community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1968" y="4535424"/>
            <a:ext cx="5020056" cy="475488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79" y="4654296"/>
            <a:ext cx="44805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4F7F7"/>
                </a:solidFill>
                <a:latin typeface="Malgun Gothic"/>
              </a:defRPr>
            </a:pPr>
            <a:r>
              <a:t>04   Evidence ranking → Generator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" y="5934456"/>
            <a:ext cx="10762488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F7C27A"/>
                </a:solidFill>
                <a:latin typeface="Malgun Gothic"/>
              </a:defRPr>
            </a:pPr>
            <a:r>
              <a:t>Same corpus  ·  Same generator  ·  Compare evidence quality, correctness, latency, and indexing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7C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03 / RESEARCH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Six families + one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기술의 우열보다 해결하는 검색 실패 유형을 먼저 보세요.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029968"/>
            <a:ext cx="3685032" cy="1490472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12848"/>
            <a:ext cx="54864" cy="1069848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203704"/>
            <a:ext cx="309067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HIERARCHY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42032"/>
            <a:ext cx="3136392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4F7F7"/>
                </a:solidFill>
                <a:latin typeface="Malgun Gothic"/>
              </a:defRPr>
            </a:pPr>
            <a:r>
              <a:t>RAPTOR · ArchRAG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63824"/>
            <a:ext cx="3163824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40" b="0">
                <a:solidFill>
                  <a:srgbClr val="A8B8C7"/>
                </a:solidFill>
                <a:latin typeface="Malgun Gothic"/>
              </a:defRPr>
            </a:pPr>
            <a:r>
              <a:t>계층 요약 &amp; coarse-to-fine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2029968"/>
            <a:ext cx="3685032" cy="1490472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99432" y="2212848"/>
            <a:ext cx="54864" cy="1069848"/>
          </a:xfrm>
          <a:prstGeom prst="rect">
            <a:avLst/>
          </a:prstGeom>
          <a:solidFill>
            <a:srgbClr val="F7C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4024" y="2203704"/>
            <a:ext cx="309067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F7C27A"/>
                </a:solidFill>
                <a:latin typeface="Malgun Gothic"/>
              </a:defRPr>
            </a:pPr>
            <a:r>
              <a:t>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4" y="2542032"/>
            <a:ext cx="3136392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4F7F7"/>
                </a:solidFill>
                <a:latin typeface="Malgun Gothic"/>
              </a:defRPr>
            </a:pPr>
            <a:r>
              <a:t>Microsoft GraphRAG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4" y="3163824"/>
            <a:ext cx="3163824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40" b="0">
                <a:solidFill>
                  <a:srgbClr val="A8B8C7"/>
                </a:solidFill>
                <a:latin typeface="Malgun Gothic"/>
              </a:defRPr>
            </a:pPr>
            <a:r>
              <a:t>Global question &amp;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02752" y="2029968"/>
            <a:ext cx="3685032" cy="1490472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85632" y="2212848"/>
            <a:ext cx="54864" cy="1069848"/>
          </a:xfrm>
          <a:prstGeom prst="rect">
            <a:avLst/>
          </a:prstGeom>
          <a:solidFill>
            <a:srgbClr val="F0A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50224" y="2203704"/>
            <a:ext cx="309067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F0A9A9"/>
                </a:solidFill>
                <a:latin typeface="Malgun Gothic"/>
              </a:defRPr>
            </a:pPr>
            <a: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2542032"/>
            <a:ext cx="3136392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4F7F7"/>
                </a:solidFill>
                <a:latin typeface="Malgun Gothic"/>
              </a:defRPr>
            </a:pPr>
            <a:r>
              <a:t>HippoRAG · HippoRAG2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0224" y="3163824"/>
            <a:ext cx="3163824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40" b="0">
                <a:solidFill>
                  <a:srgbClr val="A8B8C7"/>
                </a:solidFill>
                <a:latin typeface="Malgun Gothic"/>
              </a:defRPr>
            </a:pPr>
            <a:r>
              <a:t>PPR &amp; long-range links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3730752"/>
            <a:ext cx="3685032" cy="1490472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13632"/>
            <a:ext cx="54864" cy="1069848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904488"/>
            <a:ext cx="309067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COST / NOISE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4242816"/>
            <a:ext cx="3136392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4F7F7"/>
                </a:solidFill>
                <a:latin typeface="Malgun Gothic"/>
              </a:defRPr>
            </a:pPr>
            <a:r>
              <a:t>LightRAG · LinearRAG · AtomicRAG · MiniRAG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864608"/>
            <a:ext cx="3163824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40" b="0">
                <a:solidFill>
                  <a:srgbClr val="A8B8C7"/>
                </a:solidFill>
                <a:latin typeface="Malgun Gothic"/>
              </a:defRPr>
            </a:pPr>
            <a:r>
              <a:t>경량 추출 &amp; 정밀 증거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16552" y="3730752"/>
            <a:ext cx="3685032" cy="1490472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99432" y="3913632"/>
            <a:ext cx="54864" cy="1069848"/>
          </a:xfrm>
          <a:prstGeom prst="rect">
            <a:avLst/>
          </a:prstGeom>
          <a:solidFill>
            <a:srgbClr val="C4B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64024" y="3904488"/>
            <a:ext cx="309067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C4B0F4"/>
                </a:solidFill>
                <a:latin typeface="Malgun Gothic"/>
              </a:defRPr>
            </a:pPr>
            <a:r>
              <a:t>LEARNED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4024" y="4242816"/>
            <a:ext cx="3136392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4F7F7"/>
                </a:solidFill>
                <a:latin typeface="Malgun Gothic"/>
              </a:defRPr>
            </a:pPr>
            <a:r>
              <a:t>GFM-RAG · G-Reasoner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64024" y="4864608"/>
            <a:ext cx="3163824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40" b="0">
                <a:solidFill>
                  <a:srgbClr val="A8B8C7"/>
                </a:solidFill>
                <a:latin typeface="Malgun Gothic"/>
              </a:defRPr>
            </a:pPr>
            <a:r>
              <a:t>Pretrained graph learning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02752" y="3730752"/>
            <a:ext cx="3685032" cy="1490472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85632" y="3913632"/>
            <a:ext cx="54864" cy="1069848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50224" y="3904488"/>
            <a:ext cx="309067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MULTIMODAL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0224" y="4242816"/>
            <a:ext cx="3136392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4F7F7"/>
                </a:solidFill>
                <a:latin typeface="Malgun Gothic"/>
              </a:defRPr>
            </a:pPr>
            <a:r>
              <a:t>RAG-Anything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0224" y="4864608"/>
            <a:ext cx="3163824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40" b="0">
                <a:solidFill>
                  <a:srgbClr val="A8B8C7"/>
                </a:solidFill>
                <a:latin typeface="Malgun Gothic"/>
              </a:defRPr>
            </a:pPr>
            <a:r>
              <a:t>Cross-modal 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760720"/>
            <a:ext cx="10058400" cy="3108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F7C27A"/>
                </a:solidFill>
                <a:latin typeface="Malgun Gothic"/>
              </a:defRPr>
            </a:pPr>
            <a:r>
              <a:t>Benchmark lens: When to use Graphs in RAG?   •   Fact / Multi-hop / Contextual Summary / Creative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13  •  HIERARCHY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RAPTOR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원문과 상위 요약을 함께 검색해 여러 해상도의 맥락을 찾습니다.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원문 Chunk + embedding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UMAP 차원축소 / GMM soft clustering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Cluster별 LLM 요약 생성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Summary를 재임베딩하며 재귀 반복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Leaf + Summary tree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배송 시스템 전체 전략과 특정 성과 수치를 한 번에 묻기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Leaf + Summary tree 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57616" y="5184648"/>
            <a:ext cx="548640" cy="36576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906256" y="5184648"/>
            <a:ext cx="548640" cy="36576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906256" y="4672583"/>
            <a:ext cx="0" cy="512065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8229600" y="542239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812987" y="50913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61627" y="545713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812987" y="4579315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13  •  HIERARCHY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RAPTOR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원문과 상위 요약을 함께 검색해 여러 해상도의 맥락을 찾습니다.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질문 embedding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Tree 전체 또는 level별 similarity 탐색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Leaf / Summary node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다양한 해상도의 근거 병합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LLM answer + source trace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배송 시스템 전체 전략과 특정 성과 수치를 한 번에 묻기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57616" y="5184648"/>
            <a:ext cx="548640" cy="36576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906256" y="5184648"/>
            <a:ext cx="548640" cy="36576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906256" y="4672583"/>
            <a:ext cx="0" cy="512065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8229600" y="542239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812987" y="50913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61627" y="545713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812987" y="4579315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13  •  COMMUNITY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Microsoft GraphRAG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관계 그래프로 공동체를 만들고 보고서를 모아 전체적인 질문에 답합니다.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Corpus → Text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LLM Entity / Relationship / Claims 추출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 description / edge 병합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Leiden 계층 커뮤니티 탐지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Community Report 생성 +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2026년 기술 전략의 공통 주제 3가지는?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Community Report 생성 + 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85048" y="4636007"/>
            <a:ext cx="402336" cy="13716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85048" y="4773168"/>
            <a:ext cx="338328" cy="41148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723376" y="4636007"/>
            <a:ext cx="64008" cy="54864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723376" y="4974336"/>
            <a:ext cx="457200" cy="21031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180576" y="4727448"/>
            <a:ext cx="365760" cy="24688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180576" y="4974336"/>
            <a:ext cx="384048" cy="41148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546336" y="4727448"/>
            <a:ext cx="18288" cy="65836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8257031" y="464515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694115" y="45427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30107" y="50913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087307" y="488106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453067" y="46341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471355" y="529254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13  •  COMMUNITY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Microsoft GraphRAG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관계 그래프로 공동체를 만들고 보고서를 모아 전체적인 질문에 답합니다.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Global 질문 → Community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Report별 map-stage 부분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중요도 / 품질 점수 지정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Reduce 단계에서 핵심 근거 종합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최종 답변 + report citations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2026년 기술 전략의 공통 주제 3가지는?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85048" y="4636007"/>
            <a:ext cx="402336" cy="13716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85048" y="4773168"/>
            <a:ext cx="338328" cy="41148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723376" y="4636007"/>
            <a:ext cx="64008" cy="54864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723376" y="4974336"/>
            <a:ext cx="457200" cy="21031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180576" y="4727448"/>
            <a:ext cx="365760" cy="24688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180576" y="4974336"/>
            <a:ext cx="384048" cy="41148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546336" y="4727448"/>
            <a:ext cx="18288" cy="65836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8257031" y="464515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694115" y="45427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30107" y="50913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087307" y="488106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453067" y="46341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471355" y="529254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13  •  COST &amp; NOISE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LightRAG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엔티티의 국소 정보와 관계의 상위 정보를 함께 조회합니다.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Chunk 분할 및 고유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LLM 엔티티 / 관계 추출 + dedup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 / Relation 설명 병합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Graph + Vector / KV index 구축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신규 문서 증분 업데이트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TrafficStream, Orion, Beacon의 관계를 묻기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신규 문서 증분 업데이트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57616" y="4681728"/>
            <a:ext cx="438912" cy="9144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586216" y="4690872"/>
            <a:ext cx="210312" cy="67665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96528" y="4690872"/>
            <a:ext cx="493776" cy="3657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90304" y="4727448"/>
            <a:ext cx="301752" cy="47548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229600" y="455371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703259" y="4597603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492947" y="527425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97035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98787" y="5109667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13  •  COST &amp; NOISE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LightRAG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엔티티의 국소 정보와 관계의 상위 정보를 함께 조회합니다.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 → low / high keyword 추출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Low-level entity 벡터 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High-level relation 벡터 검색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Neighbor expansion + chunk provenance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Hybrid context 정렬 → LLM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TrafficStream, Orion, Beacon의 관계를 묻기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57616" y="4681728"/>
            <a:ext cx="438912" cy="9144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586216" y="4690872"/>
            <a:ext cx="210312" cy="67665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96528" y="4690872"/>
            <a:ext cx="493776" cy="3657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90304" y="4727448"/>
            <a:ext cx="301752" cy="47548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229600" y="455371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703259" y="4597603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492947" y="527425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97035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98787" y="5109667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13  •  GRAPH MEMORY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HippoRAG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질문 엔티티에서 Personalized PageRank로 관련 근거를 확산 검색합니다.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Passage 단위 문서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OpenIE Triple 추출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Triple 정규화 / 동의어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 KG + Passage mapping 저장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비모수 장기기억 인덱스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TrafficStream부터 고객사 지연 감소까지 multi-hop 경로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비모수 장기기억 인덱스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85048" y="4727448"/>
            <a:ext cx="365760" cy="365759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50808" y="4727448"/>
            <a:ext cx="365760" cy="402335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116568" y="4709159"/>
            <a:ext cx="402336" cy="420624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16568" y="5129783"/>
            <a:ext cx="475488" cy="26517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257031" y="496519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657539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023299" y="5036515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425635" y="4615891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98787" y="5301691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13  •  GRAPH MEMORY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HippoRAG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질문 엔티티에서 Personalized PageRank로 관련 근거를 확산 검색합니다.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Query에서 named-entity / keyphrase 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KG node grounding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Personalized PageRank 확산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높은 score entity → Passage 매핑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근거 passage로 단일 LLM 생성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TrafficStream부터 고객사 지연 감소까지 multi-hop 경로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85048" y="4727448"/>
            <a:ext cx="365760" cy="365759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50808" y="4727448"/>
            <a:ext cx="365760" cy="402335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116568" y="4709159"/>
            <a:ext cx="402336" cy="420624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16568" y="5129783"/>
            <a:ext cx="475488" cy="26517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257031" y="496519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657539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023299" y="5036515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425635" y="4615891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98787" y="5301691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13  •  GRAPH MEMORY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HippoRAG 2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질문에 맞는 Passage를 먼저 인식하고 그래프 메모리와 함께 확산합니다.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OpenIE 문서 / phrase 노드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Phrase–phrase semantic links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Passage node를 graph와 직접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Passage/phrase embedding 저장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KG + Passage augmented memory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직접 사실 검색과 2~3 hop 질문을 같은 시스템으로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KG + Passage augmented memory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75904" y="4727448"/>
            <a:ext cx="420624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6528" y="4727448"/>
            <a:ext cx="374904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75904" y="4727448"/>
            <a:ext cx="301752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677656" y="4727448"/>
            <a:ext cx="118872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96528" y="4727448"/>
            <a:ext cx="594360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171432" y="4727448"/>
            <a:ext cx="219456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247888" y="459943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703259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078163" y="46341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84387" y="53199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297619" y="53199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13  •  GRAPH MEMORY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HippoRAG 2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질문에 맞는 Passage를 먼저 인식하고 그래프 메모리와 함께 확산합니다.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질문 기반 phrase seed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Passage recognition / relevance 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Phrase + Passage hybrid PPR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Passage reranking 및 filtering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LLM reasoning → evidence grounded 답변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직접 사실 검색과 2~3 hop 질문을 같은 시스템으로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75904" y="4727448"/>
            <a:ext cx="420624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6528" y="4727448"/>
            <a:ext cx="374904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75904" y="4727448"/>
            <a:ext cx="301752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677656" y="4727448"/>
            <a:ext cx="118872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96528" y="4727448"/>
            <a:ext cx="594360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171432" y="4727448"/>
            <a:ext cx="219456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247888" y="459943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703259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078163" y="46341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84387" y="53199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297619" y="53199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06 / 13  •  HIERARCHY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ArchRAG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구조와 의미를 고려한 커뮤니티 중 필요한 계층만 탐색합니다.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Text Chunk → Entity KG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Node/Edge attribute embeddings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Connectivity + Semantics 기반 attributed communities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Community별 재귀 LLM 요약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C-HNSW 계층 검색 인덱스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넓은 조직 전략과 구체적인 팀 정책을 함께 탐색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C-HNSW 계층 검색 인덱스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11896" y="4681728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69096" y="4681728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11896" y="4681728"/>
            <a:ext cx="228600" cy="57607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540496" y="4681728"/>
            <a:ext cx="228600" cy="57607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69096" y="4681728"/>
            <a:ext cx="246888" cy="57607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226296" y="4681728"/>
            <a:ext cx="274320" cy="57607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540496" y="5257800"/>
            <a:ext cx="475488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015984" y="5257800"/>
            <a:ext cx="484632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83879" y="455371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75827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133027" y="458845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447227" y="5164531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22715" y="5164531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407347" y="5164531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06 / 13  •  HIERARCHY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ArchRAG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구조와 의미를 고려한 커뮤니티 중 필요한 계층만 탐색합니다.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 vector → 상위 community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C-HNSW intra / inter-layer 탐색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Coarse→Fine candidate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Adaptive relevance filtering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Selected summaries + passages → LLM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넓은 조직 전략과 구체적인 팀 정책을 함께 탐색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11896" y="4681728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69096" y="4681728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11896" y="4681728"/>
            <a:ext cx="228600" cy="57607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540496" y="4681728"/>
            <a:ext cx="228600" cy="57607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69096" y="4681728"/>
            <a:ext cx="246888" cy="57607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226296" y="4681728"/>
            <a:ext cx="274320" cy="576072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540496" y="5257800"/>
            <a:ext cx="475488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015984" y="5257800"/>
            <a:ext cx="484632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83879" y="455371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75827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133027" y="458845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447227" y="5164531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22715" y="5164531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407347" y="5164531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07 / 13  •  COST &amp; NOISE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LinearRAG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관계 문장 추출 없이 엔티티와 문서 포함 관계로 전파합니다.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Corpus → Passage + Sentence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 mention 추출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Entity–Sentence–Passage Tri-Graph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Co-occurrence / membership edges 구축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Relation labels 없이 그래프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엔티티 경로를 찾되 부정 관계를 왜곡하지 않기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Relation labels 없이 그래프 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11896" y="4681728"/>
            <a:ext cx="411480" cy="411479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11896" y="5093207"/>
            <a:ext cx="411480" cy="36576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4681728"/>
            <a:ext cx="502920" cy="27432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723376" y="4956048"/>
            <a:ext cx="502920" cy="50292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226296" y="4956048"/>
            <a:ext cx="320040" cy="2286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8183879" y="496519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630107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30107" y="536569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133027" y="48627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453067" y="50913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07 / 13  •  COST &amp; NOISE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LinearRAG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관계 문장 추출 없이 엔티티와 문서 포함 관계로 전파합니다.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 → semantic entity 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Local semantic bridging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Graph Personalized PageRank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Passage score로 투영 / ranking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Original passages → LLM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엔티티 경로를 찾되 부정 관계를 왜곡하지 않기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11896" y="4681728"/>
            <a:ext cx="411480" cy="411479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11896" y="5093207"/>
            <a:ext cx="411480" cy="36576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4681728"/>
            <a:ext cx="502920" cy="27432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723376" y="4956048"/>
            <a:ext cx="502920" cy="50292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226296" y="4956048"/>
            <a:ext cx="320040" cy="2286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8183879" y="496519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630107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30107" y="536569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133027" y="48627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453067" y="50913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08 / 13  •  COST &amp; NOISE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AtomicRAG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긴 Chunk를 독립적으로 이해할 수 있는 원자적 사실로 나눠 검색합니다.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Document → self-contained knowledge atoms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Atom에서 Entity 추출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Atom–Entity Graph(AEG) 구축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Entity–Entity 존재성 edge 연결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Atom ↔ 원문 provenance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하나의 긴 문서 속 여러 사실 중 MAE 수치만 찾기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Atom ↔ 원문 provenance 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11896" y="4681728"/>
            <a:ext cx="502920" cy="13716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814816" y="4681728"/>
            <a:ext cx="502920" cy="9144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11896" y="4818888"/>
            <a:ext cx="201168" cy="59436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513064" y="4681728"/>
            <a:ext cx="301752" cy="73152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14816" y="4681728"/>
            <a:ext cx="356616" cy="73152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9171432" y="4773168"/>
            <a:ext cx="146304" cy="64008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183879" y="469087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721547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24467" y="467989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19795" y="53199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078163" y="53199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08 / 13  •  COST &amp; NOISE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AtomicRAG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긴 Chunk를 독립적으로 이해할 수 있는 원자적 사실로 나눠 검색합니다.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 → entity / atom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 graph Personalized PageRank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관련 atom 후보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Atom sieve / relevance filtering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선별 atom과 source → LLM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하나의 긴 문서 속 여러 사실 중 MAE 수치만 찾기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11896" y="4681728"/>
            <a:ext cx="502920" cy="13716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814816" y="4681728"/>
            <a:ext cx="502920" cy="9144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11896" y="4818888"/>
            <a:ext cx="201168" cy="59436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513064" y="4681728"/>
            <a:ext cx="301752" cy="73152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14816" y="4681728"/>
            <a:ext cx="356616" cy="73152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9171432" y="4773168"/>
            <a:ext cx="146304" cy="64008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183879" y="469087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721547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24467" y="467989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19795" y="53199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078163" y="53199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09 / 13  •  COST &amp; NOISE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MiniRAG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작은 모델이 읽기 쉬운 짧은 엔티티 경로로 근거를 압축합니다.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Document → chunk 및 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가벼운 entity extraction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Entity–Entity + Entity–Chunk heterograph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Chunk 의미 및 topology 함께 저장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작은 LLM에 적합한 인덱스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저자원 환경에서 2-hop 연결 근거를 검색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작은 LLM에 적합한 인덱스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75904" y="4636007"/>
            <a:ext cx="338328" cy="475489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14232" y="4636007"/>
            <a:ext cx="420624" cy="41148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134856" y="4636007"/>
            <a:ext cx="338328" cy="41148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34856" y="5047488"/>
            <a:ext cx="411480" cy="40233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247888" y="4983480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620963" y="45427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041587" y="495421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79915" y="45427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53067" y="5356555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09 / 13  •  COST &amp; NOISE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MiniRAG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작은 모델이 읽기 쉬운 짧은 엔티티 경로로 근거를 압축합니다.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 entity / relationship clues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Topology-enhanced entity selection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Relevant path search / pruning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Entity-aligned chunk 집계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Small LLM with concise evidence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저자원 환경에서 2-hop 연결 근거를 검색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75904" y="4636007"/>
            <a:ext cx="338328" cy="475489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14232" y="4636007"/>
            <a:ext cx="420624" cy="41148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134856" y="4636007"/>
            <a:ext cx="338328" cy="41148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34856" y="5047488"/>
            <a:ext cx="411480" cy="40233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247888" y="4983480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620963" y="45427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041587" y="495421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79915" y="45427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53067" y="5356555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10 / 13  •  LEARNED GRAPH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GFM-RAG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질문 관련성이 그래프 이웃으로 전파되는 방식을 보여 줍니다.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Raw docs → Entity KG 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KG node / relation / document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Graph tensor/feature preprocessing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Pretrained GFM retriever weights 준비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새 corpus graph에 zero-shot 적용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새로운 지식 그래프에서 별도 튜닝 없이 검색하기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새 corpus graph에 zero-shot 적용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11896" y="4681728"/>
            <a:ext cx="393192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05088" y="4681728"/>
            <a:ext cx="393192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11896" y="4681728"/>
            <a:ext cx="182880" cy="61264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05088" y="4681728"/>
            <a:ext cx="201168" cy="61264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98280" y="4681728"/>
            <a:ext cx="265176" cy="61264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94776" y="5294376"/>
            <a:ext cx="41148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906256" y="5294376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8183879" y="455371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611819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05011" y="458845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01507" y="520110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812987" y="5201107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70187" y="520110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10 / 13  •  LEARNED GRAPH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GFM-RAG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질문 관련성이 그래프 이웃으로 전파되는 방식을 보여 줍니다.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 embedding / node grounding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Query-conditioned Graph Neural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Graph message passing / node ranking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Relevant passage / document projection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Retrieved context → generator LLM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새로운 지식 그래프에서 별도 튜닝 없이 검색하기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11896" y="4681728"/>
            <a:ext cx="393192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05088" y="4681728"/>
            <a:ext cx="393192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11896" y="4681728"/>
            <a:ext cx="182880" cy="61264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05088" y="4681728"/>
            <a:ext cx="201168" cy="61264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98280" y="4681728"/>
            <a:ext cx="265176" cy="61264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94776" y="5294376"/>
            <a:ext cx="41148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906256" y="5294376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8183879" y="455371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611819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05011" y="458845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01507" y="520110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812987" y="5201107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70187" y="520110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11 / 13  •  LEARNED GRAPH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G-Reasoner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엔티티·속성·문서·커뮤니티의 여러 계층을 한 화면에서 검색합니다.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 / Attribute / Document / Community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4층 QuadGraph schema 정규화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Heterogeneous cross-layer connections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Graph feature + training labels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Pretrained G-Reasoner representation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엔티티·속성·문서·커뮤니티를 같이 탐색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Pretrained G-Reasoner representation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11896" y="4608576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69096" y="4608576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11896" y="4608576"/>
            <a:ext cx="0" cy="71323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69096" y="4608576"/>
            <a:ext cx="0" cy="71323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226296" y="4608576"/>
            <a:ext cx="0" cy="71323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311896" y="5321807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769096" y="5321807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8183879" y="4480560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675827" y="451530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133027" y="4515307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18627" y="52285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675827" y="522853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133027" y="52285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11 / 13  •  LEARNED GRAPH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G-Reasoner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엔티티·속성·문서·커뮤니티의 여러 계층을 한 화면에서 검색합니다.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Query-conditioned graph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GFM cross-layer reasoning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Layer별 node relevance prediction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Attributed document evidence aggregation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Relevant passage context + LLM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엔티티·속성·문서·커뮤니티를 같이 탐색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11896" y="4608576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69096" y="4608576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11896" y="4608576"/>
            <a:ext cx="0" cy="71323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69096" y="4608576"/>
            <a:ext cx="0" cy="71323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226296" y="4608576"/>
            <a:ext cx="0" cy="71323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311896" y="5321807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769096" y="5321807"/>
            <a:ext cx="4572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8183879" y="4480560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675827" y="451530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133027" y="4515307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18627" y="52285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675827" y="522853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133027" y="522853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12 / 13  •  MULTIMODAL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RAG-Anything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텍스트와 이미지 설명을 같은 구조적 검색 공간으로 연결합니다.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PDF/Office → MinerU/Docling parsing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Text / Image / Table / Equation 분류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Modality-aware VLM 캡션·구조화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Cross-modal entities + relationships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Multimodal KG + LightRAG indices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아키텍처 이미지의 화살표 + 운영 문서 사실을 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Multimodal KG + LightRAG indices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11896" y="4727448"/>
            <a:ext cx="301752" cy="649224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613648" y="4654296"/>
            <a:ext cx="82296" cy="72237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695944" y="4654296"/>
            <a:ext cx="475488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70848" y="4727448"/>
            <a:ext cx="100584" cy="61264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171432" y="4681728"/>
            <a:ext cx="237744" cy="65836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613648" y="5340096"/>
            <a:ext cx="557784" cy="3657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183879" y="459943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02675" y="456102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977579" y="46341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15907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520379" y="5283403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78163" y="524682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12 / 13  •  MULTIMODAL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RAG-Anything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텍스트와 이미지 설명을 같은 구조적 검색 공간으로 연결합니다.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Query modality/context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Entity/relationship hybrid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Text + table + image aligned recall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Linked multimodal evidence assembling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VLM/LLM generate grounded answer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아키텍처 이미지의 화살표 + 운영 문서 사실을 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11896" y="4727448"/>
            <a:ext cx="301752" cy="649224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613648" y="4654296"/>
            <a:ext cx="82296" cy="72237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695944" y="4654296"/>
            <a:ext cx="475488" cy="68580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70848" y="4727448"/>
            <a:ext cx="100584" cy="61264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171432" y="4681728"/>
            <a:ext cx="237744" cy="658368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613648" y="5340096"/>
            <a:ext cx="557784" cy="36576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183879" y="459943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02675" y="456102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977579" y="463417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15907" y="458845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520379" y="5283403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78163" y="5246827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C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13 / 13  •  DIAGNOSIS  • 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When to Use Graphs in RAG  /  Indexing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질문 특성에 따라 Chunk·Graph·Community 전략을 선택합니다.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AC7F4"/>
                </a:solidFill>
                <a:latin typeface="Malgun Gothic"/>
              </a:defRPr>
            </a:pPr>
            <a:r>
              <a:t>BUILD THE KNOWLEDGE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QA tasks / Corpus datasets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Classic RAG and GraphRAG 구축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Question-type / graph quality labeling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Evidence / accuracy / budget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AC7F4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비교 가능한 benchmark suite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어떤 QA 유형에서 그래프 도입 가치가 있는가?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저장 산출물: 비교 가능한 benchmark suite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AC7F4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11896" y="4727448"/>
            <a:ext cx="457200" cy="365759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11896" y="5093207"/>
            <a:ext cx="457200" cy="36576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69096" y="4727448"/>
            <a:ext cx="6858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69096" y="5458968"/>
            <a:ext cx="6858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183879" y="4965192"/>
            <a:ext cx="256032" cy="256032"/>
          </a:xfrm>
          <a:prstGeom prst="ellipse">
            <a:avLst/>
          </a:prstGeom>
          <a:solidFill>
            <a:srgbClr val="8AC7F4"/>
          </a:solidFill>
          <a:ln>
            <a:solidFill>
              <a:srgbClr val="8AC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675827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675827" y="536569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61627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61627" y="536569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13 / 13  •  DIAGNOSIS  • 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When to Use Graphs in RAG  / 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질문 특성에 따라 Chunk·Graph·Community 전략을 선택합니다.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9384"/>
            <a:ext cx="8229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80E0CB"/>
                </a:solidFill>
                <a:latin typeface="Malgun Gothic"/>
              </a:defRPr>
            </a:pPr>
            <a:r>
              <a:t>QUERY-TIME EVIDENCE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01 /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질문 유형: simple / multi-hop / 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Corpus 연결성과 graph noise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8383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03 /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3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Baseline / GraphRAG retrieve 동일 비교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7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5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392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Recall / correctness / latency / cost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2898648"/>
            <a:ext cx="1737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80E0C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414016"/>
            <a:ext cx="2121408" cy="123444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569464"/>
            <a:ext cx="914400" cy="2194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62072"/>
            <a:ext cx="1865376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20" b="1">
                <a:solidFill>
                  <a:srgbClr val="F4F7F7"/>
                </a:solidFill>
                <a:latin typeface="Malgun Gothic"/>
              </a:defRPr>
            </a:pPr>
            <a:r>
              <a:t>Evidence에 따라 시스템 선택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3931920"/>
            <a:ext cx="7178040" cy="1773936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4864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CONCRETE SCENARIO / 예시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489704"/>
            <a:ext cx="65836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4F7F7"/>
                </a:solidFill>
                <a:latin typeface="Malgun Gothic"/>
              </a:defRPr>
            </a:pPr>
            <a:r>
              <a:t>어떤 QA 유형에서 그래프 도입 가치가 있는가?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57216"/>
            <a:ext cx="653796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30" b="0">
                <a:solidFill>
                  <a:srgbClr val="A8B8C7"/>
                </a:solidFill>
                <a:latin typeface="Malgun Gothic"/>
              </a:defRPr>
            </a:pPr>
            <a:r>
              <a:t>→ 최종 생성에는 선택된 Evidence 및 출처 ID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3931920"/>
            <a:ext cx="3730752" cy="1773936"/>
          </a:xfrm>
          <a:prstGeom prst="roundRect">
            <a:avLst>
              <a:gd name="adj" fmla="val 12000"/>
            </a:avLst>
          </a:prstGeom>
          <a:solidFill>
            <a:srgbClr val="132C3E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105656"/>
            <a:ext cx="26060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STRUCTURE AT A GLANCE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311896" y="4727448"/>
            <a:ext cx="457200" cy="365759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11896" y="5093207"/>
            <a:ext cx="457200" cy="365761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69096" y="4727448"/>
            <a:ext cx="6858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69096" y="5458968"/>
            <a:ext cx="685800" cy="0"/>
          </a:xfrm>
          <a:prstGeom prst="line">
            <a:avLst/>
          </a:prstGeom>
          <a:ln w="2794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183879" y="4965192"/>
            <a:ext cx="256032" cy="256032"/>
          </a:xfrm>
          <a:prstGeom prst="ellipse">
            <a:avLst/>
          </a:prstGeom>
          <a:solidFill>
            <a:srgbClr val="80E0CB"/>
          </a:solidFill>
          <a:ln>
            <a:solidFill>
              <a:srgbClr val="80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675827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675827" y="536569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61627" y="4634179"/>
            <a:ext cx="186537" cy="186537"/>
          </a:xfrm>
          <a:prstGeom prst="ellipse">
            <a:avLst/>
          </a:prstGeom>
          <a:solidFill>
            <a:srgbClr val="28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61627" y="5365699"/>
            <a:ext cx="186537" cy="186537"/>
          </a:xfrm>
          <a:prstGeom prst="ellipse">
            <a:avLst/>
          </a:prstGeom>
          <a:solidFill>
            <a:srgbClr val="537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4572000"/>
            <a:ext cx="135331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knowledge</a:t>
            </a:r>
          </a:p>
          <a:p>
            <a:pPr>
              <a:spcAft>
                <a:spcPts val="500"/>
              </a:spcAft>
              <a:defRPr sz="1100" b="0">
                <a:solidFill>
                  <a:srgbClr val="A8B8C7"/>
                </a:solidFill>
                <a:latin typeface="Malgun Gothic"/>
              </a:defRPr>
            </a:pPr>
            <a:r>
              <a:t>path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044184"/>
            <a:ext cx="246888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2"/>
              </a:rPr>
              <a:t>↗ PAPER  /  arXiv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2112" y="6044184"/>
            <a:ext cx="29718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80E0CB"/>
                </a:solidFill>
                <a:latin typeface="Malgun Gothic"/>
              </a:defRPr>
            </a:pPr>
            <a:r>
              <a:rPr>
                <a:hlinkClick r:id="rId3"/>
              </a:rPr>
              <a:t>↗ CODE  / 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6025896"/>
            <a:ext cx="452628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860" b="0">
                <a:solidFill>
                  <a:srgbClr val="A8B8C7"/>
                </a:solidFill>
                <a:latin typeface="Malgun Gothic"/>
              </a:defRPr>
            </a:pPr>
            <a:r>
              <a:t>Educational reconstruction · Not exact reproduction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04 / PRODUCTION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Choose by query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GraphRAG 도입 여부는 질문 유형별 베이스라인 대비 개선으로 판단합니다.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84831"/>
            <a:ext cx="5495544" cy="1380744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231136"/>
            <a:ext cx="505663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SINGLE 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60320"/>
            <a:ext cx="49743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F4F7F7"/>
                </a:solidFill>
                <a:latin typeface="Malgun Gothic"/>
              </a:defRPr>
            </a:pPr>
            <a:r>
              <a:t>Vector / Hybrid + reranker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44952"/>
            <a:ext cx="4974336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20" b="0">
                <a:solidFill>
                  <a:srgbClr val="A8B8C7"/>
                </a:solidFill>
                <a:latin typeface="Malgun Gothic"/>
              </a:defRPr>
            </a:pPr>
            <a:r>
              <a:t>일반 검색 대비 정확도·지연 검증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45936" y="2084831"/>
            <a:ext cx="5495544" cy="1380744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2231136"/>
            <a:ext cx="505663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GLOBAL SYNTHESIS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560320"/>
            <a:ext cx="49743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F4F7F7"/>
                </a:solidFill>
                <a:latin typeface="Malgun Gothic"/>
              </a:defRPr>
            </a:pPr>
            <a:r>
              <a:t>GraphRAG / RAPTOR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44952"/>
            <a:ext cx="4974336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20" b="0">
                <a:solidFill>
                  <a:srgbClr val="A8B8C7"/>
                </a:solidFill>
                <a:latin typeface="Malgun Gothic"/>
              </a:defRPr>
            </a:pPr>
            <a:r>
              <a:t>커뮤니티 요약 충실도 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12463"/>
            <a:ext cx="5495544" cy="1380744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858768"/>
            <a:ext cx="505663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MULTI-HOP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187952"/>
            <a:ext cx="49743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F4F7F7"/>
                </a:solidFill>
                <a:latin typeface="Malgun Gothic"/>
              </a:defRPr>
            </a:pPr>
            <a:r>
              <a:t>HippoRAG / LightRAG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672583"/>
            <a:ext cx="4974336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20" b="0">
                <a:solidFill>
                  <a:srgbClr val="A8B8C7"/>
                </a:solidFill>
                <a:latin typeface="Malgun Gothic"/>
              </a:defRPr>
            </a:pPr>
            <a:r>
              <a:t>graph noise와 supporting fact recall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5936" y="3712463"/>
            <a:ext cx="5495544" cy="1380744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858768"/>
            <a:ext cx="505663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LOW-COST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4187952"/>
            <a:ext cx="4974336" cy="32918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F4F7F7"/>
                </a:solidFill>
                <a:latin typeface="Malgun Gothic"/>
              </a:defRPr>
            </a:pPr>
            <a:r>
              <a:t>LinearRAG / MiniRAG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672583"/>
            <a:ext cx="4974336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20" b="0">
                <a:solidFill>
                  <a:srgbClr val="A8B8C7"/>
                </a:solidFill>
                <a:latin typeface="Malgun Gothic"/>
              </a:defRPr>
            </a:pPr>
            <a:r>
              <a:t>트리플 추출 예산과 품질 균형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879592"/>
            <a:ext cx="1069848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70" b="0">
                <a:solidFill>
                  <a:srgbClr val="80E0CB"/>
                </a:solidFill>
                <a:latin typeface="Malgun Gothic"/>
              </a:defRPr>
            </a:pPr>
            <a:r>
              <a:t>Metrics: Recall@k  /  Support Recall  /  Answer Correctness  /  Faithfulness  /  Indexing Cost  /  P95 Latency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0E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05 /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Run → Inspect → 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GraphRAG Atlas 웹사이트에서 직접 확인하는 흐름입니다.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80E0CB"/>
                </a:solidFill>
                <a:latin typeface="Malgun Gothic"/>
              </a:defRPr>
            </a:pPr>
            <a: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304288"/>
            <a:ext cx="2112264" cy="2093976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05456"/>
            <a:ext cx="91440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80E0CB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2980944"/>
            <a:ext cx="1847088" cy="35661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F4F7F7"/>
                </a:solidFill>
                <a:latin typeface="Malgun Gothic"/>
              </a:defRPr>
            </a:pPr>
            <a:r>
              <a:t>Index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529584"/>
            <a:ext cx="18288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샘플 문서를 인덱싱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62072" y="2304288"/>
            <a:ext cx="2112264" cy="2093976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2505456"/>
            <a:ext cx="91440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80E0CB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8376" y="2980944"/>
            <a:ext cx="1847088" cy="35661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F4F7F7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3529584"/>
            <a:ext cx="18288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RAPTOR / HippoRAG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93792" y="2304288"/>
            <a:ext cx="2112264" cy="2093976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2505456"/>
            <a:ext cx="91440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80E0CB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2980944"/>
            <a:ext cx="1847088" cy="35661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F4F7F7"/>
                </a:solidFill>
                <a:latin typeface="Malgun Gothic"/>
              </a:defRPr>
            </a:pPr>
            <a:r>
              <a:t>Stream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3529584"/>
            <a:ext cx="18288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LLM 토큰 실시간 전송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25511" y="2304288"/>
            <a:ext cx="2112264" cy="2093976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59" y="2505456"/>
            <a:ext cx="91440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80E0CB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1815" y="2980944"/>
            <a:ext cx="1847088" cy="35661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F4F7F7"/>
                </a:solidFill>
                <a:latin typeface="Malgun Gothic"/>
              </a:defRPr>
            </a:pPr>
            <a: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1815" y="3529584"/>
            <a:ext cx="18288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Graph + citation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57232" y="2304288"/>
            <a:ext cx="2112264" cy="2093976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2505456"/>
            <a:ext cx="91440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80E0CB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3536" y="2980944"/>
            <a:ext cx="1847088" cy="35661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F4F7F7"/>
                </a:solidFill>
                <a:latin typeface="Malgun Gothic"/>
              </a:defRPr>
            </a:pPr>
            <a:r>
              <a:t>Compare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03536" y="3529584"/>
            <a:ext cx="18288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8B8C7"/>
                </a:solidFill>
                <a:latin typeface="Malgun Gothic"/>
              </a:defRPr>
            </a:pPr>
            <a:r>
              <a:t>두 방법을 동일 질문으로 비교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727448"/>
            <a:ext cx="11137392" cy="832104"/>
          </a:xfrm>
          <a:prstGeom prst="roundRect">
            <a:avLst>
              <a:gd name="adj" fmla="val 12000"/>
            </a:avLst>
          </a:prstGeom>
          <a:solidFill>
            <a:srgbClr val="0F2131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5010912"/>
            <a:ext cx="105156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7C27A"/>
                </a:solidFill>
                <a:latin typeface="Malgun Gothic"/>
              </a:defRPr>
            </a:pPr>
            <a:r>
              <a:t>http://127.0.0.1:8000   ·   Offline demo first   ·   OpenAI Live only with a fresh server-side key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7C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83464"/>
            <a:ext cx="8961120" cy="2468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Q&amp;A /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85800"/>
            <a:ext cx="11155680" cy="5669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F4F7F7"/>
                </a:solidFill>
                <a:latin typeface="Malgun Gothic"/>
              </a:defRPr>
            </a:pPr>
            <a:r>
              <a:t>Build evidence, not just edges.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362456"/>
            <a:ext cx="110642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적절한 Knowledge Unit × Retrieval Operator × Provenance → Better Answers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382512"/>
            <a:ext cx="11100816" cy="0"/>
          </a:xfrm>
          <a:prstGeom prst="line">
            <a:avLst/>
          </a:prstGeom>
          <a:ln w="10160">
            <a:solidFill>
              <a:srgbClr val="2844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7784" y="6469380"/>
            <a:ext cx="5486400" cy="20116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8B8C7"/>
                </a:solidFill>
                <a:latin typeface="Malgun Gothic"/>
              </a:defRPr>
            </a:pPr>
            <a:r>
              <a:t>GRAPHATLAS     /     TECHNICAL EXCHANGE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9380"/>
            <a:ext cx="457200" cy="210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spcAft>
                <a:spcPts val="500"/>
              </a:spcAft>
              <a:defRPr sz="1000" b="1">
                <a:solidFill>
                  <a:srgbClr val="F7C27A"/>
                </a:solidFill>
                <a:latin typeface="Malgun Gothic"/>
              </a:defRPr>
            </a:pPr>
            <a: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2203704"/>
            <a:ext cx="9966960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4F7F7"/>
                </a:solidFill>
                <a:latin typeface="Malgun Gothic"/>
              </a:defRPr>
            </a:pPr>
            <a:r>
              <a:t>Graph structures help when the question needs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291840"/>
            <a:ext cx="987552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80E0CB"/>
                </a:solidFill>
                <a:latin typeface="Malgun Gothic"/>
              </a:defRPr>
            </a:pPr>
            <a:r>
              <a:t>“어떤 질문을 해결하려는가?”로 시스템 설계를 시작하세요.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" y="4608576"/>
            <a:ext cx="10927080" cy="822960"/>
          </a:xfrm>
          <a:prstGeom prst="roundRect">
            <a:avLst>
              <a:gd name="adj" fmla="val 12000"/>
            </a:avLst>
          </a:prstGeom>
          <a:solidFill>
            <a:srgbClr val="12263B"/>
          </a:solidFill>
          <a:ln w="10160">
            <a:solidFill>
              <a:srgbClr val="284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4837176"/>
            <a:ext cx="98755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A8B8C7"/>
                </a:solidFill>
                <a:latin typeface="Malgun Gothic"/>
              </a:defRPr>
            </a:pPr>
            <a:r>
              <a:t>Paper &amp; code links: per-paper slide footer  /  All sources: website Research Index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