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Masters/slideMaster3.xml" ContentType="application/vnd.openxmlformats-officedocument.presentationml.slideMaster+xml"/>
  <Override PartName="/ppt/slideMasters/theme/theme4.xml" ContentType="application/vnd.openxmlformats-officedocument.theme+xml"/>
  <Override PartName="/ppt/slideMasters/slideMaster4.xml" ContentType="application/vnd.openxmlformats-officedocument.presentationml.slideMaster+xml"/>
  <Override PartName="/ppt/slideMasters/theme/theme5.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notesMasters/notesMaster1.xml" ContentType="application/vnd.openxmlformats-officedocument.presentationml.notesMaster+xml"/>
  <Override PartName="/ppt/notesMasters/theme/theme6.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2a86b192544479f" /><Relationship Type="http://schemas.openxmlformats.org/officeDocument/2006/relationships/extended-properties" Target="/docProps/app.xml" Id="R65a9dd5f34da485b" /><Relationship Type="http://schemas.openxmlformats.org/officeDocument/2006/relationships/officeDocument" Target="/ppt/presentation.xml" Id="R7b68eafd354f43b6" /></Relationships>
</file>

<file path=ppt/presentation.xml><?xml version="1.0" encoding="utf-8"?>
<p:presentation xmlns:p="http://schemas.openxmlformats.org/presentationml/2006/main">
  <p:sldMasterIdLst>
    <p:sldMasterId xmlns:r="http://schemas.openxmlformats.org/officeDocument/2006/relationships" id="2147483648" r:id="Ra0e68b9521864876"/>
    <p:sldMasterId xmlns:r="http://schemas.openxmlformats.org/officeDocument/2006/relationships" id="2147483655" r:id="Ra23bbbe1b4514265"/>
    <p:sldMasterId xmlns:r="http://schemas.openxmlformats.org/officeDocument/2006/relationships" id="2147483662" r:id="Raeb45abfcedb4ab8"/>
    <p:sldMasterId xmlns:r="http://schemas.openxmlformats.org/officeDocument/2006/relationships" id="2147483669" r:id="R7af8e22c26604dad"/>
  </p:sldMasterIdLst>
  <p:notesMasterIdLst>
    <p:notesMasterId xmlns:r="http://schemas.openxmlformats.org/officeDocument/2006/relationships" r:id="Ra33a6d3e1cb24291"/>
  </p:notesMasterIdLst>
  <p:sldIdLst>
    <p:sldId xmlns:r="http://schemas.openxmlformats.org/officeDocument/2006/relationships" id="256" r:id="Re9a637eb57b94fe4"/>
    <p:sldId xmlns:r="http://schemas.openxmlformats.org/officeDocument/2006/relationships" id="257" r:id="Raca59ce121024cb5"/>
    <p:sldId xmlns:r="http://schemas.openxmlformats.org/officeDocument/2006/relationships" id="258" r:id="R6d79ca8511754a8d"/>
    <p:sldId xmlns:r="http://schemas.openxmlformats.org/officeDocument/2006/relationships" id="259" r:id="Re003333bb4f14840"/>
    <p:sldId xmlns:r="http://schemas.openxmlformats.org/officeDocument/2006/relationships" id="260" r:id="Rc26a6fdfa43c4b8a"/>
    <p:sldId xmlns:r="http://schemas.openxmlformats.org/officeDocument/2006/relationships" id="261" r:id="R2ccc8265f4fe4935"/>
    <p:sldId xmlns:r="http://schemas.openxmlformats.org/officeDocument/2006/relationships" id="262" r:id="Rc6eec538453e47f6"/>
    <p:sldId xmlns:r="http://schemas.openxmlformats.org/officeDocument/2006/relationships" id="263" r:id="R7d831720a0504ef6"/>
    <p:sldId xmlns:r="http://schemas.openxmlformats.org/officeDocument/2006/relationships" id="264" r:id="Rac40751c38564292"/>
    <p:sldId xmlns:r="http://schemas.openxmlformats.org/officeDocument/2006/relationships" id="265" r:id="R668689ff199f48ae"/>
    <p:sldId xmlns:r="http://schemas.openxmlformats.org/officeDocument/2006/relationships" id="266" r:id="Rb755280f37d54e6f"/>
    <p:sldId xmlns:r="http://schemas.openxmlformats.org/officeDocument/2006/relationships" id="267" r:id="Racb1f145bd914567"/>
    <p:sldId xmlns:r="http://schemas.openxmlformats.org/officeDocument/2006/relationships" id="268" r:id="Rc05d72e479b74c93"/>
    <p:sldId xmlns:r="http://schemas.openxmlformats.org/officeDocument/2006/relationships" id="269" r:id="R297271ea9563474d"/>
    <p:sldId xmlns:r="http://schemas.openxmlformats.org/officeDocument/2006/relationships" id="270" r:id="R6eb8f051d50f47f0"/>
    <p:sldId xmlns:r="http://schemas.openxmlformats.org/officeDocument/2006/relationships" id="271" r:id="R7588bb30bf8c4940"/>
    <p:sldId xmlns:r="http://schemas.openxmlformats.org/officeDocument/2006/relationships" id="272" r:id="R74c6adf017f54a0e"/>
    <p:sldId xmlns:r="http://schemas.openxmlformats.org/officeDocument/2006/relationships" id="273" r:id="Rba89f6818e264b8b"/>
    <p:sldId xmlns:r="http://schemas.openxmlformats.org/officeDocument/2006/relationships" id="274" r:id="R35e9ca0ed9e24fc2"/>
    <p:sldId xmlns:r="http://schemas.openxmlformats.org/officeDocument/2006/relationships" id="275" r:id="R41d3620370ef4ff4"/>
    <p:sldId xmlns:r="http://schemas.openxmlformats.org/officeDocument/2006/relationships" id="276" r:id="R7265a79f0fb04425"/>
    <p:sldId xmlns:r="http://schemas.openxmlformats.org/officeDocument/2006/relationships" id="277" r:id="R432fb8dbbbfe4a23"/>
    <p:sldId xmlns:r="http://schemas.openxmlformats.org/officeDocument/2006/relationships" id="278" r:id="R4f52ff796c744455"/>
    <p:sldId xmlns:r="http://schemas.openxmlformats.org/officeDocument/2006/relationships" id="279" r:id="Rf674047186664998"/>
    <p:sldId xmlns:r="http://schemas.openxmlformats.org/officeDocument/2006/relationships" id="280" r:id="Ra07c9319499a43ee"/>
    <p:sldId xmlns:r="http://schemas.openxmlformats.org/officeDocument/2006/relationships" id="281" r:id="Rccfe47f0c7814422"/>
    <p:sldId xmlns:r="http://schemas.openxmlformats.org/officeDocument/2006/relationships" id="282" r:id="Rde20c13397514615"/>
    <p:sldId xmlns:r="http://schemas.openxmlformats.org/officeDocument/2006/relationships" id="283" r:id="Red3253c1641148b8"/>
    <p:sldId xmlns:r="http://schemas.openxmlformats.org/officeDocument/2006/relationships" id="284" r:id="Rb8acfe4fc81e4378"/>
    <p:sldId xmlns:r="http://schemas.openxmlformats.org/officeDocument/2006/relationships" id="285" r:id="Rc8a9f355b92d4780"/>
    <p:sldId xmlns:r="http://schemas.openxmlformats.org/officeDocument/2006/relationships" id="286" r:id="Rf2f4881ad55e403c"/>
    <p:sldId xmlns:r="http://schemas.openxmlformats.org/officeDocument/2006/relationships" id="287" r:id="Rcd9476b185d74db9"/>
    <p:sldId xmlns:r="http://schemas.openxmlformats.org/officeDocument/2006/relationships" id="288" r:id="R7b9f4669518f449a"/>
    <p:sldId xmlns:r="http://schemas.openxmlformats.org/officeDocument/2006/relationships" id="289" r:id="R025f87068863468d"/>
    <p:sldId xmlns:r="http://schemas.openxmlformats.org/officeDocument/2006/relationships" id="290" r:id="R09e893c254134ff3"/>
    <p:sldId xmlns:r="http://schemas.openxmlformats.org/officeDocument/2006/relationships" id="291" r:id="R059ad13418174a8a"/>
    <p:sldId xmlns:r="http://schemas.openxmlformats.org/officeDocument/2006/relationships" id="292" r:id="R0752f3746c8c4997"/>
    <p:sldId xmlns:r="http://schemas.openxmlformats.org/officeDocument/2006/relationships" id="293" r:id="R0c85125e343140d5"/>
    <p:sldId xmlns:r="http://schemas.openxmlformats.org/officeDocument/2006/relationships" id="294" r:id="R2fd25c15b769401e"/>
    <p:sldId xmlns:r="http://schemas.openxmlformats.org/officeDocument/2006/relationships" id="295" r:id="R21260c1d15ab4f98"/>
    <p:sldId xmlns:r="http://schemas.openxmlformats.org/officeDocument/2006/relationships" id="296" r:id="R35e4ada5630e4fcf"/>
    <p:sldId xmlns:r="http://schemas.openxmlformats.org/officeDocument/2006/relationships" id="297" r:id="R44220f18c6494db5"/>
    <p:sldId xmlns:r="http://schemas.openxmlformats.org/officeDocument/2006/relationships" id="298" r:id="R6cbfae3343d945f9"/>
    <p:sldId xmlns:r="http://schemas.openxmlformats.org/officeDocument/2006/relationships" id="299" r:id="Redb265aad57549df"/>
    <p:sldId xmlns:r="http://schemas.openxmlformats.org/officeDocument/2006/relationships" id="300" r:id="R5d524eff928646bf"/>
    <p:sldId xmlns:r="http://schemas.openxmlformats.org/officeDocument/2006/relationships" id="301" r:id="R436564a622244f76"/>
    <p:sldId xmlns:r="http://schemas.openxmlformats.org/officeDocument/2006/relationships" id="302" r:id="R3d45ee99480b498a"/>
    <p:sldId xmlns:r="http://schemas.openxmlformats.org/officeDocument/2006/relationships" id="303" r:id="R0338188a99aa4f5e"/>
    <p:sldId xmlns:r="http://schemas.openxmlformats.org/officeDocument/2006/relationships" id="304" r:id="Rcef4a0ff08c44111"/>
    <p:sldId xmlns:r="http://schemas.openxmlformats.org/officeDocument/2006/relationships" id="305" r:id="Rb6bf1dd04b4a465a"/>
    <p:sldId xmlns:r="http://schemas.openxmlformats.org/officeDocument/2006/relationships" id="306" r:id="R2b203bb214274e22"/>
    <p:sldId xmlns:r="http://schemas.openxmlformats.org/officeDocument/2006/relationships" id="307" r:id="R7a3c50ee8b334df9"/>
    <p:sldId xmlns:r="http://schemas.openxmlformats.org/officeDocument/2006/relationships" id="308" r:id="R2a697bae53644be5"/>
    <p:sldId xmlns:r="http://schemas.openxmlformats.org/officeDocument/2006/relationships" id="309" r:id="Rd6dc0ab6c2be4d26"/>
    <p:sldId xmlns:r="http://schemas.openxmlformats.org/officeDocument/2006/relationships" id="310" r:id="Rfe7133dc5e1f4263"/>
    <p:sldId xmlns:r="http://schemas.openxmlformats.org/officeDocument/2006/relationships" id="311" r:id="Ra4007dbf813240b9"/>
    <p:sldId xmlns:r="http://schemas.openxmlformats.org/officeDocument/2006/relationships" id="312" r:id="R861f881d466c4b59"/>
    <p:sldId xmlns:r="http://schemas.openxmlformats.org/officeDocument/2006/relationships" id="313" r:id="Rb52b5715b7404883"/>
    <p:sldId xmlns:r="http://schemas.openxmlformats.org/officeDocument/2006/relationships" id="314" r:id="Rb34407721c1d4f2b"/>
    <p:sldId xmlns:r="http://schemas.openxmlformats.org/officeDocument/2006/relationships" id="315" r:id="R64e95ceb951a437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7350fdeb2249dd" /><Relationship Type="http://schemas.openxmlformats.org/officeDocument/2006/relationships/slideMaster" Target="/ppt/slideMasters/slideMaster1.xml" Id="Ra0e68b9521864876" /><Relationship Type="http://schemas.openxmlformats.org/officeDocument/2006/relationships/slideMaster" Target="/ppt/slideMasters/slideMaster2.xml" Id="Ra23bbbe1b4514265" /><Relationship Type="http://schemas.openxmlformats.org/officeDocument/2006/relationships/slideMaster" Target="/ppt/slideMasters/slideMaster3.xml" Id="Raeb45abfcedb4ab8" /><Relationship Type="http://schemas.openxmlformats.org/officeDocument/2006/relationships/slideMaster" Target="/ppt/slideMasters/slideMaster4.xml" Id="R7af8e22c26604dad" /><Relationship Type="http://schemas.openxmlformats.org/officeDocument/2006/relationships/notesMaster" Target="/ppt/notesMasters/notesMaster1.xml" Id="Ra33a6d3e1cb24291" /><Relationship Type="http://schemas.openxmlformats.org/officeDocument/2006/relationships/presProps" Target="/ppt/presProps.xml" Id="Rce68758ee2064afc" /><Relationship Type="http://schemas.openxmlformats.org/officeDocument/2006/relationships/tableStyles" Target="/ppt/tableStyles.xml" Id="R2fbbddb3c28744ee" /><Relationship Type="http://schemas.openxmlformats.org/officeDocument/2006/relationships/slide" Target="/ppt/slides/slide1.xml" Id="Re9a637eb57b94fe4" /><Relationship Type="http://schemas.openxmlformats.org/officeDocument/2006/relationships/slide" Target="/ppt/slides/slide2.xml" Id="Raca59ce121024cb5" /><Relationship Type="http://schemas.openxmlformats.org/officeDocument/2006/relationships/slide" Target="/ppt/slides/slide3.xml" Id="R6d79ca8511754a8d" /><Relationship Type="http://schemas.openxmlformats.org/officeDocument/2006/relationships/slide" Target="/ppt/slides/slide4.xml" Id="Re003333bb4f14840" /><Relationship Type="http://schemas.openxmlformats.org/officeDocument/2006/relationships/slide" Target="/ppt/slides/slide5.xml" Id="Rc26a6fdfa43c4b8a" /><Relationship Type="http://schemas.openxmlformats.org/officeDocument/2006/relationships/slide" Target="/ppt/slides/slide6.xml" Id="R2ccc8265f4fe4935" /><Relationship Type="http://schemas.openxmlformats.org/officeDocument/2006/relationships/slide" Target="/ppt/slides/slide7.xml" Id="Rc6eec538453e47f6" /><Relationship Type="http://schemas.openxmlformats.org/officeDocument/2006/relationships/slide" Target="/ppt/slides/slide8.xml" Id="R7d831720a0504ef6" /><Relationship Type="http://schemas.openxmlformats.org/officeDocument/2006/relationships/slide" Target="/ppt/slides/slide9.xml" Id="Rac40751c38564292" /><Relationship Type="http://schemas.openxmlformats.org/officeDocument/2006/relationships/slide" Target="/ppt/slides/slide10.xml" Id="R668689ff199f48ae" /><Relationship Type="http://schemas.openxmlformats.org/officeDocument/2006/relationships/slide" Target="/ppt/slides/slide11.xml" Id="Rb755280f37d54e6f" /><Relationship Type="http://schemas.openxmlformats.org/officeDocument/2006/relationships/slide" Target="/ppt/slides/slide12.xml" Id="Racb1f145bd914567" /><Relationship Type="http://schemas.openxmlformats.org/officeDocument/2006/relationships/slide" Target="/ppt/slides/slide13.xml" Id="Rc05d72e479b74c93" /><Relationship Type="http://schemas.openxmlformats.org/officeDocument/2006/relationships/slide" Target="/ppt/slides/slide14.xml" Id="R297271ea9563474d" /><Relationship Type="http://schemas.openxmlformats.org/officeDocument/2006/relationships/slide" Target="/ppt/slides/slide15.xml" Id="R6eb8f051d50f47f0" /><Relationship Type="http://schemas.openxmlformats.org/officeDocument/2006/relationships/slide" Target="/ppt/slides/slide16.xml" Id="R7588bb30bf8c4940" /><Relationship Type="http://schemas.openxmlformats.org/officeDocument/2006/relationships/slide" Target="/ppt/slides/slide17.xml" Id="R74c6adf017f54a0e" /><Relationship Type="http://schemas.openxmlformats.org/officeDocument/2006/relationships/slide" Target="/ppt/slides/slide18.xml" Id="Rba89f6818e264b8b" /><Relationship Type="http://schemas.openxmlformats.org/officeDocument/2006/relationships/slide" Target="/ppt/slides/slide19.xml" Id="R35e9ca0ed9e24fc2" /><Relationship Type="http://schemas.openxmlformats.org/officeDocument/2006/relationships/slide" Target="/ppt/slides/slide20.xml" Id="R41d3620370ef4ff4" /><Relationship Type="http://schemas.openxmlformats.org/officeDocument/2006/relationships/slide" Target="/ppt/slides/slide21.xml" Id="R7265a79f0fb04425" /><Relationship Type="http://schemas.openxmlformats.org/officeDocument/2006/relationships/slide" Target="/ppt/slides/slide22.xml" Id="R432fb8dbbbfe4a23" /><Relationship Type="http://schemas.openxmlformats.org/officeDocument/2006/relationships/slide" Target="/ppt/slides/slide23.xml" Id="R4f52ff796c744455" /><Relationship Type="http://schemas.openxmlformats.org/officeDocument/2006/relationships/slide" Target="/ppt/slides/slide24.xml" Id="Rf674047186664998" /><Relationship Type="http://schemas.openxmlformats.org/officeDocument/2006/relationships/slide" Target="/ppt/slides/slide25.xml" Id="Ra07c9319499a43ee" /><Relationship Type="http://schemas.openxmlformats.org/officeDocument/2006/relationships/slide" Target="/ppt/slides/slide26.xml" Id="Rccfe47f0c7814422" /><Relationship Type="http://schemas.openxmlformats.org/officeDocument/2006/relationships/slide" Target="/ppt/slides/slide27.xml" Id="Rde20c13397514615" /><Relationship Type="http://schemas.openxmlformats.org/officeDocument/2006/relationships/slide" Target="/ppt/slides/slide28.xml" Id="Red3253c1641148b8" /><Relationship Type="http://schemas.openxmlformats.org/officeDocument/2006/relationships/slide" Target="/ppt/slides/slide29.xml" Id="Rb8acfe4fc81e4378" /><Relationship Type="http://schemas.openxmlformats.org/officeDocument/2006/relationships/slide" Target="/ppt/slides/slide30.xml" Id="Rc8a9f355b92d4780" /><Relationship Type="http://schemas.openxmlformats.org/officeDocument/2006/relationships/slide" Target="/ppt/slides/slide31.xml" Id="Rf2f4881ad55e403c" /><Relationship Type="http://schemas.openxmlformats.org/officeDocument/2006/relationships/slide" Target="/ppt/slides/slide32.xml" Id="Rcd9476b185d74db9" /><Relationship Type="http://schemas.openxmlformats.org/officeDocument/2006/relationships/slide" Target="/ppt/slides/slide33.xml" Id="R7b9f4669518f449a" /><Relationship Type="http://schemas.openxmlformats.org/officeDocument/2006/relationships/slide" Target="/ppt/slides/slide34.xml" Id="R025f87068863468d" /><Relationship Type="http://schemas.openxmlformats.org/officeDocument/2006/relationships/slide" Target="/ppt/slides/slide35.xml" Id="R09e893c254134ff3" /><Relationship Type="http://schemas.openxmlformats.org/officeDocument/2006/relationships/slide" Target="/ppt/slides/slide36.xml" Id="R059ad13418174a8a" /><Relationship Type="http://schemas.openxmlformats.org/officeDocument/2006/relationships/slide" Target="/ppt/slides/slide37.xml" Id="R0752f3746c8c4997" /><Relationship Type="http://schemas.openxmlformats.org/officeDocument/2006/relationships/slide" Target="/ppt/slides/slide38.xml" Id="R0c85125e343140d5" /><Relationship Type="http://schemas.openxmlformats.org/officeDocument/2006/relationships/slide" Target="/ppt/slides/slide39.xml" Id="R2fd25c15b769401e" /><Relationship Type="http://schemas.openxmlformats.org/officeDocument/2006/relationships/slide" Target="/ppt/slides/slide40.xml" Id="R21260c1d15ab4f98" /><Relationship Type="http://schemas.openxmlformats.org/officeDocument/2006/relationships/slide" Target="/ppt/slides/slide41.xml" Id="R35e4ada5630e4fcf" /><Relationship Type="http://schemas.openxmlformats.org/officeDocument/2006/relationships/slide" Target="/ppt/slides/slide42.xml" Id="R44220f18c6494db5" /><Relationship Type="http://schemas.openxmlformats.org/officeDocument/2006/relationships/slide" Target="/ppt/slides/slide43.xml" Id="R6cbfae3343d945f9" /><Relationship Type="http://schemas.openxmlformats.org/officeDocument/2006/relationships/slide" Target="/ppt/slides/slide44.xml" Id="Redb265aad57549df" /><Relationship Type="http://schemas.openxmlformats.org/officeDocument/2006/relationships/slide" Target="/ppt/slides/slide45.xml" Id="R5d524eff928646bf" /><Relationship Type="http://schemas.openxmlformats.org/officeDocument/2006/relationships/slide" Target="/ppt/slides/slide46.xml" Id="R436564a622244f76" /><Relationship Type="http://schemas.openxmlformats.org/officeDocument/2006/relationships/slide" Target="/ppt/slides/slide47.xml" Id="R3d45ee99480b498a" /><Relationship Type="http://schemas.openxmlformats.org/officeDocument/2006/relationships/slide" Target="/ppt/slides/slide48.xml" Id="R0338188a99aa4f5e" /><Relationship Type="http://schemas.openxmlformats.org/officeDocument/2006/relationships/slide" Target="/ppt/slides/slide49.xml" Id="Rcef4a0ff08c44111" /><Relationship Type="http://schemas.openxmlformats.org/officeDocument/2006/relationships/slide" Target="/ppt/slides/slide50.xml" Id="Rb6bf1dd04b4a465a" /><Relationship Type="http://schemas.openxmlformats.org/officeDocument/2006/relationships/slide" Target="/ppt/slides/slide51.xml" Id="R2b203bb214274e22" /><Relationship Type="http://schemas.openxmlformats.org/officeDocument/2006/relationships/slide" Target="/ppt/slides/slide52.xml" Id="R7a3c50ee8b334df9" /><Relationship Type="http://schemas.openxmlformats.org/officeDocument/2006/relationships/slide" Target="/ppt/slides/slide53.xml" Id="R2a697bae53644be5" /><Relationship Type="http://schemas.openxmlformats.org/officeDocument/2006/relationships/slide" Target="/ppt/slides/slide54.xml" Id="Rd6dc0ab6c2be4d26" /><Relationship Type="http://schemas.openxmlformats.org/officeDocument/2006/relationships/slide" Target="/ppt/slides/slide55.xml" Id="Rfe7133dc5e1f4263" /><Relationship Type="http://schemas.openxmlformats.org/officeDocument/2006/relationships/slide" Target="/ppt/slides/slide56.xml" Id="Ra4007dbf813240b9" /><Relationship Type="http://schemas.openxmlformats.org/officeDocument/2006/relationships/slide" Target="/ppt/slides/slide57.xml" Id="R861f881d466c4b59" /><Relationship Type="http://schemas.openxmlformats.org/officeDocument/2006/relationships/slide" Target="/ppt/slides/slide58.xml" Id="Rb52b5715b7404883" /><Relationship Type="http://schemas.openxmlformats.org/officeDocument/2006/relationships/slide" Target="/ppt/slides/slide59.xml" Id="Rb34407721c1d4f2b" /><Relationship Type="http://schemas.openxmlformats.org/officeDocument/2006/relationships/slide" Target="/ppt/slides/slide60.xml" Id="R64e95ceb951a43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6.xml" Id="R2fa16736798a4e2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6.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9a26d76e3f443d" /><Relationship Type="http://schemas.openxmlformats.org/officeDocument/2006/relationships/notesMaster" Target="/ppt/notesMasters/notesMaster1.xml" Id="Rb41c7ee8d1ae4dc6" /></Relationships>
</file>

<file path=ppt/notesSlides/_rels/notesSlide2.xml.rels>&#65279;<?xml version="1.0" encoding="utf-8"?><Relationships xmlns="http://schemas.openxmlformats.org/package/2006/relationships"><Relationship Type="http://schemas.openxmlformats.org/officeDocument/2006/relationships/slide" Target="/ppt/slides/slide2.xml" Id="Raf5ac82f25184742" /><Relationship Type="http://schemas.openxmlformats.org/officeDocument/2006/relationships/notesMaster" Target="/ppt/notesMasters/notesMaster1.xml" Id="R1f6ab77e53144b86" /></Relationships>
</file>

<file path=ppt/notesSlides/_rels/notesSlide3.xml.rels>&#65279;<?xml version="1.0" encoding="utf-8"?><Relationships xmlns="http://schemas.openxmlformats.org/package/2006/relationships"><Relationship Type="http://schemas.openxmlformats.org/officeDocument/2006/relationships/slide" Target="/ppt/slides/slide3.xml" Id="R363e178a1eb64c3b" /><Relationship Type="http://schemas.openxmlformats.org/officeDocument/2006/relationships/notesMaster" Target="/ppt/notesMasters/notesMaster1.xml" Id="R37f67b103bf34c4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3761217ffc44280" /><Relationship Type="http://schemas.openxmlformats.org/officeDocument/2006/relationships/notesMaster" Target="/ppt/notesMasters/notesMaster1.xml" Id="R5ef97885b3b542eb"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ab207382f74833" /><Relationship Type="http://schemas.openxmlformats.org/officeDocument/2006/relationships/notesMaster" Target="/ppt/notesMasters/notesMaster1.xml" Id="R37d255cdc39e48bf" /></Relationships>
</file>

<file path=ppt/notesSlides/_rels/notesSlide6.xml.rels>&#65279;<?xml version="1.0" encoding="utf-8"?><Relationships xmlns="http://schemas.openxmlformats.org/package/2006/relationships"><Relationship Type="http://schemas.openxmlformats.org/officeDocument/2006/relationships/slide" Target="/ppt/slides/slide6.xml" Id="R7a105f7574d942d9" /><Relationship Type="http://schemas.openxmlformats.org/officeDocument/2006/relationships/notesMaster" Target="/ppt/notesMasters/notesMaster1.xml" Id="R9d747b7eb83c4ce1" /></Relationships>
</file>

<file path=ppt/notesSlides/_rels/notesSlide7.xml.rels>&#65279;<?xml version="1.0" encoding="utf-8"?><Relationships xmlns="http://schemas.openxmlformats.org/package/2006/relationships"><Relationship Type="http://schemas.openxmlformats.org/officeDocument/2006/relationships/slide" Target="/ppt/slides/slide7.xml" Id="Rd141ca7b6d6a408f" /><Relationship Type="http://schemas.openxmlformats.org/officeDocument/2006/relationships/notesMaster" Target="/ppt/notesMasters/notesMaster1.xml" Id="R60590d0f73bb414c"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1ef25aad3541d6" /><Relationship Type="http://schemas.openxmlformats.org/officeDocument/2006/relationships/notesMaster" Target="/ppt/notesMasters/notesMaster1.xml" Id="R949679112d7642a9" /></Relationships>
</file>

<file path=ppt/notesSlides/_rels/notesSlide9.xml.rels>&#65279;<?xml version="1.0" encoding="utf-8"?><Relationships xmlns="http://schemas.openxmlformats.org/package/2006/relationships"><Relationship Type="http://schemas.openxmlformats.org/officeDocument/2006/relationships/slide" Target="/ppt/slides/slide9.xml" Id="Rc4a917d8dea940e8" /><Relationship Type="http://schemas.openxmlformats.org/officeDocument/2006/relationships/notesMaster" Target="/ppt/notesMasters/notesMaster1.xml" Id="R25228ab6fd7a449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d220b3b27824f6f" /><Relationship Type="http://schemas.openxmlformats.org/officeDocument/2006/relationships/notesMaster" Target="/ppt/notesMasters/notesMaster1.xml" Id="R543bf1f5d60c45d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17e5a0667044d18" /><Relationship Type="http://schemas.openxmlformats.org/officeDocument/2006/relationships/notesMaster" Target="/ppt/notesMasters/notesMaster1.xml" Id="Rf34ecdf76520499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56f660f76df4f2f" /><Relationship Type="http://schemas.openxmlformats.org/officeDocument/2006/relationships/notesMaster" Target="/ppt/notesMasters/notesMaster1.xml" Id="Rc4ba16a4bcdb420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4f4cab005c1474c" /><Relationship Type="http://schemas.openxmlformats.org/officeDocument/2006/relationships/notesMaster" Target="/ppt/notesMasters/notesMaster1.xml" Id="R21cc841cdb9a442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63f320bd49d4d59" /><Relationship Type="http://schemas.openxmlformats.org/officeDocument/2006/relationships/notesMaster" Target="/ppt/notesMasters/notesMaster1.xml" Id="Rfd14b2ea7931419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270e8942b624b1b" /><Relationship Type="http://schemas.openxmlformats.org/officeDocument/2006/relationships/notesMaster" Target="/ppt/notesMasters/notesMaster1.xml" Id="R3ca1df01c2dc463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8706101b76a4694" /><Relationship Type="http://schemas.openxmlformats.org/officeDocument/2006/relationships/notesMaster" Target="/ppt/notesMasters/notesMaster1.xml" Id="Rb741f70e852b491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5c6bcabb4ca4497" /><Relationship Type="http://schemas.openxmlformats.org/officeDocument/2006/relationships/notesMaster" Target="/ppt/notesMasters/notesMaster1.xml" Id="R0bbfaabc94e2462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c5bbe14a22b4c32" /><Relationship Type="http://schemas.openxmlformats.org/officeDocument/2006/relationships/notesMaster" Target="/ppt/notesMasters/notesMaster1.xml" Id="R772573a524ce448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a375e4b37804954" /><Relationship Type="http://schemas.openxmlformats.org/officeDocument/2006/relationships/notesMaster" Target="/ppt/notesMasters/notesMaster1.xml" Id="R7bd9a7a420b24b3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7d53cd82b664a76" /><Relationship Type="http://schemas.openxmlformats.org/officeDocument/2006/relationships/notesMaster" Target="/ppt/notesMasters/notesMaster1.xml" Id="Rb283f15bfc314ef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330b8c6d27e4d8a" /><Relationship Type="http://schemas.openxmlformats.org/officeDocument/2006/relationships/notesMaster" Target="/ppt/notesMasters/notesMaster1.xml" Id="Rf616c380b59a47d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0e3c244e4004651" /><Relationship Type="http://schemas.openxmlformats.org/officeDocument/2006/relationships/notesMaster" Target="/ppt/notesMasters/notesMaster1.xml" Id="Rece6414d997e4e9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daac0d221044b3d" /><Relationship Type="http://schemas.openxmlformats.org/officeDocument/2006/relationships/notesMaster" Target="/ppt/notesMasters/notesMaster1.xml" Id="R2ef25b1e3be84af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e0384fbfcd14ebe" /><Relationship Type="http://schemas.openxmlformats.org/officeDocument/2006/relationships/notesMaster" Target="/ppt/notesMasters/notesMaster1.xml" Id="R8bcdaf6e6089441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cd9e05b90f54ace" /><Relationship Type="http://schemas.openxmlformats.org/officeDocument/2006/relationships/notesMaster" Target="/ppt/notesMasters/notesMaster1.xml" Id="Rac9db9684f97462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88437ab72714bed" /><Relationship Type="http://schemas.openxmlformats.org/officeDocument/2006/relationships/notesMaster" Target="/ppt/notesMasters/notesMaster1.xml" Id="R66f7a957d27c4a9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203296af3ad471d" /><Relationship Type="http://schemas.openxmlformats.org/officeDocument/2006/relationships/notesMaster" Target="/ppt/notesMasters/notesMaster1.xml" Id="R6a99a322a0164c6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9d1b709386a43a2" /><Relationship Type="http://schemas.openxmlformats.org/officeDocument/2006/relationships/notesMaster" Target="/ppt/notesMasters/notesMaster1.xml" Id="R8e7d397978b348b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06e1900dda347e3" /><Relationship Type="http://schemas.openxmlformats.org/officeDocument/2006/relationships/notesMaster" Target="/ppt/notesMasters/notesMaster1.xml" Id="Rbfcd220414b6471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afe9e64292c4910" /><Relationship Type="http://schemas.openxmlformats.org/officeDocument/2006/relationships/notesMaster" Target="/ppt/notesMasters/notesMaster1.xml" Id="R1a7f14347999436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c36a01d24494a12" /><Relationship Type="http://schemas.openxmlformats.org/officeDocument/2006/relationships/notesMaster" Target="/ppt/notesMasters/notesMaster1.xml" Id="R70793de3e1134a0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b7b68e1aa26474a" /><Relationship Type="http://schemas.openxmlformats.org/officeDocument/2006/relationships/notesMaster" Target="/ppt/notesMasters/notesMaster1.xml" Id="R22a15c52c190443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60faae7866e4ec8" /><Relationship Type="http://schemas.openxmlformats.org/officeDocument/2006/relationships/notesMaster" Target="/ppt/notesMasters/notesMaster1.xml" Id="Rda2db4c8fd7f444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e9c7f65011b4b64" /><Relationship Type="http://schemas.openxmlformats.org/officeDocument/2006/relationships/notesMaster" Target="/ppt/notesMasters/notesMaster1.xml" Id="Rfcea05bbc3d14e2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036220ec7ca4bdc" /><Relationship Type="http://schemas.openxmlformats.org/officeDocument/2006/relationships/notesMaster" Target="/ppt/notesMasters/notesMaster1.xml" Id="Rc6b701a424ad4dc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cf06c14f5dc4d18" /><Relationship Type="http://schemas.openxmlformats.org/officeDocument/2006/relationships/notesMaster" Target="/ppt/notesMasters/notesMaster1.xml" Id="R75dac1f1288749a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ecc38bf92d04e0c" /><Relationship Type="http://schemas.openxmlformats.org/officeDocument/2006/relationships/notesMaster" Target="/ppt/notesMasters/notesMaster1.xml" Id="R6b57f85c67b346b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67983a7ac2d4cbc" /><Relationship Type="http://schemas.openxmlformats.org/officeDocument/2006/relationships/notesMaster" Target="/ppt/notesMasters/notesMaster1.xml" Id="R42cbe7de25af4f1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41814af97474132" /><Relationship Type="http://schemas.openxmlformats.org/officeDocument/2006/relationships/notesMaster" Target="/ppt/notesMasters/notesMaster1.xml" Id="R2822e9034c4e4b6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d6f6ef2b0114123" /><Relationship Type="http://schemas.openxmlformats.org/officeDocument/2006/relationships/notesMaster" Target="/ppt/notesMasters/notesMaster1.xml" Id="R4ffb4a798d58413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3465fa37f2944a4" /><Relationship Type="http://schemas.openxmlformats.org/officeDocument/2006/relationships/notesMaster" Target="/ppt/notesMasters/notesMaster1.xml" Id="R3bff253e483e415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7c5261cd2f2468a" /><Relationship Type="http://schemas.openxmlformats.org/officeDocument/2006/relationships/notesMaster" Target="/ppt/notesMasters/notesMaster1.xml" Id="R48ba950096b2436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a22ff2c8a56440d" /><Relationship Type="http://schemas.openxmlformats.org/officeDocument/2006/relationships/notesMaster" Target="/ppt/notesMasters/notesMaster1.xml" Id="R1fb66791cf0c4ade"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46f7e24403d4940" /><Relationship Type="http://schemas.openxmlformats.org/officeDocument/2006/relationships/notesMaster" Target="/ppt/notesMasters/notesMaster1.xml" Id="Rc80ebb7e06dd424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6e7695511cee4d67" /><Relationship Type="http://schemas.openxmlformats.org/officeDocument/2006/relationships/notesMaster" Target="/ppt/notesMasters/notesMaster1.xml" Id="R4a005a803fe248a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19c29aaf10c49e9" /><Relationship Type="http://schemas.openxmlformats.org/officeDocument/2006/relationships/notesMaster" Target="/ppt/notesMasters/notesMaster1.xml" Id="R6c622114099c4d1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68de3db602b4e4f" /><Relationship Type="http://schemas.openxmlformats.org/officeDocument/2006/relationships/notesMaster" Target="/ppt/notesMasters/notesMaster1.xml" Id="Ra02d03bd678e49c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5b1360839ef4536" /><Relationship Type="http://schemas.openxmlformats.org/officeDocument/2006/relationships/notesMaster" Target="/ppt/notesMasters/notesMaster1.xml" Id="R927af4485b7f4c5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fd364d7e7d2449d" /><Relationship Type="http://schemas.openxmlformats.org/officeDocument/2006/relationships/notesMaster" Target="/ppt/notesMasters/notesMaster1.xml" Id="R2246bfc710404b5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39e89ab9a4bd471d" /><Relationship Type="http://schemas.openxmlformats.org/officeDocument/2006/relationships/notesMaster" Target="/ppt/notesMasters/notesMaster1.xml" Id="R1b56fb7cd48248d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2676c83fc5f4434" /><Relationship Type="http://schemas.openxmlformats.org/officeDocument/2006/relationships/notesMaster" Target="/ppt/notesMasters/notesMaster1.xml" Id="Rec4e4c4274d44d7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babfbcad1f644031" /><Relationship Type="http://schemas.openxmlformats.org/officeDocument/2006/relationships/notesMaster" Target="/ppt/notesMasters/notesMaster1.xml" Id="Rded8baa846db4fc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34e11ba3e2ce4e39" /><Relationship Type="http://schemas.openxmlformats.org/officeDocument/2006/relationships/notesMaster" Target="/ppt/notesMasters/notesMaster1.xml" Id="Rb6c37083628a48d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fe62ce46c7a46b8" /><Relationship Type="http://schemas.openxmlformats.org/officeDocument/2006/relationships/notesMaster" Target="/ppt/notesMasters/notesMaster1.xml" Id="R47fab75e4219476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594fe70a0e484547" /><Relationship Type="http://schemas.openxmlformats.org/officeDocument/2006/relationships/notesMaster" Target="/ppt/notesMasters/notesMaster1.xml" Id="Redc42cd68e8b41c1"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1c24134e90d43e7" /><Relationship Type="http://schemas.openxmlformats.org/officeDocument/2006/relationships/notesMaster" Target="/ppt/notesMasters/notesMaster1.xml" Id="R4bc48ae5b3f8424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2faba1006b9404f" /><Relationship Type="http://schemas.openxmlformats.org/officeDocument/2006/relationships/notesMaster" Target="/ppt/notesMasters/notesMaster1.xml" Id="R9687524ac15d453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681e17c96124cef" /><Relationship Type="http://schemas.openxmlformats.org/officeDocument/2006/relationships/notesMaster" Target="/ppt/notesMasters/notesMaster1.xml" Id="R5c915029467240c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3315a91fe1f48be" /><Relationship Type="http://schemas.openxmlformats.org/officeDocument/2006/relationships/notesMaster" Target="/ppt/notesMasters/notesMaster1.xml" Id="Rd06a61250524481a"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d44f4dda2d7e430e" /><Relationship Type="http://schemas.openxmlformats.org/officeDocument/2006/relationships/notesMaster" Target="/ppt/notesMasters/notesMaster1.xml" Id="R39f0a2101302474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오늘은 온톨로지와 GraphRAG를 하나의 물류 예제로 연결해서 보겠습니다. ‘날씨 정보가 끊기면 어떤 시스템을 먼저 점검해야 할까?’가 출발 질문입니다.</a:t>
            </a:r>
          </a:p>
          <a:p xmlns:a="http://schemas.openxmlformats.org/drawingml/2006/main">
            <a:r>
              <a:t/>
            </a:r>
          </a:p>
          <a:p xmlns:a="http://schemas.openxmlformats.org/drawingml/2006/main">
            <a:r>
              <a:t>먼저 회사와 시스템, 모델이 어떤 의미로 연결되는지 정합니다. 그다음 규칙과 입력 검사를 실행해 보고, 마지막에는 문서에서 답변 근거를 찾는 여러 방법을 비교할 거예요. 각 방법의 개념과 질문 예시를 본 뒤 바로 처리 그림으로 연결하겠습니다.</a:t>
            </a:r>
          </a:p>
          <a:p xmlns:a="http://schemas.openxmlformats.org/drawingml/2006/main">
            <a:r>
              <a:t/>
            </a:r>
          </a:p>
          <a:p xmlns:a="http://schemas.openxmlformats.org/drawingml/2006/main">
            <a:r>
              <a:t>슬라이드의 이름을 모두 외우실 필요는 없습니다. 어떤 연결을 정의했고, 그 연결에서 어떤 근거를 찾았는지 따라오시면 됩니다. 우선 오늘의 진행 순서부터 짚고 시작하겠습니다.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오늘은 하나의 업무 질문을 끝까지 따라가 보겠습니다. ‘날씨 정보가 끊기면 어떤 시스템부터 확인해야 할까?’라는 질문입니다. 이 질문에 답하려면 우선 어떤 대상이 연결돼 있는지부터 정리해야겠죠.</a:t>
            </a:r>
          </a:p>
          <a:p xmlns:a="http://schemas.openxmlformats.org/drawingml/2006/main">
            <a:r>
              <a:t/>
            </a:r>
          </a:p>
          <a:p xmlns:a="http://schemas.openxmlformats.org/drawingml/2006/main">
            <a:r>
              <a:t>화면 첫 줄이 온톨로지의 역할입니다. 대상과 관계의 뜻을 정의합니다. 둘째 줄에서는 그 정의를 직접 실행해 볼 거예요. 추론을 끄거나 관계를 지웠을 때 결과가 어떻게 달라지는지 확인하겠습니다. 마지막에는 같은 문서에서 답의 근거를 찾는 여러 GraphRAG 방법을 비교합니다.</a:t>
            </a:r>
          </a:p>
          <a:p xmlns:a="http://schemas.openxmlformats.org/drawingml/2006/main">
            <a:r>
              <a:t/>
            </a:r>
          </a:p>
          <a:p xmlns:a="http://schemas.openxmlformats.org/drawingml/2006/main">
            <a:r>
              <a:t>순서는 업무 예제를 이해하고, 관계를 정의한 뒤, 그 관계를 검색에 활용하는 것입니다. 먼저 이 물류사에 어떤 연결이 있는지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 말씀드린 물류 상황입니다. 화면 첫 줄을 보시면 배차시스템이 도착예측모델을 쓰고, 모델이 날씨API를 씁니다. 배차시스템은 예측한 도착 시간을 보고 차량을 배정한다고 가정하겠습니다.</a:t>
            </a:r>
          </a:p>
          <a:p xmlns:a="http://schemas.openxmlformats.org/drawingml/2006/main">
            <a:r>
              <a:t/>
            </a:r>
          </a:p>
          <a:p xmlns:a="http://schemas.openxmlformats.org/drawingml/2006/main">
            <a:r>
              <a:t>이때 날씨API가 멈추면 모델부터 확인하고, 그 모델의 결과를 쓰는 배차시스템도 점검하고 싶겠죠. 둘째 줄은 우리가 찾을 답입니다. 관련 시스템 이름만이 아니라 왜 연결돼 있는지 설명하는 문서도 필요합니다. 의존 관계를 찾았다고 장애가 반드시 전파된다고 단정하지는 않습니다. 우선 점검할 대상을 찾는 예제예요.</a:t>
            </a:r>
          </a:p>
          <a:p xmlns:a="http://schemas.openxmlformats.org/drawingml/2006/main">
            <a:r>
              <a:t/>
            </a:r>
          </a:p>
          <a:p xmlns:a="http://schemas.openxmlformats.org/drawingml/2006/main">
            <a:r>
              <a:t>셋째 줄에는 입력 조건이 있습니다. 회사가 쓰는 시스템을 그냥 이름 문자열로 적으면 실제 대상과 연결하기 어렵습니다. 이처럼 같은 의미로 연결하고 검사하려면 무엇을 정의해야 할까요? 다음 표에서 DB 스키마와 온톨로지의 역할을 비교해 보겠습니다.</a:t>
            </a:r>
          </a:p>
          <a:p xmlns:a="http://schemas.openxmlformats.org/drawingml/2006/main">
            <a:r>
              <a:t/>
            </a:r>
          </a:p>
          <a:p xmlns:a="http://schemas.openxmlformats.org/drawingml/2006/main">
            <a:r>
              <a:t>출처</a:t>
            </a:r>
          </a:p>
          <a:p xmlns:a="http://schemas.openxmlformats.org/drawingml/2006/main">
            <a:r>
              <a:t>https://wikidocs.net/335877</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물류사의 연결을 정리하는 방법을 표로 비교해 보겠습니다. DB 스키마는 회사와 시스템을 어떤 테이블과 컬럼에 저장할지 정합니다. DB도 키와 JOIN으로 관계를 표현하고 조회할 수 있어요.</a:t>
            </a:r>
          </a:p>
          <a:p xmlns:a="http://schemas.openxmlformats.org/drawingml/2006/main">
            <a:r>
              <a:t/>
            </a:r>
          </a:p>
          <a:p xmlns:a="http://schemas.openxmlformats.org/drawingml/2006/main">
            <a:r>
              <a:t>분류체계는 종류를 정리합니다. 예측모델이 소프트웨어의 한 종류라는 식이죠. 온톨로지는 이런 분류에 더해 사용이나 의존 관계의 뜻, 적용할 규칙을 명시합니다. 지식 그래프는 그 정의에 맞춰 실제 배차시스템과 모델을 연결한 사실들입니다.</a:t>
            </a:r>
          </a:p>
          <a:p xmlns:a="http://schemas.openxmlformats.org/drawingml/2006/main">
            <a:r>
              <a:t/>
            </a:r>
          </a:p>
          <a:p xmlns:a="http://schemas.openxmlformats.org/drawingml/2006/main">
            <a:r>
              <a:t>이들은 함께 사용할 수 있습니다. 여기서는 관계의 의미와 규칙을 명확히 하기 위해 온톨로지를 보겠습니다. 그러려면 종류와 실제 대상을 먼저 구분해야 하니까, 다음 표에서 네 가지 재료를 짚어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 온톨로지를 대상과 관계의 정의라고 설명했죠. 표의 첫 줄인 클래스는 대상의 종류입니다. 예측모델이라는 종류가 여기에 해당합니다. 둘째 줄인 개체는 우리가 실제로 사용하는 도착예측모델 하나예요.</a:t>
            </a:r>
          </a:p>
          <a:p xmlns:a="http://schemas.openxmlformats.org/drawingml/2006/main">
            <a:r>
              <a:t/>
            </a:r>
          </a:p>
          <a:p xmlns:a="http://schemas.openxmlformats.org/drawingml/2006/main">
            <a:r>
              <a:t>셋째 줄은 두 개체를 잇는 관계입니다. 배차시스템이 도착예측모델에 의존한다는 연결을 dependsOn이라고 이름 붙일 수 있습니다. 마지막 값은 문서 설명 같은 문자열이나 처리 시간 같은 숫자예요. 다른 개체와 연결하는 것과 글자나 숫자를 붙이는 것을 구분합니다.</a:t>
            </a:r>
          </a:p>
          <a:p xmlns:a="http://schemas.openxmlformats.org/drawingml/2006/main">
            <a:r>
              <a:t/>
            </a:r>
          </a:p>
          <a:p xmlns:a="http://schemas.openxmlformats.org/drawingml/2006/main">
            <a:r>
              <a:t>이제 ‘무엇을 적을지’는 정리됐습니다. 이어서 나오는 RDF, OWL, SHACL, SPARQL은 이 재료를 각각 어떻게 적고 다룰지에 대한 이름입니다. 약어 대신 맡은 역할로 연결해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약어가 한꺼번에 나오니까 복잡해 보이는데, 역할로 나누면 단순합니다. 첫 줄의 RDF는 사실을 ‘누가, 어떤 관계로, 무엇과 연결된다’는 세 요소로 표현합니다. 이걸 트리플이라고 부릅니다. Turtle은 그 내용을 사람이 읽기 좋게 적는 문법이고요.</a:t>
            </a:r>
          </a:p>
          <a:p xmlns:a="http://schemas.openxmlformats.org/drawingml/2006/main">
            <a:r>
              <a:t/>
            </a:r>
          </a:p>
          <a:p xmlns:a="http://schemas.openxmlformats.org/drawingml/2006/main">
            <a:r>
              <a:t>RDFS와 OWL은 의미와 규칙을 다루는 쪽입니다. 예측모델이 소프트웨어의 한 종류라는 선언이나, 사용한다의 반대 방향 관계를 정하는 데 씁니다. 이번 실습은 그중 OWL RL 방식의 규칙 엔진을 실행합니다.</a:t>
            </a:r>
          </a:p>
          <a:p xmlns:a="http://schemas.openxmlformats.org/drawingml/2006/main">
            <a:r>
              <a:t/>
            </a:r>
          </a:p>
          <a:p xmlns:a="http://schemas.openxmlformats.org/drawingml/2006/main">
            <a:r>
              <a:t>SHACL은 입력 검사를 담당합니다. 회사에 사용 시스템이 빠졌는지 같은 조건을 확인해요. 마지막 SPARQL은 그래프에 질문하는 질의 언어입니다. 앞에서 정리한 종류와 관계를 이 표준들로 적고 다루는 겁니다. 다음에는 규칙에 해당하는 부분과 회사의 실제 데이터에 해당하는 부분을 나란히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표에서 표준의 역할을 봤으니 실제로 무엇을 넣는지 보겠습니다. 왼쪽은 모든 데이터에 적용할 정의입니다. 예측모델은 소프트웨어의 한 종류이고, 사용한다와 사용된다는 반대 방향이며, 이번 의존 관계는 여러 단계를 이어서 해석하도록 정했습니다.</a:t>
            </a:r>
          </a:p>
          <a:p xmlns:a="http://schemas.openxmlformats.org/drawingml/2006/main">
            <a:r>
              <a:t/>
            </a:r>
          </a:p>
          <a:p xmlns:a="http://schemas.openxmlformats.org/drawingml/2006/main">
            <a:r>
              <a:t>오른쪽은 물류사의 실제 데이터입니다. 물류사가 배차시스템을 사용하고, 배차시스템이 도착예측모델에 의존하고, 모델이 날씨API에 의존하죠. 왼쪽의 정의와 오른쪽의 사실을 합쳐 규칙 엔진에 전달합니다.</a:t>
            </a:r>
          </a:p>
          <a:p xmlns:a="http://schemas.openxmlformats.org/drawingml/2006/main">
            <a:r>
              <a:t/>
            </a:r>
          </a:p>
          <a:p xmlns:a="http://schemas.openxmlformats.org/drawingml/2006/main">
            <a:r>
              <a:t>기술 용어 TBox는 유형과 규칙에 관한 지식, ABox는 실제 개체에 관한 사실을 구분할 때 씁니다. 반드시 파일 두 개여야 한다는 뜻은 아닙니다. 다음에는 이 둘을 함께 읽었을 때 어떤 사실이 추가되는지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줄부터 보겠습니다. 입력에는 도착예측모델이 예측모델이라는 사실만 있습니다. 그런데 앞에서 예측모델은 소프트웨어의 한 종류라고 정했죠. 두 문장을 함께 적용하면 도착예측모델도 소프트웨어라고 알 수 있습니다.</a:t>
            </a:r>
          </a:p>
          <a:p xmlns:a="http://schemas.openxmlformats.org/drawingml/2006/main">
            <a:r>
              <a:t/>
            </a:r>
          </a:p>
          <a:p xmlns:a="http://schemas.openxmlformats.org/drawingml/2006/main">
            <a:r>
              <a:t>둘째 줄은 방향을 바꾸는 예입니다. ‘물류사가 배차시스템을 사용한다’가 있으면, 반대쪽에서는 ‘배차시스템이 물류사에 의해 사용된다’라고 조회할 수 있습니다. uses를 썼는데 usedBy로도 찾을 수 있게 되는 거예요.</a:t>
            </a:r>
          </a:p>
          <a:p xmlns:a="http://schemas.openxmlformats.org/drawingml/2006/main">
            <a:r>
              <a:t/>
            </a:r>
          </a:p>
          <a:p xmlns:a="http://schemas.openxmlformats.org/drawingml/2006/main">
            <a:r>
              <a:t>이때 원본 문장을 지우거나 LLM이 추측을 보태는 것이 아닙니다. 정해 둔 규칙에서 따라오는 문장을 추가합니다. 실습에서는 추가된 문장과 그 전제가 된 문장을 함께 보여 드립니다. 다음에는 관계가 두 단계로 이어질 때를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장에서는 종류를 넓히거나 관계 방향을 바꿨습니다. 이번에는 화면 위에서 아래로 두 연결을 이어 읽어 보겠습니다. 배차시스템은 모델에 의존하고, 모델은 날씨API에 의존합니다.</a:t>
            </a:r>
          </a:p>
          <a:p xmlns:a="http://schemas.openxmlformats.org/drawingml/2006/main">
            <a:r>
              <a:t/>
            </a:r>
          </a:p>
          <a:p xmlns:a="http://schemas.openxmlformats.org/drawingml/2006/main">
            <a:r>
              <a:t>가운데 항목처럼 dependsOn을 전이 관계로 정했기 때문에 배차시스템도 날씨API에 간접적으로 의존한다는 사실이 따라옵니다. 그래서 마지막 항목의 조회 결과는 추론 전에는 직접 연결된 모델 하나, 추론 후에는 배차시스템까지 두 개가 됩니다.</a:t>
            </a:r>
          </a:p>
          <a:p xmlns:a="http://schemas.openxmlformats.org/drawingml/2006/main">
            <a:r>
              <a:t/>
            </a:r>
          </a:p>
          <a:p xmlns:a="http://schemas.openxmlformats.org/drawingml/2006/main">
            <a:r>
              <a:t>다만 모든 관계가 전이적인 것은 아닙니다. 친구의 친구가 반드시 내 친구는 아니죠. 업무 의미에 맞게 규칙을 정해야 합니다. 관계를 보고 새로 알아내는 정보에는 연결뿐 아니라 대상의 종류도 있습니다. 그 예가 다음 장의 domain과 range입니다.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이번에도 관계를 보고 새 정보를 얻지만, 추가되는 것은 대상의 종류입니다. 화면 첫 줄의 domain은 uses 관계의 주어를 회사로 해석한다는 뜻입니다. 둘째 줄의 range는 목적어를 소프트웨어로 해석한다는 뜻이고요.</a:t>
            </a:r>
          </a:p>
          <a:p xmlns:a="http://schemas.openxmlformats.org/drawingml/2006/main">
            <a:r>
              <a:t/>
            </a:r>
          </a:p>
          <a:p xmlns:a="http://schemas.openxmlformats.org/drawingml/2006/main">
            <a:r>
              <a:t>예를 들어 아직 타입을 적지 않은 미등록조직이 미등록도구를 uses로 연결했다고 해 보겠습니다. 이 선언을 적용하면 조직에는 Company, 도구에는 SoftwareSystem 타입이 붙습니다. 실습 6에서 직접 볼 결과입니다.</a:t>
            </a:r>
          </a:p>
          <a:p xmlns:a="http://schemas.openxmlformats.org/drawingml/2006/main">
            <a:r>
              <a:t/>
            </a:r>
          </a:p>
          <a:p xmlns:a="http://schemas.openxmlformats.org/drawingml/2006/main">
            <a:r>
              <a:t>마지막 줄이 주의점입니다. 잘못된 입력을 거절하는 검사가 아니라 종류를 알아내는 규칙이므로, 틀린 관계에 틀린 타입이 붙을 수도 있습니다. 그럼 반드시 있어야 할 관계가 빠졌는지는 어떻게 검사할까요? 여기서 SHACL이 필요해집니다.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회사에 uses 관계가 없다고 해 보겠습니다. OWL 입장에서는 아직 모르는 정보일 수 있습니다. 관계를 적지 않았다는 이유만으로 ‘이 회사는 아무 시스템도 안 쓴다’고 결론 내리지 않아요. 이 관점을 열린 세계 가정이라고 부릅니다.</a:t>
            </a:r>
          </a:p>
          <a:p xmlns:a="http://schemas.openxmlformats.org/drawingml/2006/main">
            <a:r>
              <a:t/>
            </a:r>
          </a:p>
          <a:p xmlns:a="http://schemas.openxmlformats.org/drawingml/2006/main">
            <a:r>
              <a:t>반면 우리 입력 규칙은 ‘회사에는 사용 시스템을 하나 이상 기록해야 한다’고 정할 수 있습니다. 이 조건을 SHACL로 검사하면 현재 데이터에 값이 없으니 위반이라고 알려줍니다. 업무에 필요한 기록이 빠졌다고 잡아내는 거죠.</a:t>
            </a:r>
          </a:p>
          <a:p xmlns:a="http://schemas.openxmlformats.org/drawingml/2006/main">
            <a:r>
              <a:t/>
            </a:r>
          </a:p>
          <a:p xmlns:a="http://schemas.openxmlformats.org/drawingml/2006/main">
            <a:r>
              <a:t>마지막 줄도 중요합니다. 추론으로 새 타입이 붙으면 검사 대상이 늘거나 타입 검사 결과가 달라질 수 있습니다. 그래서 실습에서는 추론 전과 후의 검증 결과를 같이 보여 줍니다. 그럼 오류 보고서에서 무엇을 읽어야 하는지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‘필수 사용 관계가 없으면 검사에서 잡는다’고 했죠. 이번 표는 그때 받는 보고서를 읽는 방법입니다. 회사 개체는 그대로 두고 uses 관계만 지웠다고 가정하겠습니다.</a:t>
            </a:r>
          </a:p>
          <a:p xmlns:a="http://schemas.openxmlformats.org/drawingml/2006/main">
            <a:r>
              <a:t/>
            </a:r>
          </a:p>
          <a:p xmlns:a="http://schemas.openxmlformats.org/drawingml/2006/main">
            <a:r>
              <a:t>첫 번째 focusNode는 문제가 생긴 대상이니 물류사입니다. 다음 resultPath는 검사한 관계로 uses가 나옵니다. 제약의 minCount는 최소 개수인데, 하나 이상이어야 할 값이 없어서 실패한 겁니다. 마지막 줄처럼 빠진 사용 관계를 복구하면 됩니다.</a:t>
            </a:r>
          </a:p>
          <a:p xmlns:a="http://schemas.openxmlformats.org/drawingml/2006/main">
            <a:r>
              <a:t/>
            </a:r>
          </a:p>
          <a:p xmlns:a="http://schemas.openxmlformats.org/drawingml/2006/main">
            <a:r>
              <a:t>다른 실험에서는 개체 대신 따옴표로 감싼 이름 문자열을 넣어 볼 수 있어요. 이름을 적는 것과 실제 시스템 개체를 연결하는 것은 달라서 값 종류나 클래스 관련 오류가 생깁니다. 이렇게 입력을 확인했다면 이제 처음의 질문, ‘날씨API와 연결된 시스템은 무엇인가’로 돌아가 조회해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 입력을 검사했으니 이제 처음의 질문으로 돌아가 보겠습니다. 왼쪽 SPARQL은 ‘날씨API에 의존하는 시스템은 무엇인가’를 묻습니다. 추론을 켜면 직접 의존하는 도착예측모델과 간접 의존하는 배차시스템이 나옵니다. 여기서는 그중 배차시스템 하나를 따라가 볼게요.</a:t>
            </a:r>
          </a:p>
          <a:p xmlns:a="http://schemas.openxmlformats.org/drawingml/2006/main">
            <a:r>
              <a:t/>
            </a:r>
          </a:p>
          <a:p xmlns:a="http://schemas.openxmlformats.org/drawingml/2006/main">
            <a:r>
              <a:t>오른쪽 첫 문장을 보시면 운영문서가 describes라는 관계로 배차시스템을 가리킵니다. ‘운영문서가 배차시스템을 설명한다’는 뜻이에요. 이 문장은 실습 화면의 ‘구체적인 사실 · FACTS’에 미리 넣어 둔 데이터입니다. 시스템에 문서를 붙이는 방향이 아니라 문서에서 설명 대상 시스템을 가리키는 방향이라는 점을 봐 주세요.</a:t>
            </a:r>
          </a:p>
          <a:p xmlns:a="http://schemas.openxmlformats.org/drawingml/2006/main">
            <a:r>
              <a:t/>
            </a:r>
          </a:p>
          <a:p xmlns:a="http://schemas.openxmlformats.org/drawingml/2006/main">
            <a:r>
              <a:t>그 아래 text는 같은 운영문서의 본문입니다. ‘배차시스템은 도착예측모델의 결과로 배차 순서를 정한다’고 적혀 있죠. 즉 describes는 이 문서가 누구를 설명하는지 연결하고, text는 문서가 실제로 무슨 내용을 말하는지 담습니다. 모델문서도 같은 방식으로 도착예측모델을 가리킵니다.</a:t>
            </a:r>
          </a:p>
          <a:p xmlns:a="http://schemas.openxmlformats.org/drawingml/2006/main">
            <a:r>
              <a:t/>
            </a:r>
          </a:p>
          <a:p xmlns:a="http://schemas.openxmlformats.org/drawingml/2006/main">
            <a:r>
              <a:t>이제 오른쪽 아래 두 단계를 읽어 보겠습니다. 배차시스템이 조회 결과에 나오면 프로그램은 그 시스템을 describes로 가리키는 운영문서를 찾습니다. 그다음 운영문서의 text 값을 읽어서 결과 화면의 ‘조회 개체에 연결된 원문’에 표시해요. 도착예측모델에 대해서도 같은 작업을 하니 모델문서의 본문이 함께 나옵니다.</a:t>
            </a:r>
          </a:p>
          <a:p xmlns:a="http://schemas.openxmlformats.org/drawingml/2006/main">
            <a:r>
              <a:t/>
            </a:r>
          </a:p>
          <a:p xmlns:a="http://schemas.openxmlformats.org/drawingml/2006/main">
            <a:r>
              <a:t>실제 구현에서는 왼쪽 SPARQL로 대상을 먼저 조회한 뒤 Python 코드가 문서 연결을 찾아 본문을 붙입니다. describes 관계를 추론이나 LLM이 자동으로 만든 것은 아닙니다. 이 문서 연결은 대상을 설명하는 근거를 찾기 위한 것이고, 개별 추론의 전제는 ‘새 사실과 적용 규칙’에서 따로 확인합니다. 다음 실습에서는 추론을 켜고 끄면서 조회 대상과 연결된 원문이 함께 어떻게 달라지는지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웹사이트의 Ontology workshop으로 가겠습니다. 첫 번째 예제를 고르고 실행한 다음 추론 체크를 끄고 다시 실행해 보세요. 소프트웨어 목록이 세 개에서 두 개로 줄어드는 것을 확인하시면 됩니다.</a:t>
            </a:r>
          </a:p>
          <a:p xmlns:a="http://schemas.openxmlformats.org/drawingml/2006/main">
            <a:r>
              <a:t/>
            </a:r>
          </a:p>
          <a:p xmlns:a="http://schemas.openxmlformats.org/drawingml/2006/main">
            <a:r>
              <a:t>둘째는 의존 경로 질문입니다. 직접 의존하는 모델 하나와 간접 의존까지 포함한 두 결과를 비교해 주세요. 셋째는 관계를 반대 방향으로 찾는 실험입니다. 원본에 usedBy를 쓰지 않았는데도 추론 후 물류사가 나오는지 보시면 됩니다.</a:t>
            </a:r>
          </a:p>
          <a:p xmlns:a="http://schemas.openxmlformats.org/drawingml/2006/main">
            <a:r>
              <a:t/>
            </a:r>
          </a:p>
          <a:p xmlns:a="http://schemas.openxmlformats.org/drawingml/2006/main">
            <a:r>
              <a:t>넷째와 다섯째는 일부러 입력을 망가뜨리는 실험입니다. 필수 관계를 지우거나 개체를 문자열로 바꿔 보고, 아래 보고서의 대상과 관계를 읽어 보세요. 마지막은 domain과 range가 타입을 붙이는 실험입니다. 각 예제는 복원 버튼으로 되돌릴 수 있고, 예상 결과와 실제 결과를 비교할 수 있습니다.</a:t>
            </a:r>
          </a:p>
          <a:p xmlns:a="http://schemas.openxmlformats.org/drawingml/2006/main">
            <a:r>
              <a:t/>
            </a:r>
          </a:p>
          <a:p xmlns:a="http://schemas.openxmlformats.org/drawingml/2006/main">
            <a:r>
              <a:t>여기까지 해 보시면 정의 하나와 데이터 한 줄이 결과를 어떻게 바꾸는지 보셨을 겁니다. 그렇다면 실제 업무에서는 누가 이런 정의를 바꾸고, 바꾼 뒤 무엇을 확인해야 할까요? 그 운영 방법을 짚고 검색으로 넘어가겠습니다.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방금은 직접 규칙을 끄고 관계를 지워 보면서 결과가 바뀌는 것을 확인했습니다. 실무에서는 이런 변화가 시스템 추가나 업무 용어 변경 때문에 생깁니다. 그래서 온톨로지도 운영하면서 고쳐 나가야 해요.</a:t>
            </a:r>
          </a:p>
          <a:p xmlns:a="http://schemas.openxmlformats.org/drawingml/2006/main">
            <a:r>
              <a:t/>
            </a:r>
          </a:p>
          <a:p xmlns:a="http://schemas.openxmlformats.org/drawingml/2006/main">
            <a:r>
              <a:t>화면 첫 줄처럼 해결할 업무 질문부터 작게 정합니다. 이번에는 날씨API와 관련된 시스템을 찾는 질문이었죠. 둘째 줄에서는 사용과 의존이 어떤 뜻인지 담당자와 맞추고, 누가 정의를 바꿀지 정합니다. 마지막에는 수정 전후의 대표 질문과 입력 검사 결과를 비교합니다.</a:t>
            </a:r>
          </a:p>
          <a:p xmlns:a="http://schemas.openxmlformats.org/drawingml/2006/main">
            <a:r>
              <a:t/>
            </a:r>
          </a:p>
          <a:p xmlns:a="http://schemas.openxmlformats.org/drawingml/2006/main">
            <a:r>
              <a:t>LLM으로 문서에서 관계를 추출하더라도 출처와 검수 상태를 관리해야 합니다. 이제 연결을 정의하고 관리하는 이야기는 정리됐습니다. 다음 관심사는 ‘이 연결을 이용해서 답변에 쓸 원문을 어떻게 찾을까’입니다. 여기서 GraphRAG로 넘어가겠습니다.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앞에서는 어떤 관계가 있고 어떤 사실이 따라오는지 정했습니다. 이제 그 연결에서 질문에 필요한 근거를 찾겠습니다. 표 첫 줄의 규칙 추론은 예측모델이 소프트웨어에도 속한다는 식으로 규칙에서 새 사실을 얻는 일입니다.</a:t>
            </a:r>
          </a:p>
          <a:p xmlns:a="http://schemas.openxmlformats.org/drawingml/2006/main">
            <a:r>
              <a:t/>
            </a:r>
          </a:p>
          <a:p xmlns:a="http://schemas.openxmlformats.org/drawingml/2006/main">
            <a:r>
              <a:t>둘째 줄의 GraphRAG 검색은 질문과 관련된 개체, 연결, 원문을 고르는 일입니다. 날씨API와 연결된 시스템을 찾아 그 시스템의 운영 문서를 가져오는 예를 생각하시면 됩니다. 셋째 줄에서는 LLM이 그 근거를 읽고 자연어 답변과 인용을 씁니다.</a:t>
            </a:r>
          </a:p>
          <a:p xmlns:a="http://schemas.openxmlformats.org/drawingml/2006/main">
            <a:r>
              <a:t/>
            </a:r>
          </a:p>
          <a:p xmlns:a="http://schemas.openxmlformats.org/drawingml/2006/main">
            <a:r>
              <a:t>각 단계가 맡은 일이 다르므로 따로 관찰해야 오류 원인을 찾을 수 있습니다. 또 GraphRAG가 반드시 OWL 온톨로지를 쓰는 것은 아닙니다. 요약이나 개체 연결 같은 다른 구조도 사용할 수 있어요. 다음 장에서 이 방법들을 같은 기준으로 비교할 준비를 하겠습니다.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a:p xmlns:a="http://schemas.openxmlformats.org/drawingml/2006/main">
            <a:r>
              <a:t>https://arxiv.org/abs/2401.18059</a:t>
            </a:r>
          </a:p>
          <a:p xmlns:a="http://schemas.openxmlformats.org/drawingml/2006/main">
            <a:r>
              <a:t>https://arxiv.org/abs/2405.14831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이제부터 이름이 다른 방법들이 나옵니다. 매번 새로 외우기보다 이 표의 질문을 반복해서 적용하시면 됩니다. 무엇을 저장했는지, 문서가 들어올 때 무엇을 준비하는지, 질문이 오면 무엇을 찾는지부터 보겠습니다.</a:t>
            </a:r>
          </a:p>
          <a:p xmlns:a="http://schemas.openxmlformats.org/drawingml/2006/main">
            <a:r>
              <a:t/>
            </a:r>
          </a:p>
          <a:p xmlns:a="http://schemas.openxmlformats.org/drawingml/2006/main">
            <a:r>
              <a:t>그 결과 중 어떤 원문이나 요약을 답변 모델에 주는지도 확인합니다. 마지막 비용과 오류는 준비 단계에서 생겼는지, 검색에서 생겼는지, 답변을 쓰면서 생겼는지 나눠 보겠습니다.</a:t>
            </a:r>
          </a:p>
          <a:p xmlns:a="http://schemas.openxmlformats.org/drawingml/2006/main">
            <a:r>
              <a:t/>
            </a:r>
          </a:p>
          <a:p xmlns:a="http://schemas.openxmlformats.org/drawingml/2006/main">
            <a:r>
              <a:t>각 방법은 개념을 보고, 같은 물류 문서의 질문에 대입하고, 바로 다음 그림에서 전체 처리 순서를 확인하겠습니다. 먼저 여러 문서를 묶어 큰 그림을 읽는 방법들입니다. 문서 요약의 층을 만드는 RAPTOR부터 시작할게요.</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https://arxiv.org/abs/2404.16130</a:t>
            </a:r>
          </a:p>
          <a:p xmlns:a="http://schemas.openxmlformats.org/drawingml/2006/main">
            <a:r>
              <a:t>https://arxiv.org/abs/2410.05779</a:t>
            </a:r>
          </a:p>
          <a:p xmlns:a="http://schemas.openxmlformats.org/drawingml/2006/main">
            <a:r>
              <a:t>https://arxiv.org/abs/2405.14831</a:t>
            </a:r>
          </a:p>
          <a:p xmlns:a="http://schemas.openxmlformats.org/drawingml/2006/main">
            <a:r>
              <a:t>https://arxiv.org/abs/2502.14802</a:t>
            </a:r>
          </a:p>
          <a:p xmlns:a="http://schemas.openxmlformats.org/drawingml/2006/main">
            <a:r>
              <a:t>https://arxiv.org/abs/2502.09891</a:t>
            </a:r>
          </a:p>
          <a:p xmlns:a="http://schemas.openxmlformats.org/drawingml/2006/main">
            <a:r>
              <a:t>https://arxiv.org/abs/2510.10114</a:t>
            </a:r>
          </a:p>
          <a:p xmlns:a="http://schemas.openxmlformats.org/drawingml/2006/main">
            <a:r>
              <a:t>https://arxiv.org/abs/2604.20844</a:t>
            </a:r>
          </a:p>
          <a:p xmlns:a="http://schemas.openxmlformats.org/drawingml/2006/main">
            <a:r>
              <a:t>https://arxiv.org/abs/2501.06713</a:t>
            </a:r>
          </a:p>
          <a:p xmlns:a="http://schemas.openxmlformats.org/drawingml/2006/main">
            <a:r>
              <a:t>https://arxiv.org/abs/2502.01113</a:t>
            </a:r>
          </a:p>
          <a:p xmlns:a="http://schemas.openxmlformats.org/drawingml/2006/main">
            <a:r>
              <a:t>https://arxiv.org/abs/2509.24276</a:t>
            </a:r>
          </a:p>
          <a:p xmlns:a="http://schemas.openxmlformats.org/drawingml/2006/main">
            <a:r>
              <a:t>https://arxiv.org/abs/2510.12323</a:t>
            </a:r>
          </a:p>
          <a:p xmlns:a="http://schemas.openxmlformats.org/drawingml/2006/main">
            <a:r>
              <a:t>https://arxiv.org/abs/2506.05690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 비교 기준을 정했으니 먼저 넓은 질문에 답하는 구조를 보겠습니다. RAPTOR는 문서 위에 요약의 층을 만드는 방법입니다. 화면의 저장 대상을 보시면 원문과 요약문이 같이 있죠. 긴 보고서를 읽을 때 먼저 목차와 요약을 보고 필요한 본문으로 내려가는 모습을 떠올리시면 됩니다.</a:t>
            </a:r>
          </a:p>
          <a:p xmlns:a="http://schemas.openxmlformats.org/drawingml/2006/main">
            <a:r>
              <a:t/>
            </a:r>
          </a:p>
          <a:p xmlns:a="http://schemas.openxmlformats.org/drawingml/2006/main">
            <a:r>
              <a:t>사전 준비에서는 문서 조각을 벡터로 바꾸고 비슷한 조각을 묶습니다. 묶음마다 요약을 만들고, 그 요약들도 다시 묶어 더 큰 요약을 만듭니다. 원 논문은 이 과정에 차원 축소와 부드러운 군집화를 사용합니다. 자세한 용어는 뒤 아키텍처 부록에 남겨 두었습니다.</a:t>
            </a:r>
          </a:p>
          <a:p xmlns:a="http://schemas.openxmlformats.org/drawingml/2006/main">
            <a:r>
              <a:t/>
            </a:r>
          </a:p>
          <a:p xmlns:a="http://schemas.openxmlformats.org/drawingml/2006/main">
            <a:r>
              <a:t>질문이 오면 여러 층의 노드 전체를 비교하거나 층을 내려가면서 찾을 수 있습니다. 노드는 여기서 원문 조각 또는 요약문 하나를 뜻해요. 회사와 시스템의 관계를 추출한 그래프와는 저장 대상부터 다른 겁니다.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질문이 ‘예측 오차가 몇 퍼센트인가?’라면 해당 수치가 적힌 원문 하나를 찾는 것으로 충분할 수 있습니다. 그런데 화면처럼 ‘운영이 전반적으로 어떻게 바뀌었나?’를 물으면 여러 문서의 내용을 함께 봐야 하죠.</a:t>
            </a:r>
          </a:p>
          <a:p xmlns:a="http://schemas.openxmlformats.org/drawingml/2006/main">
            <a:r>
              <a:t/>
            </a:r>
          </a:p>
          <a:p xmlns:a="http://schemas.openxmlformats.org/drawingml/2006/main">
            <a:r>
              <a:t>RAPTOR에서는 상위 요약이 이 전체적인 흐름을 찾는 데 쓰일 수 있습니다. 예를 들어 여러 배차 운영 문서를 묶은 요약을 먼저 찾고, 세부 근거가 필요한 부분은 그 아래 원문에서 확인하는 식입니다. 다만 항상 원문까지 자동으로 검증된다는 뜻은 아닙니다. 출처를 따라갈 수 있도록 구현해야 합니다.</a:t>
            </a:r>
          </a:p>
          <a:p xmlns:a="http://schemas.openxmlformats.org/drawingml/2006/main">
            <a:r>
              <a:t/>
            </a:r>
          </a:p>
          <a:p xmlns:a="http://schemas.openxmlformats.org/drawingml/2006/main">
            <a:r>
              <a:t>마지막 항목을 보시면 요약 손실이 있습니다. 요약을 여러 번 하면 중요한 예외나 조건이 사라질 수 있어요. 웹 실습은 이 개념을 작은 문서 그룹과 요약으로 보여 주는 수준이고, 원 논문의 재귀 군집화 전체를 재현하지는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‘원문을 나누고 벡터로 변환’입니다. 그 결과를 받아 ‘비슷한 문서 조각을 묶기’ 작업을 하고, 이어서 ‘묶음마다 요약문 작성’ 과정을 진행합니다. 그다음 ‘요약을 다시 묶고 요약’ 단계까지 처리한 뒤, 마지막으로 ‘원문과 여러 층의 요약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‘질문을 벡터로 변환’에서 시작합니다. 그다음 ‘질문과 맞는 층·노드 찾기’, ‘관련 원문과 요약 선택’ 과정을 거칩니다. 이어서 ‘필요한 내용을 함께 모으기’ 단계에서 답에 필요한 내용을 정리하고, 마지막 ‘근거를 읽고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문서 요약을 층으로 쌓는 흐름을 봤습니다. 다음 Microsoft GraphRAG는 문서 자체 대신 연결된 개체들을 그룹으로 묶고 요약합니다. 무엇을 묶느냐가 달라지는 겁니다.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RAPTOR는 문서 조각을 묶어 요약했죠. 이번에는 묶는 대상을 개체와 그 연결로 바꿔 보겠습니다. 여기서 GraphRAG는 넓은 연구 분야 이름이 아니라 Microsoft의 구체적인 방법을 뜻합니다. 저장 대상을 보시면 개체와 관계, 그리고 그룹별 보고서가 있습니다. 회사나 시스템 같은 개체를 연결한 다음 서로 많이 연결된 개체들을 묶는 거예요. 이 그룹을 논문에서는 community라고 부릅니다.</a:t>
            </a:r>
          </a:p>
          <a:p xmlns:a="http://schemas.openxmlformats.org/drawingml/2006/main">
            <a:r>
              <a:t/>
            </a:r>
          </a:p>
          <a:p xmlns:a="http://schemas.openxmlformats.org/drawingml/2006/main">
            <a:r>
              <a:t>사전 준비에서 각 그룹의 내용을 보고서로 요약해 둡니다. 전체 문서의 공통 주제를 묻는 질문이 오면 그룹별 보고서를 읽고 부분 답변을 만든 뒤 최종 답변으로 합칩니다. 이때 나눠 처리하고 합치는 과정을 map-reduce라고 부릅니다.</a:t>
            </a:r>
          </a:p>
          <a:p xmlns:a="http://schemas.openxmlformats.org/drawingml/2006/main">
            <a:r>
              <a:t/>
            </a:r>
          </a:p>
          <a:p xmlns:a="http://schemas.openxmlformats.org/drawingml/2006/main">
            <a:r>
              <a:t>화면 마지막 줄에는 특정 대상 검색도 적어 뒀습니다. Local search는 특정 개체 주변의 관계와 문서를 모으는 방식입니다. 전체를 요약하는 질문과 특정 시스템을 묻는 질문의 검색 경로를 구분해 주세요. </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우리 문서가 배차 운영, 예측모델, 외부API 운영으로 나뉘어 있다고 가정해 보죠. ‘공통 위험은 무엇인가?’를 물으면 한 문서만 읽어서는 빠지는 내용이 있을 수 있습니다.</a:t>
            </a:r>
          </a:p>
          <a:p xmlns:a="http://schemas.openxmlformats.org/drawingml/2006/main">
            <a:r>
              <a:t/>
            </a:r>
          </a:p>
          <a:p xmlns:a="http://schemas.openxmlformats.org/drawingml/2006/main">
            <a:r>
              <a:t>그룹별 보고서에서 각각 외부 입력 지연, 모델 갱신, 운영 대응 같은 후보를 뽑고, 이 부분 답변을 합쳐 전체적인 위험을 정리하는 방식입니다. 지금 말씀드린 주제는 이해를 돕기 위한 예시이며 실제 실행 결과를 측정한 것은 아닙니다.</a:t>
            </a:r>
          </a:p>
          <a:p xmlns:a="http://schemas.openxmlformats.org/drawingml/2006/main">
            <a:r>
              <a:t/>
            </a:r>
          </a:p>
          <a:p xmlns:a="http://schemas.openxmlformats.org/drawingml/2006/main">
            <a:r>
              <a:t>화면 아래의 비용도 같이 보겠습니다. 개체와 관계를 뽑고 보고서까지 만들기 때문에 준비 작업이 늘어납니다. 보고서가 원문을 요약한 결과인 만큼 세부 수치나 조건은 원문으로 돌아가 확인해야 해요. 웹 실습은 그룹 요약의 흐름을 보여 주지만 원 논문의 community 탐지와 여러 LLM의 부분 답변을 그대로 실행하지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‘문서를 검색용 조각으로 나누기’입니다. 그 결과를 받아 ‘개체와 관계를 LLM으로 추출’ 작업을 하고, 이어서 ‘같은 개체와 관계 설명 합치기’ 과정을 진행합니다. 그다음 ‘연결된 개체들의 그룹 찾기’ 단계까지 처리한 뒤, 마지막으로 ‘그룹별 요약 보고서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‘전체를 묻는 질문 받기’에서 시작합니다. 그다음 ‘그룹별 보고서로 부분 답 작성’, ‘부분 답의 중요도 평가’ 과정을 거칩니다. 이어서 ‘핵심 부분 답을 모아 정리’ 단계에서 답에 필요한 내용을 정리하고, 마지막 ‘최종 답변과 근거 표시’까지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지금은 그룹 보고서를 활용하는 구조를 봤습니다. 그럼 질문과 상관없는 그룹까지 읽는 일을 줄일 수 있을까요? 관련 그룹을 계층에서 좁혀 찾는 ArchRAG를 이어서 보겠습니다.</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Microsoft GraphRAG에서 그룹 보고서를 봤습니다. 그다음 질문은 ‘여러 그룹 중 필요한 부분을 어떻게 먼저 좁힐까’입니다. ArchRAG는 그룹을 어떻게 잘 만들고 잘 찾을지에 초점을 둡니다. 그래프에서 연결이 많다고 항상 같은 주제인 것은 아니죠. 그래서 연결 구조와 개체의 설명 같은 의미 정보를 함께 반영하는 그룹을 만듭니다. 여기서 attribute는 그런 설명이나 특징 정보를 뜻합니다.</a:t>
            </a:r>
          </a:p>
          <a:p xmlns:a="http://schemas.openxmlformats.org/drawingml/2006/main">
            <a:r>
              <a:t/>
            </a:r>
          </a:p>
          <a:p xmlns:a="http://schemas.openxmlformats.org/drawingml/2006/main">
            <a:r>
              <a:t>그룹을 한 단계만 만드는 것이 아니라 큰 그룹과 세부 그룹으로 계층화합니다. 질문이 들어오면 모든 보고서를 다 읽는 대신 관련된 층과 그룹을 탐색해 필요한 범위를 좁힙니다.</a:t>
            </a:r>
          </a:p>
          <a:p xmlns:a="http://schemas.openxmlformats.org/drawingml/2006/main">
            <a:r>
              <a:t/>
            </a:r>
          </a:p>
          <a:p xmlns:a="http://schemas.openxmlformats.org/drawingml/2006/main">
            <a:r>
              <a:t>논문의 C-HNSW는 이런 계층에서 가까운 후보를 효율적으로 찾기 위한 검색 구조입니다. 이름을 외우는 것보다 ‘큰 구조에서 필요한 부분으로 좁힌다’는 흐름을 잡으시면 됩니다.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운영 문서 전체에 결제, 배차, 날씨 입력, 모델 갱신 이야기가 섞여 있다고 가정하겠습니다. 질문은 날씨 관련 이슈인데 모든 그룹의 보고서를 다 읽으면 필요 없는 내용과 비용이 늘어날 수 있습니다.</a:t>
            </a:r>
          </a:p>
          <a:p xmlns:a="http://schemas.openxmlformats.org/drawingml/2006/main">
            <a:r>
              <a:t/>
            </a:r>
          </a:p>
          <a:p xmlns:a="http://schemas.openxmlformats.org/drawingml/2006/main">
            <a:r>
              <a:t>관련 그룹을 먼저 찾고 그 안의 요약과 원문을 모으는 것이 화면의 두 번째 항목입니다. 이때 그룹이 의미 있게 묶여 있어야 필요한 근거를 좁히는 데 도움이 됩니다. 잘못 묶였다면 관련 원문을 그룹 밖에 남겨 놓을 수도 있겠죠.</a:t>
            </a:r>
          </a:p>
          <a:p xmlns:a="http://schemas.openxmlformats.org/drawingml/2006/main">
            <a:r>
              <a:t/>
            </a:r>
          </a:p>
          <a:p xmlns:a="http://schemas.openxmlformats.org/drawingml/2006/main">
            <a:r>
              <a:t>따라서 검색 비용만 보는 것이 아니라 그룹을 만드는 비용과 갱신할 때의 비용도 함께 봐야 합니다. 우리 웹 예제는 주제별 작은 그룹을 골라 보는 수준이며, 원 논문의 속성 기반 그룹화나 C-HNSW를 구현한 것은 아닙니다.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‘문서에서 개체 그래프 구성’입니다. 그 결과를 받아 ‘설명과 특징을 벡터로 변환’ 작업을 하고, 이어서 ‘연결과 의미를 함께 보고 묶기’ 과정을 진행합니다. 그다음 ‘그룹을 여러 층으로 요약’ 단계까지 처리한 뒤, 마지막으로 ‘빠른 계층 검색 구조 준비’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‘질문과 관련된 큰 그룹 찾기’에서 시작합니다. 그다음 ‘계층 검색 구조를 따라 탐색’, ‘큰 그룹에서 세부 후보로 좁히기’ 과정을 거칩니다. 이어서 ‘관련 없는 후보 걸러내기’ 단계에서 답에 필요한 내용을 정리하고, 마지막 ‘선택한 요약·원문으로 답변’까지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여기까지 문서나 개체를 묶어 큰 그림을 읽는 방법들을 봤습니다. 이제 질문을 특정 대상으로 좁혀 보죠. 배차시스템과 모델의 관계를 직접 찾는 LightRAG로 넘어가겠습니다.</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앞의 세 방법에서는 요약과 그룹을 중심으로 봤습니다. 이번에는 특정 시스템과 그 관계를 좀 더 직접 찾겠습니다. LightRAG는 질문을 구체적인 대상과 더 넓은 주제 양쪽에서 찾는다는 점을 기억하시면 됩니다. 화면 맨 위에는 개체 설명과 관계 설명이 따로 적혀 있습니다. 배차시스템 자체에 대한 설명과, 배차시스템이 모델을 어떻게 쓰는지에 대한 설명을 따로 검색할 수 있는 거죠.</a:t>
            </a:r>
          </a:p>
          <a:p xmlns:a="http://schemas.openxmlformats.org/drawingml/2006/main">
            <a:r>
              <a:t/>
            </a:r>
          </a:p>
          <a:p xmlns:a="http://schemas.openxmlformats.org/drawingml/2006/main">
            <a:r>
              <a:t>문서를 준비할 때는 추출한 개체와 관계를 합치고, 원문의 어느 조각에서 나온 내용인지 연결해 둡니다. 여기서 벡터 저장소는 비슷한 설명을 빠르게 찾는 역할이고, 그래프는 주변 연결을 확인하는 역할입니다.</a:t>
            </a:r>
          </a:p>
          <a:p xmlns:a="http://schemas.openxmlformats.org/drawingml/2006/main">
            <a:r>
              <a:t/>
            </a:r>
          </a:p>
          <a:p xmlns:a="http://schemas.openxmlformats.org/drawingml/2006/main">
            <a:r>
              <a:t>질문이 오면 low-level 키워드는 구체적 개체 쪽을, high-level 키워드는 넓은 관계나 주제 쪽을 찾는 데 사용합니다. 이름만 보고 깊이가 다른 그래프 층이라고 생각하기보다는 검색 관점을 나눈다고 이해하시면 됩니다. 실제 질문에 대입해 보겠습니다.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질문에서는 ‘배차시스템’과 ‘도착예측모델’이 구체적인 대상입니다. 두 대상의 설명을 찾는 것과 함께 ‘활용’, ‘예측 결과 사용’ 같은 관계 측면의 단서도 확인할 수 있습니다.</a:t>
            </a:r>
          </a:p>
          <a:p xmlns:a="http://schemas.openxmlformats.org/drawingml/2006/main">
            <a:r>
              <a:t/>
            </a:r>
          </a:p>
          <a:p xmlns:a="http://schemas.openxmlformats.org/drawingml/2006/main">
            <a:r>
              <a:t>그러고 나서 ‘모델의 예측값으로 배차 순서를 정한다’고 적힌 원문을 근거로 모으면 답변을 쓸 재료가 됩니다. 핵심은 개체나 관계 이름만 보고 답을 만드는 것이 아니라 연결된 원문까지 가져오는 겁니다.</a:t>
            </a:r>
          </a:p>
          <a:p xmlns:a="http://schemas.openxmlformats.org/drawingml/2006/main">
            <a:r>
              <a:t/>
            </a:r>
          </a:p>
          <a:p xmlns:a="http://schemas.openxmlformats.org/drawingml/2006/main">
            <a:r>
              <a:t>물론 처음 관계 추출이 틀리면 이후 검색도 영향을 받습니다. 질문에서 중요한 키워드를 놓쳐도 마찬가지고요. 이번 실습은 개체를 찾고 가까운 관계와 문서 점수를 조정하는 축소 예제입니다. 원 논문의 두 단계 키워드 검색 전체와 같지는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‘문서를 조각으로 나누기’입니다. 그 결과를 받아 ‘개체와 관계 추출’ 작업을 하고, 이어서 ‘중복된 설명을 합치기’ 과정을 진행합니다. 그다음 ‘그래프·벡터·원문 위치 저장’ 단계까지 처리한 뒤, 마지막으로 ‘새 문서의 정보를 추가’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‘대상·주제 키워드 추출’에서 시작합니다. 그다음 ‘대상 키워드로 개체 찾기’, ‘주제 키워드로 관계 찾기’ 과정을 거칩니다. 이어서 ‘주변 연결과 원문 모으기’ 단계에서 답에 필요한 내용을 정리하고, 마지막 ‘모은 근거로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LightRAG는 구체적인 개체와 넓은 관계 단서를 함께 활용했습니다. 그런데 질문에 회사 이름이 없어도 날씨API에서 출발해 회사를 찾고 싶을 수 있죠. 다음에는 이런 먼 연결을 정렬할 때 쓰는 PPR 점수부터 설명하겠습니다.</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 LightRAG에서는 개체와 관계 설명을 찾아 원문을 모았습니다. 그런데 회사 이름처럼 질문 표현과 멀리 떨어진 대상까지 찾고 싶을 수 있죠. 그때 쓸 수 있는 계산 중 하나가 화면의 PPR입니다. HippoRAG를 보기 전에 직관부터 잡겠습니다.</a:t>
            </a:r>
          </a:p>
          <a:p xmlns:a="http://schemas.openxmlformats.org/drawingml/2006/main">
            <a:r>
              <a:t/>
            </a:r>
          </a:p>
          <a:p xmlns:a="http://schemas.openxmlformats.org/drawingml/2006/main">
            <a:r>
              <a:t>첫 항목처럼 질문의 단서인 날씨API에 시작 점수를 줍니다. 둘째 항목에서는 점수 일부를 이웃에게 나눠 주고, 일부는 출발 단서로 다시 돌아오게 하는 계산을 반복합니다. 이렇게 하면 날씨API 주변의 모델과 배차시스템에도 점수가 전달될 수 있어요. 연결 방향과 가중치는 구현에 따라 달라집니다.</a:t>
            </a:r>
          </a:p>
          <a:p xmlns:a="http://schemas.openxmlformats.org/drawingml/2006/main">
            <a:r>
              <a:t/>
            </a:r>
          </a:p>
          <a:p xmlns:a="http://schemas.openxmlformats.org/drawingml/2006/main">
            <a:r>
              <a:t>마지막에는 점수가 높은 개체와 연결된 원문을 근거 후보로 고릅니다. 이 점수는 정답 확률이나 논리적 증명이 아닙니다. 연결된 후보를 정렬하는 값이에요. 이제 이 계산을 어떤 그래프와 원문에 적용하는지 HippoRAG에서 보겠습니다.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https://arxiv.org/abs/2502.14802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 PPR에서 질문의 단서로 점수를 시작하고 이웃으로 전달하는 계산을 봤습니다. HippoRAG는 이 계산을 문서에서 만든 개체 그래프에 적용합니다. HippoRAG는 질문에서 얻은 단서를 그래프 위에 올려 놓고 주변으로 퍼뜨려 보는 검색 방법입니다. 사전 준비에서는 문장마다 개체와 관계를 추출합니다. 이런 작업을 OpenIE라고 부르는데, 쉽게는 문장을 ‘대상, 관계, 대상’으로 나누는 겁니다.</a:t>
            </a:r>
          </a:p>
          <a:p xmlns:a="http://schemas.openxmlformats.org/drawingml/2006/main">
            <a:r>
              <a:t/>
            </a:r>
          </a:p>
          <a:p xmlns:a="http://schemas.openxmlformats.org/drawingml/2006/main">
            <a:r>
              <a:t>질문이 들어오면 질문 속 개체를 그래프의 개체와 맞춥니다. 그다음 출발점에 점수를 주고 연결된 곳으로 점수를 보내는 계산을 합니다. 이 계산이 Personalized PageRank, 줄여서 PPR입니다. ‘질문의 단서와 연결된 곳은 어디인가’를 숫자로 정렬하는 방법이라고 보시면 됩니다.</a:t>
            </a:r>
          </a:p>
          <a:p xmlns:a="http://schemas.openxmlformats.org/drawingml/2006/main">
            <a:r>
              <a:t/>
            </a:r>
          </a:p>
          <a:p xmlns:a="http://schemas.openxmlformats.org/drawingml/2006/main">
            <a:r>
              <a:t>마지막에는 개체 점수를 그 개체가 나오는 원문 문서에 연결합니다. 답변 모델은 이렇게 고른 문서를 읽어요. 검색 점수가 높다는 것이 사실의 진실 확률은 아닙니다. 여러 문서를 잇는 질문에서 왜 이 계산을 쓰는지 보겠습니다.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질문은 회사 이름을 묻지만 출발 단서는 날씨 정보입니다. 날씨API를 쓰는 모델, 그 모델을 사용하는 배차시스템, 그리고 그 시스템을 사용하는 회사가 서로 다른 문서에 나뉘어 있다고 생각해 보세요.</a:t>
            </a:r>
          </a:p>
          <a:p xmlns:a="http://schemas.openxmlformats.org/drawingml/2006/main">
            <a:r>
              <a:t/>
            </a:r>
          </a:p>
          <a:p xmlns:a="http://schemas.openxmlformats.org/drawingml/2006/main">
            <a:r>
              <a:t>질문과 문장 표현이 가장 비슷한 문서만 고르면 중간 연결을 놓칠 수 있습니다. 그래프 검색은 이 연결을 통해 직접 표현이 비슷하지 않은 회사 문서까지 후보에 넣으려는 겁니다. 최종 답을 쓰려면 필요한 연결의 원문들이 실제로 함께 검색됐는지 확인해야 합니다.</a:t>
            </a:r>
          </a:p>
          <a:p xmlns:a="http://schemas.openxmlformats.org/drawingml/2006/main">
            <a:r>
              <a:t/>
            </a:r>
          </a:p>
          <a:p xmlns:a="http://schemas.openxmlformats.org/drawingml/2006/main">
            <a:r>
              <a:t>아래 오류 항목처럼 잘못 추출한 연결도 점수를 퍼뜨립니다. 무엇과든 많이 연결된 개체가 불필요하게 높은 점수를 받을 수도 있어요. 그래서 그래프가 있다는 사실보다 seed, 즉 출발점과 선택된 원문을 보는 것이 중요합니다.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‘문서를 문단으로 나누기’입니다. 그 결과를 받아 ‘문장에서 개체·관계 추출’ 작업을 하고, 이어서 ‘같은 의미의 개체 연결’ 과정을 진행합니다. 그다음 ‘개체와 원문 문단 연결’ 단계까지 처리한 뒤, 마지막으로 ‘연결망을 검색용으로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‘질문에서 시작 단서 추출’에서 시작합니다. 그다음 ‘단서를 그래프 개체와 맞추기’, ‘PPR로 연결망 점수 계산’ 과정을 거칩니다. 이어서 ‘개체 점수를 원문에 반영’ 단계에서 답에 필요한 내용을 정리하고, 마지막 ‘상위 원문으로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날씨API에서 시작해 회사를 설명하는 원문까지 연결하는 구조를 봤습니다. 다만 개체와 관계만으로는 사용 문맥이 부족할 수 있죠. HippoRAG 2는 원문 문단을 더 직접 연결하는 방향으로 이어집니다.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HippoRAG에서 단서를 그래프에 퍼뜨렸죠. 이번에는 그래프에 담는 정보와 출발 단서를 고르는 방법을 바꿉니다. HippoRAG 2는 개체 연결만으로 놓칠 수 있는 원문 문맥을 더 직접 넣는 방향입니다. 첫 줄의 ‘짧은 개념 표현’은 논문의 phrase를 쉽게 적은 말입니다. 그래프에 이런 표현뿐 아니라 원문 문단도 연결합니다.</a:t>
            </a:r>
          </a:p>
          <a:p xmlns:a="http://schemas.openxmlformats.org/drawingml/2006/main">
            <a:r>
              <a:t/>
            </a:r>
          </a:p>
          <a:p xmlns:a="http://schemas.openxmlformats.org/drawingml/2006/main">
            <a:r>
              <a:t>질문 처리도 조금 바뀝니다. 먼저 질문과 관련 있을 법한 관계 트리플을 찾습니다. 그다음 LLM이 이 후보들 중 질문과 실제로 관련 있는 것을 걸러 줍니다. 논문에서 recognition memory라고 부르는 단계입니다. 후보를 많이 찾은 다음 쓸 만한 단서를 확인하는 과정으로 보시면 됩니다.</a:t>
            </a:r>
          </a:p>
          <a:p xmlns:a="http://schemas.openxmlformats.org/drawingml/2006/main">
            <a:r>
              <a:t/>
            </a:r>
          </a:p>
          <a:p xmlns:a="http://schemas.openxmlformats.org/drawingml/2006/main">
            <a:r>
              <a:t>그렇게 고른 관계와 원문 신호를 출발점으로 PPR 검색을 수행합니다. 앞 방법과 같은 이름의 계산을 사용해도 출발점과 그래프에 포함되는 정보가 다르다는 점이 중요합니다.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HippoRAG에서 본 회사 질문을 다시 쓰되 이번에는 원문 문맥을 더 강조해서 보겠습니다. 어떤 모델이 날씨API를 단순히 시험해 봤다는 문서와, 실제 배차에 사용한다는 문서는 의미가 다르겠죠.</a:t>
            </a:r>
          </a:p>
          <a:p xmlns:a="http://schemas.openxmlformats.org/drawingml/2006/main">
            <a:r>
              <a:t/>
            </a:r>
          </a:p>
          <a:p xmlns:a="http://schemas.openxmlformats.org/drawingml/2006/main">
            <a:r>
              <a:t>질문 관련 트리플 후보를 찾은 뒤 LLM 필터로 관련성을 확인하고, 원문 문단도 함께 연결해 검색하면 이런 맥락을 반영하려는 시도가 됩니다. 다만 필터가 항상 맞는 것은 아닙니다. 중요한 관계를 잘못 제외하면 오히려 근거를 놓칠 수도 있어요.</a:t>
            </a:r>
          </a:p>
          <a:p xmlns:a="http://schemas.openxmlformats.org/drawingml/2006/main">
            <a:r>
              <a:t/>
            </a:r>
          </a:p>
          <a:p xmlns:a="http://schemas.openxmlformats.org/drawingml/2006/main">
            <a:r>
              <a:t>화면 마지막 줄의 비용은 바로 이 온라인 LLM 호출에서 생깁니다. 색인 단계 비용과 질문마다 발생하는 비용을 나눠 봐야 합니다. 웹에서는 문서 검색과 개체 점수를 합치는 축소 과정을 보여 주며 이 LLM 필터 전체를 재현하지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‘개념 표현과 관계 추출’입니다. 그 결과를 받아 ‘비슷한 개념 표현 연결’ 작업을 하고, 이어서 ‘원문 문단도 그래프에 연결’ 과정을 진행합니다. 그다음 ‘개념·문단의 벡터 저장’ 단계까지 처리한 뒤, 마지막으로 ‘문맥을 포함한 그래프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‘관련 관계 후보 찾기’에서 시작합니다. 그다음 ‘LLM으로 관련 후보 걸러내기’, ‘관계·원문에서 출발점 정하기’ 과정을 거칩니다. 이어서 ‘통합 그래프에 PPR 적용’ 단계에서 답에 필요한 내용을 정리하고, 마지막 ‘상위 원문으로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여기서는 관계 후보를 찾고 LLM으로 거르는 단계까지 들어갔습니다. 그 준비와 호출이 부담스럽다면 관계 이름 자체를 덜 추출하는 방향도 생각할 수 있어요. 다음 LinearRAG가 그 비교 대상입니다.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앞의 HippoRAG 계열은 추출한 관계를 활용했습니다. 이번에는 관계 이름을 만드는 부담을 줄이고 어디에 함께 등장했는지를 연결합니다. LinearRAG에서는 ‘어떤 관계 이름으로 연결할까’를 뽑는 부담을 줄입니다. 대신 화면의 첫 줄처럼 개체, 문장, 문단을 연결합니다. 어떤 개체가 어느 문장에 나오고, 그 문장이 어느 문단에 속하는지를 활용하는 거예요. 이렇게 세 종류의 노드가 있어 Tri-Graph라고 부릅니다.</a:t>
            </a:r>
          </a:p>
          <a:p xmlns:a="http://schemas.openxmlformats.org/drawingml/2006/main">
            <a:r>
              <a:t/>
            </a:r>
          </a:p>
          <a:p xmlns:a="http://schemas.openxmlformats.org/drawingml/2006/main">
            <a:r>
              <a:t>예를 들어 날씨API와 예측모델이 같은 문장에 등장하고, 다른 문장에는 예측모델과 배차시스템이 등장할 수 있습니다. 모델이라는 공통 개체가 문장들을 잇는 단서가 됩니다.</a:t>
            </a:r>
          </a:p>
          <a:p xmlns:a="http://schemas.openxmlformats.org/drawingml/2006/main">
            <a:r>
              <a:t/>
            </a:r>
          </a:p>
          <a:p xmlns:a="http://schemas.openxmlformats.org/drawingml/2006/main">
            <a:r>
              <a:t>질문이 오면 관련 문장과 개체의 지역적인 연결을 활용하고, 그래프 확산으로 최종 문단 순위를 구합니다. 원문의 관계 술어를 일일이 생성하는 방식과 무엇이 다른지 보시면 됩니다. 이 단순화가 어떤 주의점을 갖는지</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질문에서는 날씨API가 적힌 문장만으로 답이 끝나지 않을 수 있습니다. 그 문장에 나온 예측모델을 통해 배차 이야기가 있는 다른 문장을 찾고, 각 문장이 속한 원문 문단을 근거로 가져오는 그림입니다.</a:t>
            </a:r>
          </a:p>
          <a:p xmlns:a="http://schemas.openxmlformats.org/drawingml/2006/main">
            <a:r>
              <a:t/>
            </a:r>
          </a:p>
          <a:p xmlns:a="http://schemas.openxmlformats.org/drawingml/2006/main">
            <a:r>
              <a:t>다만 개체가 함께 등장했다고 의미 관계가 확인되는 것은 아닙니다. ‘이 모델은 날씨API를 쓰지 않는다’는 문장에도 두 개체는 같이 나오죠. 같은 곳에 나온다는 단서와 문장이 실제로 말하는 내용은 구분해야 합니다.</a:t>
            </a:r>
          </a:p>
          <a:p xmlns:a="http://schemas.openxmlformats.org/drawingml/2006/main">
            <a:r>
              <a:t/>
            </a:r>
          </a:p>
          <a:p xmlns:a="http://schemas.openxmlformats.org/drawingml/2006/main">
            <a:r>
              <a:t>그래서 최종 답변에는 원문을 줘서 부정이나 조건을 읽을 수 있게 해야 하고, 검색 자체가 중요한 근거를 놓쳤는지도 확인해야 합니다. 웹의 LinearRAG 선택지는 단순한 개체-문서 연결을 활용하는 교육용 예제입니다.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‘원문을 문단과 문장으로 나누기’입니다. 그 결과를 받아 ‘등장 개체 찾기’ 작업을 하고, 이어서 ‘개체·문장·문단 연결’ 과정을 진행합니다. 그다음 ‘함께 나온 위치와 소속 연결’ 단계까지 처리한 뒤, 마지막으로 ‘관계 이름 없이 그래프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 속 개체 맞추기’에서 시작합니다. 그다음 ‘비슷한 문장을 찾기’, ‘문장과 개체로 단서 보강’ 과정을 거칩니다. 이어서 ‘그래프 확산으로 문단 정렬’ 단계에서 답에 필요한 내용을 정리하고, 마지막 ‘상위 원문으로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LinearRAG는 개체를 공유하는 문장과 문단을 검색 단서로 삼았습니다. 이번에는 연결할 근거 단위를 바꿔 보겠습니다. 긴 문단을 독립적으로 이해할 수 있는 작은 사실로 나누는 AtomicRAG입니다.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LinearRAG에서는 문장과 문단이 근거 단위였죠. 그런데 문단 안에 답과 무관한 내용이 많다면 더 작은 사실 단위가 필요할 수 있습니다. AtomicRAG의 atom은 원자라는 단어에서 온 말인데, 여기서는 독립적으로 이해할 수 있는 작은 사실을 뜻합니다. 긴 문서 조각 하나에는 관련 없는 사실들이 섞일 수 있고, 너무 짧은 트리플은 문맥을 놓칠 수 있죠. 그 사이에서 사실 단위를 더 잘 잡으려는 접근입니다.</a:t>
            </a:r>
          </a:p>
          <a:p xmlns:a="http://schemas.openxmlformats.org/drawingml/2006/main">
            <a:r>
              <a:t/>
            </a:r>
          </a:p>
          <a:p xmlns:a="http://schemas.openxmlformats.org/drawingml/2006/main">
            <a:r>
              <a:t>사전 준비에서는 문서를 이런 사실들로 나누고 등장 개체와 연결합니다. 질문이 복잡하면 필요한 작은 질문들로 나누는 단계를 거칠 수 있습니다. 그런 다음 사실의 의미 검색과 개체 기반 그래프 검색을 결합합니다.</a:t>
            </a:r>
          </a:p>
          <a:p xmlns:a="http://schemas.openxmlformats.org/drawingml/2006/main">
            <a:r>
              <a:t/>
            </a:r>
          </a:p>
          <a:p xmlns:a="http://schemas.openxmlformats.org/drawingml/2006/main">
            <a:r>
              <a:t>마지막에는 중복되거나 무관한 사실을 걸러냅니다. 논문에서는 Atomic Sieve, 즉 체로 거르듯 사실을 선별하는 단계라고 부릅니다. 화면의 핵심은 ‘작게 나눴다’보다 ‘쓸 사실만 남긴다’입니다. 예제에 대입해 보죠.</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질문을 답하려면 ‘모델은 날씨 입력을 받는다’와 ‘배차시스템은 모델 결과를 쓴다’는 사실이 필요합니다. 반면 같은 문서에 있는 사무실 위치 같은 내용은 필요 없을 수 있겠죠. AtomicRAG는 이런 작은 사실들을 필요한 만큼 조합하려는 겁니다.</a:t>
            </a:r>
          </a:p>
          <a:p xmlns:a="http://schemas.openxmlformats.org/drawingml/2006/main">
            <a:r>
              <a:t/>
            </a:r>
          </a:p>
          <a:p xmlns:a="http://schemas.openxmlformats.org/drawingml/2006/main">
            <a:r>
              <a:t>여기서 혼자 읽어도 이해돼야 한다는 조건이 중요합니다. ‘이것을 사용한다’처럼 대명사만 남기거나, 예외 조건을 떼어 버리면 작은 단위가 되어도 좋은 근거가 아닙니다. 누가 무엇을 사용하는지와 필요한 조건을 유지해야 해요.</a:t>
            </a:r>
          </a:p>
          <a:p xmlns:a="http://schemas.openxmlformats.org/drawingml/2006/main">
            <a:r>
              <a:t/>
            </a:r>
          </a:p>
          <a:p xmlns:a="http://schemas.openxmlformats.org/drawingml/2006/main">
            <a:r>
              <a:t>질문을 잘못 나누거나 필터가 중요한 사실을 버려도 문제가 됩니다. 따라서 사실 추출, 검색, 선별을 따로 살펴봐야 합니다. 현재 웹의 사실 선택 데모에는 원 논문의 질문 분해와 그래프 전파, Atomic Sieve 전체가 들어 있지는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‘문서를 독립적인 사실로 나누기’입니다. 그 결과를 받아 ‘각 사실에 나온 개체 찾기’ 작업을 하고, 이어서 ‘사실과 개체 연결’ 과정을 진행합니다. 그다음 ‘관련 개체들의 연결 구성’ 단계까지 처리한 뒤, 마지막으로 ‘각 사실의 원문 출처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‘필요하면 질문을 작게 나누기’에서 시작합니다. 그다음 ‘관련 사실과 개체 찾기’, ‘PPR로 관련 사실 범위 넓히기’ 과정을 거칩니다. 이어서 ‘중복·무관한 사실 걸러내기’ 단계에서 답에 필요한 내용을 정리하고, 마지막 ‘남긴 사실과 원문으로 답변’까지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필요한 사실을 고르는 과정을 봤습니다. 그다음에는 이 근거를 누가 읽는지도 중요해져요. 작은 언어 모델이 읽을 수 있게 짧은 연결과 원문을 구성하는 MiniRAG로 이어가겠습니다.</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AtomicRAG에서 필요한 사실만 남기는 방향을 봤습니다. 이번에는 작은 언어 모델이 근거를 활용하기 쉽도록 검색 구조를 만드는 쪽에 초점을 둡니다. MiniRAG는 작은 언어 모델이 검색 결과를 잘 활용할 수 있게 하려는 방법입니다. SLM이라는 약어가 나오면 Small Language Model, 작은 언어 모델이라고 읽으시면 됩니다. 작은 모델에 길고 복잡한 근거를 잔뜩 주는 것은 부담이 될 수 있죠.</a:t>
            </a:r>
          </a:p>
          <a:p xmlns:a="http://schemas.openxmlformats.org/drawingml/2006/main">
            <a:r>
              <a:t/>
            </a:r>
          </a:p>
          <a:p xmlns:a="http://schemas.openxmlformats.org/drawingml/2006/main">
            <a:r>
              <a:t>그래서 개체와 원문 조각을 연결한 그래프를 만들고, 질문에서 어떤 대상을 찾는지와 답이 어떤 종류일지를 단서로 사용합니다. 예를 들어 답이 회사 이름인지, 시스템 이름인지 구분하는 겁니다.</a:t>
            </a:r>
          </a:p>
          <a:p xmlns:a="http://schemas.openxmlformats.org/drawingml/2006/main">
            <a:r>
              <a:t/>
            </a:r>
          </a:p>
          <a:p xmlns:a="http://schemas.openxmlformats.org/drawingml/2006/main">
            <a:r>
              <a:t>그 단서와 그래프의 연결 모양을 활용해 답에 필요한 경로와 원문을 고릅니다. topology-aware라는 표현은 이런 연결 모양을 본다는 뜻입니다. 단순히 모델만 작은 것으로 바꾼 방식과는 구별해서 이해하시면 됩니다. 어떤 근거가 짧게 모이는지 예제를 보겠습니다.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끝에 ‘소프트웨어 이름’이라고 적혀 있습니다. 그렇다면 답 후보를 찾을 때 날짜나 회사보다 시스템 종류의 개체가 더 맞겠죠. 질문에서 날씨API를 시작 단서로 잡고, 관련 소프트웨어와 그 설명이 있는 원문을 모으는 모습입니다.</a:t>
            </a:r>
          </a:p>
          <a:p xmlns:a="http://schemas.openxmlformats.org/drawingml/2006/main">
            <a:r>
              <a:t/>
            </a:r>
          </a:p>
          <a:p xmlns:a="http://schemas.openxmlformats.org/drawingml/2006/main">
            <a:r>
              <a:t>이렇게 모은 짧은 근거를 모델에 전달합니다. 짧다고 무조건 좋은 것은 아니에요. 정답에 필요한 연결을 모두 포함하면서 불필요한 내용을 줄였는지가 중요합니다. 근거가 짧아진 대신 중간 사실을 빼먹으면 답을 못 할 수 있습니다.</a:t>
            </a:r>
          </a:p>
          <a:p xmlns:a="http://schemas.openxmlformats.org/drawingml/2006/main">
            <a:r>
              <a:t/>
            </a:r>
          </a:p>
          <a:p xmlns:a="http://schemas.openxmlformats.org/drawingml/2006/main">
            <a:r>
              <a:t>그리고 작은 모델이 개체 추출이나 답의 종류를 틀리게 판단할 수 있다는 점도 남습니다. 웹 예제는 짧은 그래프 경로를 찾는 개념을 보여 주지만 원 논문의 전체 경로 점수 계산은 재현하지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‘문서에서 원문 조각 준비’입니다. 그 결과를 받아 ‘가벼운 개체 추출’ 작업을 하고, 이어서 ‘개체와 원문을 함께 연결’ 과정을 진행합니다. 그다음 ‘내용과 연결 구조 저장’ 단계까지 처리한 뒤, 마지막으로 ‘작은 모델용 검색 구조 준비’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 속 개체와 답 종류 파악’에서 시작합니다. 그다음 ‘관련 개체·원문 후보 찾기’, ‘연결 구조로 경로 탐색’ 과정을 거칩니다. 이어서 ‘짧은 경로와 원문 선택’ 단계에서 답에 필요한 내용을 정리하고, 마지막 ‘선택한 근거로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여기까지는 저장 구조와 검색 규칙을 주로 설계하는 방향이었습니다. 이제 ‘어느 연결이 질문에 중요한지’를 학습 모델이 계산하는 방법을 보겠습니다. 첫 번째가 GFM-RAG입니다.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방금까지는 근거를 어떻게 작게 구성할지 봤습니다. 이제 검색 관련도를 계산하는 부분을 학습 모델로 바꿔 보겠습니다. 지금까지는 사람이 정한 검색 규칙을 중심으로 봤습니다. GFM-RAG는 그래프에서 어떤 곳이 질문과 관련 있는지를 모델로 학습합니다. GFM은 Graph Foundation Model의 줄임말입니다.</a:t>
            </a:r>
          </a:p>
          <a:p xmlns:a="http://schemas.openxmlformats.org/drawingml/2006/main">
            <a:r>
              <a:t/>
            </a:r>
          </a:p>
          <a:p xmlns:a="http://schemas.openxmlformats.org/drawingml/2006/main">
            <a:r>
              <a:t>화면의 사전 준비 단계에서 그래프와 문서의 연결을 만들고 학습된 모델을 불러옵니다. 질문이 오면 그래프의 이웃 사이에서 정보를 전달하면서 관련도를 계산합니다. 이를 GNN의 message passing이라고 부르는데, 주변 노드의 정보를 받아 자기 점수 판단에 사용하는 과정으로 이해하시면 됩니다.</a:t>
            </a:r>
          </a:p>
          <a:p xmlns:a="http://schemas.openxmlformats.org/drawingml/2006/main">
            <a:r>
              <a:t/>
            </a:r>
          </a:p>
          <a:p xmlns:a="http://schemas.openxmlformats.org/drawingml/2006/main">
            <a:r>
              <a:t>그 개체 점수를 다시 원문 문서와 연결해서 답변 근거를 고릅니다. PPR과 마찬가지로 그래프를 쓰지만 계산 방법을 학습한다는 차이가 있습니다. 학습된 모델을 실제로 불러와야 이 방법을 실행했다고 할 수 있다는 점도 중요합니다. 예제와 한계를 보겠습니다.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회사 문서와 모델 문서, 외부API 문서가 흩어져 있어도 질문과 관련 있는 개체들의 점수를 모델이 계산하고, 그 개체가 나오는 문서를 근거로 모으는 모습입니다. 답변 생성 모델이 문서를 고르는 것과 그래프 검색 모델이 관련도를 계산하는 것은 구분해서 보겠습니다.</a:t>
            </a:r>
          </a:p>
          <a:p xmlns:a="http://schemas.openxmlformats.org/drawingml/2006/main">
            <a:r>
              <a:t/>
            </a:r>
          </a:p>
          <a:p xmlns:a="http://schemas.openxmlformats.org/drawingml/2006/main">
            <a:r>
              <a:t>이 방법을 실제로 적용하려면 그래프 형태와 입력 특징이 준비돼 있어야 하고, 학습된 가중치도 필요합니다. 내 그래프가 학습 때와 많이 다르면 기대한 대로 동작하는지도 평가해야 해요. 모델이 학습됐다는 사실만으로 새 업무에서 잘된다고 보장할 수는 없습니다.</a:t>
            </a:r>
          </a:p>
          <a:p xmlns:a="http://schemas.openxmlformats.org/drawingml/2006/main">
            <a:r>
              <a:t/>
            </a:r>
          </a:p>
          <a:p xmlns:a="http://schemas.openxmlformats.org/drawingml/2006/main">
            <a:r>
              <a:t>특히 우리 웹사이트에는 이 학습 모델의 체크포인트가 없습니다. 선택 화면에서 보여 주는 것은 학습 검색의 개념을 설명하기 위한 대체 계산입니다. 이를 논문 모델의 성능 결과로 비교하면 안 됩니다.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‘문서에서 지식 그래프 준비’입니다. 그 결과를 받아 ‘개체·관계·문서 매핑 저장’ 작업을 하고, 이어서 ‘모델이 읽을 형태로 변환’ 과정을 진행합니다. 그다음 ‘학습된 검색 모델 불러오기’ 단계까지 처리한 뒤, 마지막으로 ‘새 문서 그래프에 적용 준비’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‘질문과 개체 연결’에서 시작합니다. 그다음 ‘질문을 반영한 GNN 실행’, ‘이웃 정보로 개체 점수 계산’ 과정을 거칩니다. 이어서 ‘개체 점수로 문서 정렬’ 단계에서 답에 필요한 내용을 정리하고, 마지막 ‘검색 문서로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GFM-RAG에서는 학습한 그래프 검색 모델이 개체 관련도를 계산했습니다. 다음 G-reasoner는 개체 관계에 더해 속성과 문서, 그룹 정보까지 검색 구조에 연결합니다.</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GFM-RAG가 그래프에서 관련도를 학습한다는 점을 봤습니다. 이번에는 검색할 지식 표현의 범위를 넓혀 보겠습니다. G-reasoner는 서로 다른 형태의 지식을 한 검색 구조로 다루려는 방향입니다. 저장 대상에 나온 네 가지를 보겠습니다. 개체의 특징인 속성, 개체 사이 관계, 원문 문서, 그리고 그룹의 정보입니다.</a:t>
            </a:r>
          </a:p>
          <a:p xmlns:a="http://schemas.openxmlformats.org/drawingml/2006/main">
            <a:r>
              <a:t/>
            </a:r>
          </a:p>
          <a:p xmlns:a="http://schemas.openxmlformats.org/drawingml/2006/main">
            <a:r>
              <a:t>이 네 가지를 연결한 구조를 QuadGraph라고 부릅니다. Quad는 네 개라는 뜻이에요. 그래프를 하나 더 복잡하게 그리는 것보다, 서로 다른 지식 표현을 같은 검색 모델이 다루게 하려는 목적에 주목하시면 됩니다.</a:t>
            </a:r>
          </a:p>
          <a:p xmlns:a="http://schemas.openxmlformats.org/drawingml/2006/main">
            <a:r>
              <a:t/>
            </a:r>
          </a:p>
          <a:p xmlns:a="http://schemas.openxmlformats.org/drawingml/2006/main">
            <a:r>
              <a:t>질문이 오면 학습 모델이 관련 노드를 예측하고, 선택된 정보를 근거로 답변을 만듭니다. 앞의 GFM-RAG와 마찬가지로 실제 학습 가중치가 필요한 접근입니다. 특정 사실과 큰 주제를 함께 묻는 예제로 이 구분을 살펴보겠습니다.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예를 들어 ‘이 시스템은 무엇을 쓰고, 그 사용 방식이 전체 운영에서 어떤 의미가 있나?’라는 질문을 생각해 보겠습니다. 앞부분은 개별 시스템과 관계에 대한 정보가 필요하고, 뒤는 문서나 그룹 수준의 정보도 필요할 수 있습니다.</a:t>
            </a:r>
          </a:p>
          <a:p xmlns:a="http://schemas.openxmlformats.org/drawingml/2006/main">
            <a:r>
              <a:t/>
            </a:r>
          </a:p>
          <a:p xmlns:a="http://schemas.openxmlformats.org/drawingml/2006/main">
            <a:r>
              <a:t>화면 두 번째 줄은 이런 여러 수준의 근거를 하나의 그래프 안에서 연결한다는 뜻입니다. 속성만 보거나 문서만 보는 것보다 표현 범위를 넓히려는 거죠. 그렇다고 모든 질문에 네 종류 정보를 무조건 다 넣는다는 뜻은 아닙니다. 질문에 관련된 부분을 찾는 것이 검색 모델의 역할입니다.</a:t>
            </a:r>
          </a:p>
          <a:p xmlns:a="http://schemas.openxmlformats.org/drawingml/2006/main">
            <a:r>
              <a:t/>
            </a:r>
          </a:p>
          <a:p xmlns:a="http://schemas.openxmlformats.org/drawingml/2006/main">
            <a:r>
              <a:t>사용하려면 통합 그래프를 만들고 원 모델을 준비해야 합니다. 웹 데모에는 이 모델이 없으니 단순 대체 검색으로 이해해 주세요.</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‘개체 사이 지식 관계 구성’입니다. 그 결과를 받아 ‘원문 문서 연결’ 작업을 하고, 이어서 ‘개체의 속성 정보 연결’ 과정을 진행합니다. 그다음 ‘그룹 정보 연결’ 단계까지 처리한 뒤, 마지막으로 ‘네 구조를 QuadGraph로 통합’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‘질문을 벡터로 변환’에서 시작합니다. 그다음 ‘학습 모델로 그래프 정보 전달’, ‘관련 노드와 문서 예측’ 과정을 거칩니다. 이어서 ‘답변에 필요한 근거 선택’ 단계에서 답에 필요한 내용을 정리하고, 마지막 ‘선택한 근거로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속성과 관계, 문서와 그룹 정보를 함께 연결하는 방법을 봤습니다. 실제 문서에는 글 외에 표와 그림도 있죠. 다음에는 정보의 형태를 넓히는 RAG-Anything으로 넘어가겠습니다.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앞에서는 어떤 지식 구조를 연결할지 고민했습니다. 이제 원문 자체가 글과 표, 그림으로 섞여 있을 때를 보겠습니다. 실제 문서에는 글만 있는 것이 아니라 표와 그림, 수식이 함께 있죠. RAG-Anything은 이런 요소를 함께 검색하고 활용하려는 프레임워크입니다. multimodal은 여러 형태의 정보를 다룬다는 뜻입니다.</a:t>
            </a:r>
          </a:p>
          <a:p xmlns:a="http://schemas.openxmlformats.org/drawingml/2006/main">
            <a:r>
              <a:t/>
            </a:r>
          </a:p>
          <a:p xmlns:a="http://schemas.openxmlformats.org/drawingml/2006/main">
            <a:r>
              <a:t>사전 준비에서 문서를 파싱합니다. 여기서 파싱은 페이지에서 본문과 표, 이미지 같은 요소를 나누고 내용을 읽어 내는 과정입니다. 표는 행과 열의 관계를 보존해야 하고, 그림은 무엇을 보여 주는지 해석해야 해요.</a:t>
            </a:r>
          </a:p>
          <a:p xmlns:a="http://schemas.openxmlformats.org/drawingml/2006/main">
            <a:r>
              <a:t/>
            </a:r>
          </a:p>
          <a:p xmlns:a="http://schemas.openxmlformats.org/drawingml/2006/main">
            <a:r>
              <a:t>그다음 요소끼리의 구조적 연결과 내용의 의미 연결을 활용합니다. 질문이 오면 비슷한 텍스트만 찾는 것이 아니라 관련 표나 이미지도 회수합니다. 마지막 답변에 어떤 형태의 근거가 실제로 전달되는지가 중요합니다. 운영 설명과 성능 표 예제로 연결하겠습니다.</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본문에는 ‘새 모델을 도입했다’고 적혀 있고, 바로 옆 표에는 도입 전후의 성능 수치가 있다고 가정해 보겠습니다. 본문만 찾으면 개선의 크기를 답하기 어렵고, 표만 찾으면 무슨 조건에서 측정한 값인지 놓칠 수 있죠.</a:t>
            </a:r>
          </a:p>
          <a:p xmlns:a="http://schemas.openxmlformats.org/drawingml/2006/main">
            <a:r>
              <a:t/>
            </a:r>
          </a:p>
          <a:p xmlns:a="http://schemas.openxmlformats.org/drawingml/2006/main">
            <a:r>
              <a:t>그래서 본문과 표를 연결해 함께 가져오고, 필요하면 원본 이미지까지 답변 모델에 전달하는 구성이 필요합니다. 이번 슬라이드의 두 번째 줄이 그 의미입니다. 숫자를 가져왔다고 해서 표의 행과 열을 제대로 읽었는지도 확인해야 하고요.</a:t>
            </a:r>
          </a:p>
          <a:p xmlns:a="http://schemas.openxmlformats.org/drawingml/2006/main">
            <a:r>
              <a:t/>
            </a:r>
          </a:p>
          <a:p xmlns:a="http://schemas.openxmlformats.org/drawingml/2006/main">
            <a:r>
              <a:t>우리 웹의 이미지 실습은 업로드 이미지를 설명 텍스트로 바꿔 검색에 넣는 축소 예제입니다. 원 프레임워크의 문서 파싱과 여러 정보 형태의 연결 전체와 같지는 않습니다.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 본 질문을 이 그림에 대입해 보겠습니다. 왼쪽은 문서가 들어왔을 때 미리 준비하는 일이고, 오른쪽은 질문마다 실행하는 일입니다. 가운데를 넘어갈 때 어떤 검색 구조가 준비돼 있는지 생각하시면 됩니다.</a:t>
            </a:r>
          </a:p>
          <a:p xmlns:a="http://schemas.openxmlformats.org/drawingml/2006/main">
            <a:r>
              <a:t/>
            </a:r>
          </a:p>
          <a:p xmlns:a="http://schemas.openxmlformats.org/drawingml/2006/main">
            <a:r>
              <a:t>왼쪽 첫 단계는 ‘문서에서 글·표·그림 읽기’입니다. 그 결과를 받아 ‘요소별 종류 구분’ 작업을 하고, 이어서 ‘각 요소의 내용을 설명·정리’ 과정을 진행합니다. 그다음 ‘서로 다른 요소를 연결’ 단계까지 처리한 뒤, 마지막으로 ‘검색용 그래프와 벡터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‘질문의 내용과 형태 파악’에서 시작합니다. 그다음 ‘관련 개체와 관계 검색’, ‘관련 글·표·그림 가져오기’ 과정을 거칩니다. 이어서 ‘서로 맞는 근거끼리 모으기’ 단계에서 답에 필요한 내용을 정리하고, 마지막 ‘언어·시각 모델로 답변 작성’까지 진행합니다.</a:t>
            </a:r>
          </a:p>
          <a:p xmlns:a="http://schemas.openxmlformats.org/drawingml/2006/main">
            <a:r>
              <a:t/>
            </a:r>
          </a:p>
          <a:p xmlns:a="http://schemas.openxmlformats.org/drawingml/2006/main">
            <a:r>
              <a:t>예시 질문으로 돌아오면, 오른쪽에서 고른 근거가 답변에 필요한 연결을 담고 있는지 확인해야 합니다. 웹 실습은 이 구조의 핵심 아이디어를 보여 주는 축소 예제입니다. 실제 논문 전체와 동일한 구현이나 성능 결과로 보시면 안 됩니다.</a:t>
            </a:r>
          </a:p>
          <a:p xmlns:a="http://schemas.openxmlformats.org/drawingml/2006/main">
            <a:r>
              <a:t/>
            </a:r>
          </a:p>
          <a:p xmlns:a="http://schemas.openxmlformats.org/drawingml/2006/main">
            <a:r>
              <a:t>본문과 표를 함께 읽을 수 있는 검색까지 봤습니다. 구조를 늘리는 만큼 준비 비용과 오류도 생기겠죠. 마지막에는 ‘어떤 질문에서 이 비용을 들일 가치가 있나’를 평가하는 관점으로 정리하겠습니다.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여러 검색 구조를 봤으니 이제 우리 업무에 무엇을 도입할지 판단해야겠죠. 마지막 항목은 앞의 방법들과 성격이 다릅니다. When to Use Graphs in RAG는 ‘그래프를 언제 써야 하나’를 분석하는 평가 연구입니다. 새로운 검색 알고리즘 하나라고 기억하시면 안 됩니다.</a:t>
            </a:r>
          </a:p>
          <a:p xmlns:a="http://schemas.openxmlformats.org/drawingml/2006/main">
            <a:r>
              <a:t/>
            </a:r>
          </a:p>
          <a:p xmlns:a="http://schemas.openxmlformats.org/drawingml/2006/main">
            <a:r>
              <a:t>화면처럼 여러 질문 유형과 시스템을 같은 조건에서 비교합니다. 단순 사실을 찾는 질문과 여러 문서를 연결하는 질문, 전체를 요약하는 질문을 나눠 보는 거예요. 검색된 근거가 맞는지, 답변이 맞는지, 비용과 지연은 어떤지를 같이 봅니다.</a:t>
            </a:r>
          </a:p>
          <a:p xmlns:a="http://schemas.openxmlformats.org/drawingml/2006/main">
            <a:r>
              <a:t/>
            </a:r>
          </a:p>
          <a:p xmlns:a="http://schemas.openxmlformats.org/drawingml/2006/main">
            <a:r>
              <a:t>그래프를 만들었다고 모든 질문에서 기본 RAG보다 좋아지는 것은 아닙니다. 데이터와 질문에 따라 준비 비용을 감수할 가치가 있는지 확인해야 하죠.</a:t>
            </a:r>
          </a:p>
          <a:p xmlns:a="http://schemas.openxmlformats.org/drawingml/2006/main">
            <a:r>
              <a:t/>
            </a:r>
          </a:p>
          <a:p xmlns:a="http://schemas.openxmlformats.org/drawingml/2006/main">
            <a:r>
              <a:t>이 차이를 같은 물류 문서의 질문에 대입해 보겠습니다.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예를 들어 모델의 버전 하나를 묻는 질문은 원문 한 군데에 답이 있을 수 있습니다. 이런 경우에도 그래프 구축 비용을 쓰는 것이 나은지는 따져 봐야겠죠. 반면 중간 연결 두세 개를 모아야 하는 질문이나 전체 문서의 공통 주제를 묻는 질문은 다른 비교가 필요할 수 있습니다.</a:t>
            </a:r>
          </a:p>
          <a:p xmlns:a="http://schemas.openxmlformats.org/drawingml/2006/main">
            <a:r>
              <a:t/>
            </a:r>
          </a:p>
          <a:p xmlns:a="http://schemas.openxmlformats.org/drawingml/2006/main">
            <a:r>
              <a:t>화면에 적힌 세 질문 유형을 섞어서 평균 하나만 보면 어느 상황에서 도움이 됐는지 숨겨질 수 있습니다. 그래서 유형별로 기본 검색 대비 차이를 보고, 같은 답변 모델과 근거 길이 조건을 맞추는 것이 중요합니다.</a:t>
            </a:r>
          </a:p>
          <a:p xmlns:a="http://schemas.openxmlformats.org/drawingml/2006/main">
            <a:r>
              <a:t/>
            </a:r>
          </a:p>
          <a:p xmlns:a="http://schemas.openxmlformats.org/drawingml/2006/main">
            <a:r>
              <a:t>한 가지 더 짚겠습니다. 웹에 있는 질문별 방법 선택 기능은 따로 만든 단순 키워드 규칙입니다. 이 평가 논문이 그 router를 제안한 것은 아닙니다.</a:t>
            </a:r>
          </a:p>
          <a:p xmlns:a="http://schemas.openxmlformats.org/drawingml/2006/main">
            <a:r>
              <a:t/>
            </a:r>
          </a:p>
          <a:p xmlns:a="http://schemas.openxmlformats.org/drawingml/2006/main">
            <a:r>
              <a:t>방금 설명한 근거가 어디서 준비되고 질문 때 어떻게 선택되는지, 바로 다음 처리 그림에서 확인하겠습니다.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장에서는 어떤 질문을 나눠 평가할지 봤습니다. 이번 그림의 왼쪽은 비교 조건을 준비하는 일이고, 오른쪽은 그 조건에서 실행하고 결과를 읽는 일입니다.</a:t>
            </a:r>
          </a:p>
          <a:p xmlns:a="http://schemas.openxmlformats.org/drawingml/2006/main">
            <a:r>
              <a:t/>
            </a:r>
          </a:p>
          <a:p xmlns:a="http://schemas.openxmlformats.org/drawingml/2006/main">
            <a:r>
              <a:t>왼쪽은 비교를 준비하는 과정입니다. 문서와 질문 유형을 정하고 비교할 검색 시스템을 같은 조건으로 준비합니다. 품질과 시간, 비용을 어떤 기준으로 잴지도 먼저 정해야 합니다.</a:t>
            </a:r>
          </a:p>
          <a:p xmlns:a="http://schemas.openxmlformats.org/drawingml/2006/main">
            <a:r>
              <a:t/>
            </a:r>
          </a:p>
          <a:p xmlns:a="http://schemas.openxmlformats.org/drawingml/2006/main">
            <a:r>
              <a:t>오른쪽은 준비한 질문으로 각 시스템을 실행하는 과정입니다. 검색한 근거가 맞는지와 답변 품질을 따로 확인하고, 비용까지 나눠 기록합니다. 마지막에는 전체 평균뿐 아니라 질문 유형별로 차이를 읽습니다.</a:t>
            </a:r>
          </a:p>
          <a:p xmlns:a="http://schemas.openxmlformats.org/drawingml/2006/main">
            <a:r>
              <a:t/>
            </a:r>
          </a:p>
          <a:p xmlns:a="http://schemas.openxmlformats.org/drawingml/2006/main">
            <a:r>
              <a:t>웹의 질문별 방법 선택 기능은 별도로 만든 단순 키워드 규칙입니다. 이 평가 연구가 자동 라우터를 제안했다는 뜻은 아닙니다. 실습 수치는 축소 예제의 동작을 확인하는 데 사용해 주세요.</a:t>
            </a:r>
          </a:p>
          <a:p xmlns:a="http://schemas.openxmlformats.org/drawingml/2006/main">
            <a:r>
              <a:t/>
            </a:r>
          </a:p>
          <a:p xmlns:a="http://schemas.openxmlformats.org/drawingml/2006/main">
            <a:r>
              <a:t>이 그림은 새 검색 알고리즘의 실행 순서가 아니라 도입 가치를 비교하는 평가 순서입니다. 이제 이 관점을 우리 물류 문서에서 직접 비교할 질문 목록으로 바꿔 보겠습니다.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표에 있는 질문을 위에서부터 보겠습니다. 모델 버전처럼 한 문장에 답이 있는 질문은 기본 검색만으로 충분할 수 있습니다. 이때는 그래프를 썼는지보다 정확한 원문과 인용을 찾았는지가 먼저입니다.</a:t>
            </a:r>
          </a:p>
          <a:p xmlns:a="http://schemas.openxmlformats.org/drawingml/2006/main">
            <a:r>
              <a:t/>
            </a:r>
          </a:p>
          <a:p xmlns:a="http://schemas.openxmlformats.org/drawingml/2006/main">
            <a:r>
              <a:t>둘째 질문은 회사 이름까지 여러 연결을 따라가야 합니다. 여기서는 답 이름이 우연히 맞았는지만 보지 말고, 날씨API와 모델, 배차시스템, 회사를 잇는 중간 근거가 모두 모였는지 확인해야 합니다. 이를 supporting facts, 즉 답을 뒷받침하는 사실들이라고 부릅니다.</a:t>
            </a:r>
          </a:p>
          <a:p xmlns:a="http://schemas.openxmlformats.org/drawingml/2006/main">
            <a:r>
              <a:t/>
            </a:r>
          </a:p>
          <a:p xmlns:a="http://schemas.openxmlformats.org/drawingml/2006/main">
            <a:r>
              <a:t>셋째는 전체 요약이니 중요한 주제가 빠졌는지 봅니다. 넷째는 글과 표의 조건을 함께 해석했는지 확인하고요. 비교할 때는 같은 문서, 같은 질문, 같은 답변 모델과 비슷한 근거 길이를 맞춰 주세요. 그다음 준비 비용과 질문당 지연을 따로 기록하면 어떤 구조가 우리 업무에 맞는지 판단하기 쉽습니다.</a:t>
            </a:r>
          </a:p>
          <a:p xmlns:a="http://schemas.openxmlformats.org/drawingml/2006/main">
            <a:r>
              <a:t/>
            </a:r>
          </a:p>
          <a:p xmlns:a="http://schemas.openxmlformats.org/drawingml/2006/main">
            <a:r>
              <a:t>이 비교표를 실습의 체크리스트로 사용하시면 됩니다. 다만 원 논문을 그대로 실행한 결과와 교육용 축소 예제의 결과는 구분해야겠죠. 마지막으로 웹에서 실제로 실행되는 범위를 확인하겠습니다.</a:t>
            </a:r>
          </a:p>
          <a:p xmlns:a="http://schemas.openxmlformats.org/drawingml/2006/main">
            <a:r>
              <a:t/>
            </a:r>
          </a:p>
          <a:p xmlns:a="http://schemas.openxmlformats.org/drawingml/2006/main">
            <a:r>
              <a:t>출처</a:t>
            </a:r>
          </a:p>
          <a:p xmlns:a="http://schemas.openxmlformats.org/drawingml/2006/main">
            <a:r>
              <a:t>https://arxiv.org/abs/2506.05690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실습을 마치기 전에 실행 범위를 다시 한번 구분하겠습니다. 첫 번째 온톨로지 실습은 실제 RDF 파서와 OWL RL 규칙 엔진, SHACL 검사기를 사용합니다. 추론을 켰을 때 생긴 사실이나 관계를 지웠을 때의 오류는 실제 실행 결과입니다.</a:t>
            </a:r>
          </a:p>
          <a:p xmlns:a="http://schemas.openxmlformats.org/drawingml/2006/main">
            <a:r>
              <a:t/>
            </a:r>
          </a:p>
          <a:p xmlns:a="http://schemas.openxmlformats.org/drawingml/2006/main">
            <a:r>
              <a:t>두 번째 GraphRAG 실습은 방법의 아이디어를 작은 데이터에서 관찰하기 위한 예제입니다. 원 논문의 군집화, 질문 분해, 학습 모델이 전부 들어 있는 것은 아닙니다. 특히 GFM-RAG와 G-reasoner의 원 학습 가중치가 실행된 결과라고 보시면 안 됩니다.</a:t>
            </a:r>
          </a:p>
          <a:p xmlns:a="http://schemas.openxmlformats.org/drawingml/2006/main">
            <a:r>
              <a:t/>
            </a:r>
          </a:p>
          <a:p xmlns:a="http://schemas.openxmlformats.org/drawingml/2006/main">
            <a:r>
              <a:t>세 번째 항목의 기록은 프로그램이 만든 중간 산출물입니다. 어떤 개체를 추출했는지, 어느 문서의 점수가 높았는지, 어떤 원문을 LLM에 줬는지를 볼 수 있어요. 모델의 비공개 사고 과정을 보여 준다는 뜻은 아닙니다. 이 경계를 알고 실습하면 검색과 생성 중 어느 부분을 개선해야 할지 더 명확하게 볼 수 있습니다.</a:t>
            </a:r>
          </a:p>
          <a:p xmlns:a="http://schemas.openxmlformats.org/drawingml/2006/main">
            <a:r>
              <a:t/>
            </a:r>
          </a:p>
          <a:p xmlns:a="http://schemas.openxmlformats.org/drawingml/2006/main">
            <a:r>
              <a:t>이렇게 실행 범위를 알고 결과를 읽으면, 논문에서 제안한 부분과 내 구현에서 확인한 부분을 구분할 수 있습니다. 끝으로 처음의 업무 질문을 다시 떠올리면서 결론과 참고 자료를 정리하겠습니다.</a:t>
            </a:r>
          </a:p>
          <a:p xmlns:a="http://schemas.openxmlformats.org/drawingml/2006/main">
            <a:r>
              <a:t/>
            </a:r>
          </a:p>
          <a:p xmlns:a="http://schemas.openxmlformats.org/drawingml/2006/main">
            <a:r>
              <a:t>출처</a:t>
            </a:r>
          </a:p>
          <a:p xmlns:a="http://schemas.openxmlformats.org/drawingml/2006/main">
            <a:r>
              <a:t>https://github.com/parthsarthi03/raptor</a:t>
            </a:r>
          </a:p>
          <a:p xmlns:a="http://schemas.openxmlformats.org/drawingml/2006/main">
            <a:r>
              <a:t>https://github.com/microsoft/graphrag</a:t>
            </a:r>
          </a:p>
          <a:p xmlns:a="http://schemas.openxmlformats.org/drawingml/2006/main">
            <a:r>
              <a:t>https://github.com/HKUDS/LightRAG</a:t>
            </a:r>
          </a:p>
          <a:p xmlns:a="http://schemas.openxmlformats.org/drawingml/2006/main">
            <a:r>
              <a:t>https://github.com/OSU-NLP-Group/HippoRAG</a:t>
            </a:r>
          </a:p>
          <a:p xmlns:a="http://schemas.openxmlformats.org/drawingml/2006/main">
            <a:r>
              <a:t>https://github.com/OSU-NLP-Group/HippoRAG</a:t>
            </a:r>
          </a:p>
          <a:p xmlns:a="http://schemas.openxmlformats.org/drawingml/2006/main">
            <a:r>
              <a:t>https://github.com/sam234990/ArchRAG</a:t>
            </a:r>
          </a:p>
          <a:p xmlns:a="http://schemas.openxmlformats.org/drawingml/2006/main">
            <a:r>
              <a:t>https://github.com/DEEP-PolyU/LinearRAG</a:t>
            </a:r>
          </a:p>
          <a:p xmlns:a="http://schemas.openxmlformats.org/drawingml/2006/main">
            <a:r>
              <a:t>https://github.com/7HHHHH/AtomicRAG</a:t>
            </a:r>
          </a:p>
          <a:p xmlns:a="http://schemas.openxmlformats.org/drawingml/2006/main">
            <a:r>
              <a:t>https://github.com/HKUDS/MiniRAG</a:t>
            </a:r>
          </a:p>
          <a:p xmlns:a="http://schemas.openxmlformats.org/drawingml/2006/main">
            <a:r>
              <a:t>https://github.com/RManLuo/gfm-rag</a:t>
            </a:r>
          </a:p>
          <a:p xmlns:a="http://schemas.openxmlformats.org/drawingml/2006/main">
            <a:r>
              <a:t>https://github.com/RManLuo/gfm-rag</a:t>
            </a:r>
          </a:p>
          <a:p xmlns:a="http://schemas.openxmlformats.org/drawingml/2006/main">
            <a:r>
              <a:t>https://github.com/HKUDS/RAG-Anything</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처음 질문으로 돌아가 보겠습니다. 날씨 정보가 끊겼을 때 점검할 대상을 찾으려면, 먼저 사용과 의존의 뜻을 정하고 실제 시스템을 연결해야 했습니다. 그 연결과 원문에서 질문에 필요한 근거를 찾는 방법이 오늘 비교한 GraphRAG였습니다.</a:t>
            </a:r>
          </a:p>
          <a:p xmlns:a="http://schemas.openxmlformats.org/drawingml/2006/main">
            <a:r>
              <a:t/>
            </a:r>
          </a:p>
          <a:p xmlns:a="http://schemas.openxmlformats.org/drawingml/2006/main">
            <a:r>
              <a:t>다시 보실 때는 화면 첫 자료에서 온톨로지의 업무 관점을, 두 번째 자료에서 GraphRAG 연구 흐름을 살펴보시면 됩니다. 세부 문법과 알고리즘은 마지막 항목의 W3C 표준, 원 논문, 공식 구현에서 확인해 주세요. 출처 링크는 각 슬라이드의 발표자 노트에 넣었습니다.</a:t>
            </a:r>
          </a:p>
          <a:p xmlns:a="http://schemas.openxmlformats.org/drawingml/2006/main">
            <a:r>
              <a:t/>
            </a:r>
          </a:p>
          <a:p xmlns:a="http://schemas.openxmlformats.org/drawingml/2006/main">
            <a:r>
              <a:t>오늘 결론은 업무 의미를 정리하고, 질문에 맞는 근거를 찾고, 원문으로 확인한다는 것입니다. 질문이 있으시면 같은 물류 예제에서 어떤 대상을 저장하고 어떤 근거를 가져와야 하는지부터 함께 짚어 보겠습니다.</a:t>
            </a:r>
          </a:p>
          <a:p xmlns:a="http://schemas.openxmlformats.org/drawingml/2006/main">
            <a:r>
              <a:t/>
            </a:r>
          </a:p>
          <a:p xmlns:a="http://schemas.openxmlformats.org/drawingml/2006/main">
            <a:r>
              <a:t>출처</a:t>
            </a:r>
          </a:p>
          <a:p xmlns:a="http://schemas.openxmlformats.org/drawingml/2006/main">
            <a:r>
              <a:t>https://wikidocs.net/book/19432</a:t>
            </a:r>
          </a:p>
          <a:p xmlns:a="http://schemas.openxmlformats.org/drawingml/2006/main">
            <a:r>
              <a:t>https://wikidocs.net/book/19813</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e156241a6a144a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3b075e165fb4d9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c4156bfee86422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7254d91f51a48f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647c016b6b44a7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354a4681d144c85"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2.xml" Id="Rc3cd8d8e00af49e9"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2.xml" Id="Reb6ed4dd989a4749"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2.xml" Id="Rb9dd555de4c440f9"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2.xml" Id="R9f91e9c375c14629"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2.xml" Id="R06bef489cb2e4945"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2.xml" Id="R6a8810ec82af41fa"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3.xml" Id="Ra2aee58ce1c8456c"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3.xml" Id="R1041cf35ea55428a"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3.xml" Id="Re2f006c4a4e14747"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3.xml" Id="Re80b0cf99de44175"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3.xml" Id="R5e8f37250761441f"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3.xml" Id="Rfb98fde8a4bc408f"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4.xml" Id="R3abe97526a90410b"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4.xml" Id="R0c9e91cfa53f4299"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4.xml" Id="R1faf8d01562941ec"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4.xml" Id="R93c8699a6fb745de"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4.xml" Id="R664188ab1c0344d5"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4.xml" Id="R00294268409145e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8.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9.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0.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1.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2.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13.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14.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15.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6.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7.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8.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19.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0.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21.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22.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23.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24.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95c83f6c5f9444b" /><Relationship Type="http://schemas.openxmlformats.org/officeDocument/2006/relationships/slideLayout" Target="/ppt/slideLayouts/slideLayout1.xml" Id="R8059db4ea3674803" /><Relationship Type="http://schemas.openxmlformats.org/officeDocument/2006/relationships/slideLayout" Target="/ppt/slideLayouts/slideLayout2.xml" Id="R61a7610afd4248a6" /><Relationship Type="http://schemas.openxmlformats.org/officeDocument/2006/relationships/slideLayout" Target="/ppt/slideLayouts/slideLayout3.xml" Id="R1c9a46d464254132" /><Relationship Type="http://schemas.openxmlformats.org/officeDocument/2006/relationships/slideLayout" Target="/ppt/slideLayouts/slideLayout4.xml" Id="R3627b443ff8e4d5f" /><Relationship Type="http://schemas.openxmlformats.org/officeDocument/2006/relationships/slideLayout" Target="/ppt/slideLayouts/slideLayout5.xml" Id="Rf9ebf07c858b4797" /><Relationship Type="http://schemas.openxmlformats.org/officeDocument/2006/relationships/slideLayout" Target="/ppt/slideLayouts/slideLayout6.xml" Id="Rd8b43a2c892e4c46"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76a4a12e12e740b3" /><Relationship Type="http://schemas.openxmlformats.org/officeDocument/2006/relationships/slideLayout" Target="/ppt/slideLayouts/slideLayout7.xml" Id="R39bdd5509d2347c6" /><Relationship Type="http://schemas.openxmlformats.org/officeDocument/2006/relationships/slideLayout" Target="/ppt/slideLayouts/slideLayout8.xml" Id="R7d6d49bfdf044883" /><Relationship Type="http://schemas.openxmlformats.org/officeDocument/2006/relationships/slideLayout" Target="/ppt/slideLayouts/slideLayout9.xml" Id="R9a5fdfe0b04242aa" /><Relationship Type="http://schemas.openxmlformats.org/officeDocument/2006/relationships/slideLayout" Target="/ppt/slideLayouts/slideLayout10.xml" Id="R4cfb94a7c8fb4f4c" /><Relationship Type="http://schemas.openxmlformats.org/officeDocument/2006/relationships/slideLayout" Target="/ppt/slideLayouts/slideLayout11.xml" Id="Rfad2db33dcab4653" /><Relationship Type="http://schemas.openxmlformats.org/officeDocument/2006/relationships/slideLayout" Target="/ppt/slideLayouts/slideLayout12.xml" Id="R803f211bf7f342f1" /></Relationships>
</file>

<file path=ppt/slideMasters/_rels/slideMaster3.xml.rels>&#65279;<?xml version="1.0" encoding="utf-8"?><Relationships xmlns="http://schemas.openxmlformats.org/package/2006/relationships"><Relationship Type="http://schemas.openxmlformats.org/officeDocument/2006/relationships/theme" Target="/ppt/slideMasters/theme/theme4.xml" Id="R164bd07527be4b90" /><Relationship Type="http://schemas.openxmlformats.org/officeDocument/2006/relationships/slideLayout" Target="/ppt/slideLayouts/slideLayout13.xml" Id="R32e2272eef6844d7" /><Relationship Type="http://schemas.openxmlformats.org/officeDocument/2006/relationships/slideLayout" Target="/ppt/slideLayouts/slideLayout14.xml" Id="Re93cb2f00fd44dfc" /><Relationship Type="http://schemas.openxmlformats.org/officeDocument/2006/relationships/slideLayout" Target="/ppt/slideLayouts/slideLayout15.xml" Id="Rf688219eef0742a0" /><Relationship Type="http://schemas.openxmlformats.org/officeDocument/2006/relationships/slideLayout" Target="/ppt/slideLayouts/slideLayout16.xml" Id="R3232f53110534c24" /><Relationship Type="http://schemas.openxmlformats.org/officeDocument/2006/relationships/slideLayout" Target="/ppt/slideLayouts/slideLayout17.xml" Id="R5a26a8a345e94b7b" /><Relationship Type="http://schemas.openxmlformats.org/officeDocument/2006/relationships/slideLayout" Target="/ppt/slideLayouts/slideLayout18.xml" Id="R6266679c5f2a4de0" /></Relationships>
</file>

<file path=ppt/slideMasters/_rels/slideMaster4.xml.rels>&#65279;<?xml version="1.0" encoding="utf-8"?><Relationships xmlns="http://schemas.openxmlformats.org/package/2006/relationships"><Relationship Type="http://schemas.openxmlformats.org/officeDocument/2006/relationships/theme" Target="/ppt/slideMasters/theme/theme5.xml" Id="R562dadbd007d4782" /><Relationship Type="http://schemas.openxmlformats.org/officeDocument/2006/relationships/slideLayout" Target="/ppt/slideLayouts/slideLayout19.xml" Id="R89a9d42c01904d65" /><Relationship Type="http://schemas.openxmlformats.org/officeDocument/2006/relationships/slideLayout" Target="/ppt/slideLayouts/slideLayout20.xml" Id="R11deeea4b2b94cce" /><Relationship Type="http://schemas.openxmlformats.org/officeDocument/2006/relationships/slideLayout" Target="/ppt/slideLayouts/slideLayout21.xml" Id="R907f81d605b2431d" /><Relationship Type="http://schemas.openxmlformats.org/officeDocument/2006/relationships/slideLayout" Target="/ppt/slideLayouts/slideLayout22.xml" Id="Rc506a64ece874574" /><Relationship Type="http://schemas.openxmlformats.org/officeDocument/2006/relationships/slideLayout" Target="/ppt/slideLayouts/slideLayout23.xml" Id="R0092a8fb421e4390" /><Relationship Type="http://schemas.openxmlformats.org/officeDocument/2006/relationships/slideLayout" Target="/ppt/slideLayouts/slideLayout24.xml" Id="R5119eb34a72f446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059db4ea3674803"/>
    <p:sldLayoutId xmlns:r="http://schemas.openxmlformats.org/officeDocument/2006/relationships" id="2147483650" r:id="R61a7610afd4248a6"/>
    <p:sldLayoutId xmlns:r="http://schemas.openxmlformats.org/officeDocument/2006/relationships" id="2147483651" r:id="R1c9a46d464254132"/>
    <p:sldLayoutId xmlns:r="http://schemas.openxmlformats.org/officeDocument/2006/relationships" id="2147483652" r:id="R3627b443ff8e4d5f"/>
    <p:sldLayoutId xmlns:r="http://schemas.openxmlformats.org/officeDocument/2006/relationships" id="2147483653" r:id="Rf9ebf07c858b4797"/>
    <p:sldLayoutId xmlns:r="http://schemas.openxmlformats.org/officeDocument/2006/relationships" id="2147483654" r:id="Rd8b43a2c892e4c4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2.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6" r:id="R39bdd5509d2347c6"/>
    <p:sldLayoutId xmlns:r="http://schemas.openxmlformats.org/officeDocument/2006/relationships" id="2147483657" r:id="R7d6d49bfdf044883"/>
    <p:sldLayoutId xmlns:r="http://schemas.openxmlformats.org/officeDocument/2006/relationships" id="2147483658" r:id="R9a5fdfe0b04242aa"/>
    <p:sldLayoutId xmlns:r="http://schemas.openxmlformats.org/officeDocument/2006/relationships" id="2147483659" r:id="R4cfb94a7c8fb4f4c"/>
    <p:sldLayoutId xmlns:r="http://schemas.openxmlformats.org/officeDocument/2006/relationships" id="2147483660" r:id="Rfad2db33dcab4653"/>
    <p:sldLayoutId xmlns:r="http://schemas.openxmlformats.org/officeDocument/2006/relationships" id="2147483661" r:id="R803f211bf7f342f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3.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3" r:id="R32e2272eef6844d7"/>
    <p:sldLayoutId xmlns:r="http://schemas.openxmlformats.org/officeDocument/2006/relationships" id="2147483664" r:id="Re93cb2f00fd44dfc"/>
    <p:sldLayoutId xmlns:r="http://schemas.openxmlformats.org/officeDocument/2006/relationships" id="2147483665" r:id="Rf688219eef0742a0"/>
    <p:sldLayoutId xmlns:r="http://schemas.openxmlformats.org/officeDocument/2006/relationships" id="2147483666" r:id="R3232f53110534c24"/>
    <p:sldLayoutId xmlns:r="http://schemas.openxmlformats.org/officeDocument/2006/relationships" id="2147483667" r:id="R5a26a8a345e94b7b"/>
    <p:sldLayoutId xmlns:r="http://schemas.openxmlformats.org/officeDocument/2006/relationships" id="2147483668" r:id="R6266679c5f2a4de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4.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0" r:id="R89a9d42c01904d65"/>
    <p:sldLayoutId xmlns:r="http://schemas.openxmlformats.org/officeDocument/2006/relationships" id="2147483671" r:id="R11deeea4b2b94cce"/>
    <p:sldLayoutId xmlns:r="http://schemas.openxmlformats.org/officeDocument/2006/relationships" id="2147483672" r:id="R907f81d605b2431d"/>
    <p:sldLayoutId xmlns:r="http://schemas.openxmlformats.org/officeDocument/2006/relationships" id="2147483673" r:id="Rc506a64ece874574"/>
    <p:sldLayoutId xmlns:r="http://schemas.openxmlformats.org/officeDocument/2006/relationships" id="2147483674" r:id="R0092a8fb421e4390"/>
    <p:sldLayoutId xmlns:r="http://schemas.openxmlformats.org/officeDocument/2006/relationships" id="2147483675" r:id="R5119eb34a72f44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5.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88c91e861214ce6" /><Relationship Type="http://schemas.openxmlformats.org/officeDocument/2006/relationships/notesSlide" Target="/ppt/notesSlides/notesSlide1.xml" Id="R1637291706894e8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6c6cc3d0727460e" /><Relationship Type="http://schemas.openxmlformats.org/officeDocument/2006/relationships/notesSlide" Target="/ppt/notesSlides/notesSlide2.xml" Id="Rc231ee14075449f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16a324dd48149ba" /><Relationship Type="http://schemas.openxmlformats.org/officeDocument/2006/relationships/notesSlide" Target="/ppt/notesSlides/notesSlide3.xml" Id="Rebe2deca52b241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e1b93fed01b4420" /><Relationship Type="http://schemas.openxmlformats.org/officeDocument/2006/relationships/notesSlide" Target="/ppt/notesSlides/notesSlide4.xml" Id="R47f3ba718b6240e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496e81a87104d9e" /><Relationship Type="http://schemas.openxmlformats.org/officeDocument/2006/relationships/notesSlide" Target="/ppt/notesSlides/notesSlide5.xml" Id="Rfa2f465f5dae4f7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7c742588abb45f1" /><Relationship Type="http://schemas.openxmlformats.org/officeDocument/2006/relationships/notesSlide" Target="/ppt/notesSlides/notesSlide6.xml" Id="R6cbc0b958701489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c919a35ee5b431d" /><Relationship Type="http://schemas.openxmlformats.org/officeDocument/2006/relationships/notesSlide" Target="/ppt/notesSlides/notesSlide7.xml" Id="Rbfa7a68f832a4d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96e175e5c124756" /><Relationship Type="http://schemas.openxmlformats.org/officeDocument/2006/relationships/notesSlide" Target="/ppt/notesSlides/notesSlide8.xml" Id="Red2fd456076642a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19980504f4d4acb" /><Relationship Type="http://schemas.openxmlformats.org/officeDocument/2006/relationships/notesSlide" Target="/ppt/notesSlides/notesSlide9.xml" Id="Ra54052a14c394f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f81fa79d2aa4cea" /><Relationship Type="http://schemas.openxmlformats.org/officeDocument/2006/relationships/notesSlide" Target="/ppt/notesSlides/notesSlide10.xml" Id="R46e4afdae59b42a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9e4e0b42f1844cf" /><Relationship Type="http://schemas.openxmlformats.org/officeDocument/2006/relationships/notesSlide" Target="/ppt/notesSlides/notesSlide11.xml" Id="R37d869a6c6e9400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890f952040d488a" /><Relationship Type="http://schemas.openxmlformats.org/officeDocument/2006/relationships/notesSlide" Target="/ppt/notesSlides/notesSlide12.xml" Id="R8b67d19ca5de4bb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20bff83cf7a44db" /><Relationship Type="http://schemas.openxmlformats.org/officeDocument/2006/relationships/notesSlide" Target="/ppt/notesSlides/notesSlide13.xml" Id="R1ef2b509e09c48f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e74f1995755492e" /><Relationship Type="http://schemas.openxmlformats.org/officeDocument/2006/relationships/notesSlide" Target="/ppt/notesSlides/notesSlide14.xml" Id="Rfce439c01ef042a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468faf62dbe42a3" /><Relationship Type="http://schemas.openxmlformats.org/officeDocument/2006/relationships/notesSlide" Target="/ppt/notesSlides/notesSlide15.xml" Id="R078ae7c1d5a2469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d0198c4e3814a37" /><Relationship Type="http://schemas.openxmlformats.org/officeDocument/2006/relationships/notesSlide" Target="/ppt/notesSlides/notesSlide16.xml" Id="Rb74e13c4f769477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6dd4f7cc2de4768" /><Relationship Type="http://schemas.openxmlformats.org/officeDocument/2006/relationships/notesSlide" Target="/ppt/notesSlides/notesSlide17.xml" Id="R5a2ca9324e92444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3728d6894264858" /><Relationship Type="http://schemas.openxmlformats.org/officeDocument/2006/relationships/notesSlide" Target="/ppt/notesSlides/notesSlide18.xml" Id="R593ba39c98f8484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f591346b4bd4f33" /><Relationship Type="http://schemas.openxmlformats.org/officeDocument/2006/relationships/notesSlide" Target="/ppt/notesSlides/notesSlide19.xml" Id="Rf804ec1aa75c4df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4.xml" Id="Rd7cda851555a4ec1" /><Relationship Type="http://schemas.openxmlformats.org/officeDocument/2006/relationships/notesSlide" Target="/ppt/notesSlides/notesSlide20.xml" Id="Rc08c803c152e440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c00d045305f4e69" /><Relationship Type="http://schemas.openxmlformats.org/officeDocument/2006/relationships/notesSlide" Target="/ppt/notesSlides/notesSlide21.xml" Id="R33276c65a32b428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30178ae855b4a3e" /><Relationship Type="http://schemas.openxmlformats.org/officeDocument/2006/relationships/notesSlide" Target="/ppt/notesSlides/notesSlide22.xml" Id="Rc85c724b5313468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4.xml" Id="R91b2d09a53a24e6d" /><Relationship Type="http://schemas.openxmlformats.org/officeDocument/2006/relationships/notesSlide" Target="/ppt/notesSlides/notesSlide23.xml" Id="R0fcc1731be814f9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cad050ad5144ca5" /><Relationship Type="http://schemas.openxmlformats.org/officeDocument/2006/relationships/notesSlide" Target="/ppt/notesSlides/notesSlide24.xml" Id="Rf31b7ce2ca13427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c5f36c5a1464390" /><Relationship Type="http://schemas.openxmlformats.org/officeDocument/2006/relationships/notesSlide" Target="/ppt/notesSlides/notesSlide25.xml" Id="R5b736b50728d4bd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4.xml" Id="R8a792adaf36b4b6a" /><Relationship Type="http://schemas.openxmlformats.org/officeDocument/2006/relationships/notesSlide" Target="/ppt/notesSlides/notesSlide26.xml" Id="R3fab4360bc4d4b8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f60b51dec7747ae" /><Relationship Type="http://schemas.openxmlformats.org/officeDocument/2006/relationships/notesSlide" Target="/ppt/notesSlides/notesSlide27.xml" Id="R45700c653dea480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00f908c59b54c67" /><Relationship Type="http://schemas.openxmlformats.org/officeDocument/2006/relationships/notesSlide" Target="/ppt/notesSlides/notesSlide28.xml" Id="R06d47ee17a964f8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24.xml" Id="R361f02f510b441ca" /><Relationship Type="http://schemas.openxmlformats.org/officeDocument/2006/relationships/notesSlide" Target="/ppt/notesSlides/notesSlide29.xml" Id="R05fb61a9d8b7411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3126149728b4def" /><Relationship Type="http://schemas.openxmlformats.org/officeDocument/2006/relationships/notesSlide" Target="/ppt/notesSlides/notesSlide30.xml" Id="Rbd9575e308784eb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0a3b82dbcd564bb2" /><Relationship Type="http://schemas.openxmlformats.org/officeDocument/2006/relationships/notesSlide" Target="/ppt/notesSlides/notesSlide31.xml" Id="R659c089515a0478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1e2ca773d23474a" /><Relationship Type="http://schemas.openxmlformats.org/officeDocument/2006/relationships/notesSlide" Target="/ppt/notesSlides/notesSlide32.xml" Id="Rc3b7f9ab4fce41f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24.xml" Id="R43a299cd7c984bd4" /><Relationship Type="http://schemas.openxmlformats.org/officeDocument/2006/relationships/notesSlide" Target="/ppt/notesSlides/notesSlide33.xml" Id="R69d580eba4214a6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e00ea1a2ec84439" /><Relationship Type="http://schemas.openxmlformats.org/officeDocument/2006/relationships/notesSlide" Target="/ppt/notesSlides/notesSlide34.xml" Id="R38323d799981466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84fb7d6f1a84503" /><Relationship Type="http://schemas.openxmlformats.org/officeDocument/2006/relationships/notesSlide" Target="/ppt/notesSlides/notesSlide35.xml" Id="Re59fa8a06c6a4d7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24.xml" Id="R2cc614c92bf1415f" /><Relationship Type="http://schemas.openxmlformats.org/officeDocument/2006/relationships/notesSlide" Target="/ppt/notesSlides/notesSlide36.xml" Id="R62dfcb73a1bb44f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6d06ce17cae4d9c" /><Relationship Type="http://schemas.openxmlformats.org/officeDocument/2006/relationships/notesSlide" Target="/ppt/notesSlides/notesSlide37.xml" Id="Rfcb7dc9f70a2437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03b2f434b364f7c" /><Relationship Type="http://schemas.openxmlformats.org/officeDocument/2006/relationships/notesSlide" Target="/ppt/notesSlides/notesSlide38.xml" Id="R4404cedf2d5d477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24.xml" Id="R3f28e3f81d1347a3" /><Relationship Type="http://schemas.openxmlformats.org/officeDocument/2006/relationships/notesSlide" Target="/ppt/notesSlides/notesSlide39.xml" Id="R66e392c6578b40c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d590d30f479e4f85" /><Relationship Type="http://schemas.openxmlformats.org/officeDocument/2006/relationships/notesSlide" Target="/ppt/notesSlides/notesSlide40.xml" Id="Rdc8b90ddd1b2475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74bd4ba050194440" /><Relationship Type="http://schemas.openxmlformats.org/officeDocument/2006/relationships/notesSlide" Target="/ppt/notesSlides/notesSlide41.xml" Id="R46baa8b50c564ef2" /></Relationships>
</file>

<file path=ppt/slides/_rels/slide42.xml.rels>&#65279;<?xml version="1.0" encoding="utf-8"?><Relationships xmlns="http://schemas.openxmlformats.org/package/2006/relationships"><Relationship Type="http://schemas.openxmlformats.org/officeDocument/2006/relationships/slideLayout" Target="/ppt/slideLayouts/slideLayout24.xml" Id="R6433404c77a64336" /><Relationship Type="http://schemas.openxmlformats.org/officeDocument/2006/relationships/notesSlide" Target="/ppt/notesSlides/notesSlide42.xml" Id="R0a65500976a647e2"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166975e98624a4d" /><Relationship Type="http://schemas.openxmlformats.org/officeDocument/2006/relationships/notesSlide" Target="/ppt/notesSlides/notesSlide43.xml" Id="R2395ffc90322485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a4d1185a8d3a4149" /><Relationship Type="http://schemas.openxmlformats.org/officeDocument/2006/relationships/notesSlide" Target="/ppt/notesSlides/notesSlide44.xml" Id="R5eaab2babbbf4ad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24.xml" Id="Rb8a40bdc2ff44525" /><Relationship Type="http://schemas.openxmlformats.org/officeDocument/2006/relationships/notesSlide" Target="/ppt/notesSlides/notesSlide45.xml" Id="R4670e7ca529d4b4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75dbe111a3e54261" /><Relationship Type="http://schemas.openxmlformats.org/officeDocument/2006/relationships/notesSlide" Target="/ppt/notesSlides/notesSlide46.xml" Id="Rb5c036bb118d45b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808182f766d0437f" /><Relationship Type="http://schemas.openxmlformats.org/officeDocument/2006/relationships/notesSlide" Target="/ppt/notesSlides/notesSlide47.xml" Id="Rfb721e859c12402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24.xml" Id="Rb0f3f2e2e11a467d" /><Relationship Type="http://schemas.openxmlformats.org/officeDocument/2006/relationships/notesSlide" Target="/ppt/notesSlides/notesSlide48.xml" Id="R58b972e1aca54941"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76d05aeaa1dd4107" /><Relationship Type="http://schemas.openxmlformats.org/officeDocument/2006/relationships/notesSlide" Target="/ppt/notesSlides/notesSlide49.xml" Id="Rbde68dab919a44c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67afd397baa94227" /><Relationship Type="http://schemas.openxmlformats.org/officeDocument/2006/relationships/notesSlide" Target="/ppt/notesSlides/notesSlide50.xml" Id="Rdde07b51c32f464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24.xml" Id="R2f7f4435f4144742" /><Relationship Type="http://schemas.openxmlformats.org/officeDocument/2006/relationships/notesSlide" Target="/ppt/notesSlides/notesSlide51.xml" Id="R207b18fdc883489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b617e49927a24955" /><Relationship Type="http://schemas.openxmlformats.org/officeDocument/2006/relationships/notesSlide" Target="/ppt/notesSlides/notesSlide52.xml" Id="R85d27eed96f34c3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dd30601779704374" /><Relationship Type="http://schemas.openxmlformats.org/officeDocument/2006/relationships/notesSlide" Target="/ppt/notesSlides/notesSlide53.xml" Id="R1e1da152ed9a49f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24.xml" Id="R4ae80230cd2747b5" /><Relationship Type="http://schemas.openxmlformats.org/officeDocument/2006/relationships/notesSlide" Target="/ppt/notesSlides/notesSlide54.xml" Id="R89d9418649aa446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5999ac47dcb14dbd" /><Relationship Type="http://schemas.openxmlformats.org/officeDocument/2006/relationships/notesSlide" Target="/ppt/notesSlides/notesSlide55.xml" Id="R7083597f298f47c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a4191f69c4884ab7" /><Relationship Type="http://schemas.openxmlformats.org/officeDocument/2006/relationships/notesSlide" Target="/ppt/notesSlides/notesSlide56.xml" Id="R74b1bedcf68c42c6" /></Relationships>
</file>

<file path=ppt/slides/_rels/slide57.xml.rels>&#65279;<?xml version="1.0" encoding="utf-8"?><Relationships xmlns="http://schemas.openxmlformats.org/package/2006/relationships"><Relationship Type="http://schemas.openxmlformats.org/officeDocument/2006/relationships/slideLayout" Target="/ppt/slideLayouts/slideLayout24.xml" Id="R2e3eaaa209be456d" /><Relationship Type="http://schemas.openxmlformats.org/officeDocument/2006/relationships/notesSlide" Target="/ppt/notesSlides/notesSlide57.xml" Id="R6b8053df36d948e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7f2d0af5acc34d61" /><Relationship Type="http://schemas.openxmlformats.org/officeDocument/2006/relationships/notesSlide" Target="/ppt/notesSlides/notesSlide58.xml" Id="R644323ed356e452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aecf1a73ef22461e" /><Relationship Type="http://schemas.openxmlformats.org/officeDocument/2006/relationships/notesSlide" Target="/ppt/notesSlides/notesSlide59.xml" Id="Re83384b267b44574"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ce994dfd11e44bfc" /><Relationship Type="http://schemas.openxmlformats.org/officeDocument/2006/relationships/notesSlide" Target="/ppt/notesSlides/notesSlide60.xml" Id="Rf810d1be2441419f" /></Relationships>
</file>

<file path=ppt/slides/slide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060870-AE29-4F59-B70F-A9942F512828}"/>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TECHNICAL SEMINAR / EASY GUIDE</a:t>
            </a:r>
          </a:p>
        </p:txBody>
      </p:sp>
      <p:sp>
        <p:nvSpPr>
          <p:cNvPr id="2" name="">
            <a:extLst xmlns:a="http://schemas.openxmlformats.org/drawingml/2006/main">
              <a:ext uri="{FF2B5EF4-FFF2-40B4-BE49-F238E27FC236}">
                <a16:creationId xmlns:a16="http://schemas.microsoft.com/office/drawing/2014/main" id="{14686A0E-BEF3-43A8-8D56-EBE1EDD2F0E0}"/>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온톨로지와 GraphRAG</a:t>
            </a:r>
          </a:p>
        </p:txBody>
      </p:sp>
      <p:sp>
        <p:nvSpPr>
          <p:cNvPr id="3" name="">
            <a:extLst xmlns:a="http://schemas.openxmlformats.org/drawingml/2006/main">
              <a:ext uri="{FF2B5EF4-FFF2-40B4-BE49-F238E27FC236}">
                <a16:creationId xmlns:a16="http://schemas.microsoft.com/office/drawing/2014/main" id="{39FC783F-C2FE-4307-881B-54C03F2CE3F1}"/>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01</a:t>
            </a:r>
          </a:p>
        </p:txBody>
      </p:sp>
      <p:sp>
        <p:nvSpPr>
          <p:cNvPr id="4" name="">
            <a:extLst xmlns:a="http://schemas.openxmlformats.org/drawingml/2006/main">
              <a:ext uri="{FF2B5EF4-FFF2-40B4-BE49-F238E27FC236}">
                <a16:creationId xmlns:a16="http://schemas.microsoft.com/office/drawing/2014/main" id="{37CD9A53-79A6-4B34-B743-8BC3E3724E78}"/>
              </a:ext>
            </a:extLst>
          </p:cNvPr>
          <p:cNvSpPr>
            <a:spLocks xmlns:a="http://schemas.openxmlformats.org/drawingml/2006/main" noGrp="1"/>
          </p:cNvSpPr>
          <p:nvPr/>
        </p:nvSpPr>
        <p:spPr>
          <a:xfrm xmlns:a="http://schemas.openxmlformats.org/drawingml/2006/main">
            <a:off x="571500" y="2047875"/>
            <a:ext cx="7048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EAF5F3"/>
                </a:solidFill>
                <a:latin typeface="Noto Sans KR"/>
                <a:ea typeface="Noto Sans KR"/>
                <a:cs typeface="Noto Sans KR"/>
              </a:defRPr>
            </a:defPPr>
            <a:lvl1pPr>
              <a:buNone/>
              <a:defRPr sz="4050" b="1">
                <a:solidFill>
                  <a:srgbClr val="EAF5F3"/>
                </a:solidFill>
                <a:latin typeface="Noto Sans KR"/>
                <a:ea typeface="Noto Sans KR"/>
                <a:cs typeface="Noto Sans KR"/>
              </a:defRPr>
            </a:lvl1pPr>
            <a:lvl2pPr>
              <a:buNone/>
              <a:defRPr sz="4050" b="1">
                <a:solidFill>
                  <a:srgbClr val="EAF5F3"/>
                </a:solidFill>
                <a:latin typeface="Noto Sans KR"/>
                <a:ea typeface="Noto Sans KR"/>
                <a:cs typeface="Noto Sans KR"/>
              </a:defRPr>
            </a:lvl2pPr>
            <a:lvl3pPr>
              <a:buNone/>
              <a:defRPr sz="4050" b="1">
                <a:solidFill>
                  <a:srgbClr val="EAF5F3"/>
                </a:solidFill>
                <a:latin typeface="Noto Sans KR"/>
                <a:ea typeface="Noto Sans KR"/>
                <a:cs typeface="Noto Sans KR"/>
              </a:defRPr>
            </a:lvl3pPr>
            <a:lvl4pPr>
              <a:buNone/>
              <a:defRPr sz="4050" b="1">
                <a:solidFill>
                  <a:srgbClr val="EAF5F3"/>
                </a:solidFill>
                <a:latin typeface="Noto Sans KR"/>
                <a:ea typeface="Noto Sans KR"/>
                <a:cs typeface="Noto Sans KR"/>
              </a:defRPr>
            </a:lvl4pPr>
            <a:lvl5pPr>
              <a:buNone/>
              <a:defRPr sz="4050" b="1">
                <a:solidFill>
                  <a:srgbClr val="EAF5F3"/>
                </a:solidFill>
                <a:latin typeface="Noto Sans KR"/>
                <a:ea typeface="Noto Sans KR"/>
                <a:cs typeface="Noto Sans KR"/>
              </a:defRPr>
            </a:lvl5pPr>
            <a:lvl6pPr>
              <a:buNone/>
              <a:defRPr sz="4050" b="1">
                <a:solidFill>
                  <a:srgbClr val="EAF5F3"/>
                </a:solidFill>
                <a:latin typeface="Noto Sans KR"/>
                <a:ea typeface="Noto Sans KR"/>
                <a:cs typeface="Noto Sans KR"/>
              </a:defRPr>
            </a:lvl6pPr>
            <a:lvl7pPr>
              <a:buNone/>
              <a:defRPr sz="4050" b="1">
                <a:solidFill>
                  <a:srgbClr val="EAF5F3"/>
                </a:solidFill>
                <a:latin typeface="Noto Sans KR"/>
                <a:ea typeface="Noto Sans KR"/>
                <a:cs typeface="Noto Sans KR"/>
              </a:defRPr>
            </a:lvl7pPr>
            <a:lvl8pPr>
              <a:buNone/>
              <a:defRPr sz="4050" b="1">
                <a:solidFill>
                  <a:srgbClr val="EAF5F3"/>
                </a:solidFill>
                <a:latin typeface="Noto Sans KR"/>
                <a:ea typeface="Noto Sans KR"/>
                <a:cs typeface="Noto Sans KR"/>
              </a:defRPr>
            </a:lvl8pPr>
            <a:lvl9pPr>
              <a:buNone/>
              <a:defRPr sz="4050" b="1">
                <a:solidFill>
                  <a:srgbClr val="EAF5F3"/>
                </a:solidFill>
                <a:latin typeface="Noto Sans KR"/>
                <a:ea typeface="Noto Sans KR"/>
                <a:cs typeface="Noto Sans KR"/>
              </a:defRPr>
            </a:lvl9pPr>
          </a:lstStyle>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업무의 연결을 정리하고</a:t>
            </a:r>
          </a:p>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필요한 근거를 찾기</a:t>
            </a:r>
          </a:p>
        </p:txBody>
      </p:sp>
      <p:sp>
        <p:nvSpPr>
          <p:cNvPr id="5" name="">
            <a:extLst xmlns:a="http://schemas.openxmlformats.org/drawingml/2006/main">
              <a:ext uri="{FF2B5EF4-FFF2-40B4-BE49-F238E27FC236}">
                <a16:creationId xmlns:a16="http://schemas.microsoft.com/office/drawing/2014/main" id="{87B1EF22-DFE6-4C7F-8775-C076E22AEF3F}"/>
              </a:ext>
            </a:extLst>
          </p:cNvPr>
          <p:cNvSpPr>
            <a:spLocks xmlns:a="http://schemas.openxmlformats.org/drawingml/2006/main" noGrp="1"/>
          </p:cNvSpPr>
          <p:nvPr/>
        </p:nvSpPr>
        <p:spPr>
          <a:xfrm xmlns:a="http://schemas.openxmlformats.org/drawingml/2006/main">
            <a:off x="609600" y="4400550"/>
            <a:ext cx="7048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8DE5CA"/>
                </a:solidFill>
                <a:latin typeface="Noto Sans KR"/>
                <a:ea typeface="Noto Sans KR"/>
                <a:cs typeface="Noto Sans KR"/>
              </a:defRPr>
            </a:defPPr>
            <a:lvl1pPr>
              <a:buNone/>
              <a:defRPr sz="1800" b="0">
                <a:solidFill>
                  <a:srgbClr val="8DE5CA"/>
                </a:solidFill>
                <a:latin typeface="Noto Sans KR"/>
                <a:ea typeface="Noto Sans KR"/>
                <a:cs typeface="Noto Sans KR"/>
              </a:defRPr>
            </a:lvl1pPr>
            <a:lvl2pPr>
              <a:buNone/>
              <a:defRPr sz="1800" b="0">
                <a:solidFill>
                  <a:srgbClr val="8DE5CA"/>
                </a:solidFill>
                <a:latin typeface="Noto Sans KR"/>
                <a:ea typeface="Noto Sans KR"/>
                <a:cs typeface="Noto Sans KR"/>
              </a:defRPr>
            </a:lvl2pPr>
            <a:lvl3pPr>
              <a:buNone/>
              <a:defRPr sz="1800" b="0">
                <a:solidFill>
                  <a:srgbClr val="8DE5CA"/>
                </a:solidFill>
                <a:latin typeface="Noto Sans KR"/>
                <a:ea typeface="Noto Sans KR"/>
                <a:cs typeface="Noto Sans KR"/>
              </a:defRPr>
            </a:lvl3pPr>
            <a:lvl4pPr>
              <a:buNone/>
              <a:defRPr sz="1800" b="0">
                <a:solidFill>
                  <a:srgbClr val="8DE5CA"/>
                </a:solidFill>
                <a:latin typeface="Noto Sans KR"/>
                <a:ea typeface="Noto Sans KR"/>
                <a:cs typeface="Noto Sans KR"/>
              </a:defRPr>
            </a:lvl4pPr>
            <a:lvl5pPr>
              <a:buNone/>
              <a:defRPr sz="1800" b="0">
                <a:solidFill>
                  <a:srgbClr val="8DE5CA"/>
                </a:solidFill>
                <a:latin typeface="Noto Sans KR"/>
                <a:ea typeface="Noto Sans KR"/>
                <a:cs typeface="Noto Sans KR"/>
              </a:defRPr>
            </a:lvl5pPr>
            <a:lvl6pPr>
              <a:buNone/>
              <a:defRPr sz="1800" b="0">
                <a:solidFill>
                  <a:srgbClr val="8DE5CA"/>
                </a:solidFill>
                <a:latin typeface="Noto Sans KR"/>
                <a:ea typeface="Noto Sans KR"/>
                <a:cs typeface="Noto Sans KR"/>
              </a:defRPr>
            </a:lvl6pPr>
            <a:lvl7pPr>
              <a:buNone/>
              <a:defRPr sz="1800" b="0">
                <a:solidFill>
                  <a:srgbClr val="8DE5CA"/>
                </a:solidFill>
                <a:latin typeface="Noto Sans KR"/>
                <a:ea typeface="Noto Sans KR"/>
                <a:cs typeface="Noto Sans KR"/>
              </a:defRPr>
            </a:lvl7pPr>
            <a:lvl8pPr>
              <a:buNone/>
              <a:defRPr sz="1800" b="0">
                <a:solidFill>
                  <a:srgbClr val="8DE5CA"/>
                </a:solidFill>
                <a:latin typeface="Noto Sans KR"/>
                <a:ea typeface="Noto Sans KR"/>
                <a:cs typeface="Noto Sans KR"/>
              </a:defRPr>
            </a:lvl8pPr>
            <a:lvl9pPr>
              <a:buNone/>
              <a:defRPr sz="1800" b="0">
                <a:solidFill>
                  <a:srgbClr val="8DE5CA"/>
                </a:solidFill>
                <a:latin typeface="Noto Sans KR"/>
                <a:ea typeface="Noto Sans KR"/>
                <a:cs typeface="Noto Sans KR"/>
              </a:defRPr>
            </a:lvl9pPr>
          </a:lstStyle>
          <a:p xmlns:a="http://schemas.openxmlformats.org/drawingml/2006/main">
            <a:pPr>
              <a:buNone/>
              <a:defRPr sz="1800" b="0">
                <a:solidFill>
                  <a:srgbClr val="8DE5CA"/>
                </a:solidFill>
                <a:latin typeface="Noto Sans KR"/>
                <a:ea typeface="Noto Sans KR"/>
                <a:cs typeface="Noto Sans KR"/>
              </a:defRPr>
            </a:pPr>
            <a:r>
              <a:rPr sz="1800" b="0">
                <a:solidFill>
                  <a:srgbClr val="8DE5CA"/>
                </a:solidFill>
                <a:latin typeface="Noto Sans KR"/>
                <a:ea typeface="Noto Sans KR"/>
                <a:cs typeface="Noto Sans KR"/>
              </a:rPr>
              <a:t>하나의 예제로 이해하는 온톨로지와 GraphRAG</a:t>
            </a:r>
          </a:p>
        </p:txBody>
      </p:sp>
    </p:spTree>
    <p:extLst>
      <p:ext uri="{BB962C8B-B14F-4D97-AF65-F5344CB8AC3E}">
        <p14:creationId xmlns:p14="http://schemas.microsoft.com/office/powerpoint/2010/main" val="1147136095"/>
      </p:ext>
    </p:extLst>
  </p:cSld>
</p:sld>
</file>

<file path=ppt/slides/slide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A9DC843C-5831-45FB-B5B3-EB214F9CAF2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15C1B24-A03B-4BCC-955E-290493E5451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오늘은 무엇을 배우나요?</a:t>
            </a:r>
          </a:p>
        </p:txBody>
      </p:sp>
      <p:sp>
        <p:nvSpPr>
          <p:cNvPr id="3" name="label-0">
            <a:extLst xmlns:a="http://schemas.openxmlformats.org/drawingml/2006/main">
              <a:ext uri="{FF2B5EF4-FFF2-40B4-BE49-F238E27FC236}">
                <a16:creationId xmlns:a16="http://schemas.microsoft.com/office/drawing/2014/main" id="{5184DD82-79AF-4AB4-968E-D598D7353312}"/>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업무를 정리하기</a:t>
            </a:r>
          </a:p>
        </p:txBody>
      </p:sp>
      <p:sp>
        <p:nvSpPr>
          <p:cNvPr id="4" name="body-0">
            <a:extLst xmlns:a="http://schemas.openxmlformats.org/drawingml/2006/main">
              <a:ext uri="{FF2B5EF4-FFF2-40B4-BE49-F238E27FC236}">
                <a16:creationId xmlns:a16="http://schemas.microsoft.com/office/drawing/2014/main" id="{718661FB-6536-4605-AE9A-DBE88530ABE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대상이 있고, 무엇과 연결되는지 정의합니다.</a:t>
            </a:r>
          </a:p>
        </p:txBody>
      </p:sp>
      <p:sp>
        <p:nvSpPr>
          <p:cNvPr id="5" name="label-1">
            <a:extLst xmlns:a="http://schemas.openxmlformats.org/drawingml/2006/main">
              <a:ext uri="{FF2B5EF4-FFF2-40B4-BE49-F238E27FC236}">
                <a16:creationId xmlns:a16="http://schemas.microsoft.com/office/drawing/2014/main" id="{7E44BAEC-0B19-4576-83E4-1FEB159CF5A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직접 실행하기</a:t>
            </a:r>
          </a:p>
        </p:txBody>
      </p:sp>
      <p:sp>
        <p:nvSpPr>
          <p:cNvPr id="6" name="body-1">
            <a:extLst xmlns:a="http://schemas.openxmlformats.org/drawingml/2006/main">
              <a:ext uri="{FF2B5EF4-FFF2-40B4-BE49-F238E27FC236}">
                <a16:creationId xmlns:a16="http://schemas.microsoft.com/office/drawing/2014/main" id="{EC6B1179-9BD0-4C2C-A0B4-F3E3DA03D7C1}"/>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규칙을 켜고 끄거나 데이터를 지워 결과를 확인합니다.</a:t>
            </a:r>
          </a:p>
        </p:txBody>
      </p:sp>
      <p:sp>
        <p:nvSpPr>
          <p:cNvPr id="7" name="label-2">
            <a:extLst xmlns:a="http://schemas.openxmlformats.org/drawingml/2006/main">
              <a:ext uri="{FF2B5EF4-FFF2-40B4-BE49-F238E27FC236}">
                <a16:creationId xmlns:a16="http://schemas.microsoft.com/office/drawing/2014/main" id="{617DDE0E-3A78-43C4-9E75-5A4A77C656C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방법 비교하기</a:t>
            </a:r>
          </a:p>
        </p:txBody>
      </p:sp>
      <p:sp>
        <p:nvSpPr>
          <p:cNvPr id="8" name="body-2">
            <a:extLst xmlns:a="http://schemas.openxmlformats.org/drawingml/2006/main">
              <a:ext uri="{FF2B5EF4-FFF2-40B4-BE49-F238E27FC236}">
                <a16:creationId xmlns:a16="http://schemas.microsoft.com/office/drawing/2014/main" id="{0BC4D4D3-ED7C-4359-87A7-E01EEECCFF9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GraphRAG마다 저장하고 찾는 대상이 어떻게 다른지 봅니다.</a:t>
            </a:r>
          </a:p>
        </p:txBody>
      </p:sp>
      <p:sp>
        <p:nvSpPr>
          <p:cNvPr id="9" name="page">
            <a:extLst xmlns:a="http://schemas.openxmlformats.org/drawingml/2006/main">
              <a:ext uri="{FF2B5EF4-FFF2-40B4-BE49-F238E27FC236}">
                <a16:creationId xmlns:a16="http://schemas.microsoft.com/office/drawing/2014/main" id="{6D8330DA-419E-41FA-B84D-C7A96BE8CBA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02</a:t>
            </a:r>
          </a:p>
        </p:txBody>
      </p:sp>
      <p:sp>
        <p:nvSpPr>
          <p:cNvPr id="11" name="narrative-bridge">
            <a:extLst xmlns:a="http://schemas.openxmlformats.org/drawingml/2006/main">
              <a:ext uri="{FF2B5EF4-FFF2-40B4-BE49-F238E27FC236}">
                <a16:creationId xmlns:a16="http://schemas.microsoft.com/office/drawing/2014/main" id="{FE54DD37-FBA9-4803-9859-22B13DA3F81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공통 예제: 날씨 정보가 끊겼을 때 점검할 대상을 찾아봅니다.</a:t>
            </a:r>
          </a:p>
        </p:txBody>
      </p:sp>
    </p:spTree>
    <p:extLst>
      <p:ext uri="{BB962C8B-B14F-4D97-AF65-F5344CB8AC3E}">
        <p14:creationId xmlns:p14="http://schemas.microsoft.com/office/powerpoint/2010/main" val="35290610"/>
      </p:ext>
    </p:extLst>
  </p:cSld>
</p:sld>
</file>

<file path=ppt/slides/slide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7B60BE8A-A9DC-427B-917A-336B8241474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6C92CBE2-52D3-41CE-9907-E9E157C966E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날씨 정보가 끊기면 무엇을 확인할까요?</a:t>
            </a:r>
          </a:p>
        </p:txBody>
      </p:sp>
      <p:sp>
        <p:nvSpPr>
          <p:cNvPr id="3" name="label-0">
            <a:extLst xmlns:a="http://schemas.openxmlformats.org/drawingml/2006/main">
              <a:ext uri="{FF2B5EF4-FFF2-40B4-BE49-F238E27FC236}">
                <a16:creationId xmlns:a16="http://schemas.microsoft.com/office/drawing/2014/main" id="{25529D8C-DCCE-426D-B011-EC5A752011D0}"/>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업무 상황</a:t>
            </a:r>
          </a:p>
        </p:txBody>
      </p:sp>
      <p:sp>
        <p:nvSpPr>
          <p:cNvPr id="4" name="body-0">
            <a:extLst xmlns:a="http://schemas.openxmlformats.org/drawingml/2006/main">
              <a:ext uri="{FF2B5EF4-FFF2-40B4-BE49-F238E27FC236}">
                <a16:creationId xmlns:a16="http://schemas.microsoft.com/office/drawing/2014/main" id="{AB44D5EE-9389-4FBC-A596-D25588FEDB11}"/>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배차시스템은 도착예측모델을 쓰고, 모델은 날씨API를 씁니다.</a:t>
            </a:r>
          </a:p>
        </p:txBody>
      </p:sp>
      <p:sp>
        <p:nvSpPr>
          <p:cNvPr id="5" name="label-1">
            <a:extLst xmlns:a="http://schemas.openxmlformats.org/drawingml/2006/main">
              <a:ext uri="{FF2B5EF4-FFF2-40B4-BE49-F238E27FC236}">
                <a16:creationId xmlns:a16="http://schemas.microsoft.com/office/drawing/2014/main" id="{A0919E53-C543-4C30-845B-DFC7C967F162}"/>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찾고 싶은 답</a:t>
            </a:r>
          </a:p>
        </p:txBody>
      </p:sp>
      <p:sp>
        <p:nvSpPr>
          <p:cNvPr id="6" name="body-1">
            <a:extLst xmlns:a="http://schemas.openxmlformats.org/drawingml/2006/main">
              <a:ext uri="{FF2B5EF4-FFF2-40B4-BE49-F238E27FC236}">
                <a16:creationId xmlns:a16="http://schemas.microsoft.com/office/drawing/2014/main" id="{EAE0AED9-5CFE-4F7D-960D-F85D3499F2B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날씨API에 의존하는 시스템과 그 연결을 설명하는 문서입니다.</a:t>
            </a:r>
          </a:p>
        </p:txBody>
      </p:sp>
      <p:sp>
        <p:nvSpPr>
          <p:cNvPr id="7" name="label-2">
            <a:extLst xmlns:a="http://schemas.openxmlformats.org/drawingml/2006/main">
              <a:ext uri="{FF2B5EF4-FFF2-40B4-BE49-F238E27FC236}">
                <a16:creationId xmlns:a16="http://schemas.microsoft.com/office/drawing/2014/main" id="{875A4C50-9D2F-4688-9A6F-7EDFD842D33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연결 방식</a:t>
            </a:r>
          </a:p>
        </p:txBody>
      </p:sp>
      <p:sp>
        <p:nvSpPr>
          <p:cNvPr id="8" name="body-2">
            <a:extLst xmlns:a="http://schemas.openxmlformats.org/drawingml/2006/main">
              <a:ext uri="{FF2B5EF4-FFF2-40B4-BE49-F238E27FC236}">
                <a16:creationId xmlns:a16="http://schemas.microsoft.com/office/drawing/2014/main" id="{311050F4-9010-4120-B37C-433CCC86BDE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회사가 쓰는 시스템을 이름 문자열이 아닌 실제 개체로 연결합니다.</a:t>
            </a:r>
          </a:p>
        </p:txBody>
      </p:sp>
      <p:sp>
        <p:nvSpPr>
          <p:cNvPr id="9" name="page">
            <a:extLst xmlns:a="http://schemas.openxmlformats.org/drawingml/2006/main">
              <a:ext uri="{FF2B5EF4-FFF2-40B4-BE49-F238E27FC236}">
                <a16:creationId xmlns:a16="http://schemas.microsoft.com/office/drawing/2014/main" id="{D713C2DF-2E21-4537-920E-C9F8BC4D6251}"/>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03</a:t>
            </a:r>
          </a:p>
        </p:txBody>
      </p:sp>
      <p:sp>
        <p:nvSpPr>
          <p:cNvPr id="11" name="narrative-bridge">
            <a:extLst xmlns:a="http://schemas.openxmlformats.org/drawingml/2006/main">
              <a:ext uri="{FF2B5EF4-FFF2-40B4-BE49-F238E27FC236}">
                <a16:creationId xmlns:a16="http://schemas.microsoft.com/office/drawing/2014/main" id="{8250C935-A398-4492-97E2-CCBE2D7B3F5E}"/>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 연결을 함께 읽으려면 대상과 관계의 의미부터 맞춰야 합니다.</a:t>
            </a:r>
          </a:p>
        </p:txBody>
      </p:sp>
    </p:spTree>
    <p:extLst>
      <p:ext uri="{BB962C8B-B14F-4D97-AF65-F5344CB8AC3E}">
        <p14:creationId xmlns:p14="http://schemas.microsoft.com/office/powerpoint/2010/main" val="1531488739"/>
      </p:ext>
    </p:extLst>
  </p:cSld>
</p:sld>
</file>

<file path=ppt/slides/slide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1ED48877-2835-43F3-98FF-D5C3E62F76A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C24171B-D351-44BD-B044-F1ECF9AA76E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정보를 정리하는 네 가지 방식</a:t>
            </a:r>
          </a:p>
        </p:txBody>
      </p:sp>
      <p:graphicFrame>
        <p:nvGraphicFramePr>
          <p:cNvPr id="3" name="">
            <a:extLst xmlns:a="http://schemas.openxmlformats.org/drawingml/2006/main">
              <a:ext uri="{FF2B5EF4-FFF2-40B4-BE49-F238E27FC236}">
                <a16:creationId xmlns:a16="http://schemas.microsoft.com/office/drawing/2014/main" id="{F63CC2D5-701A-460D-9C81-5EBF4B1D7711}"/>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방식</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쉽게 말하면</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DB 스키마</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데이터를 저장할 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회사 테이블, 시스템 테이블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분류체계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종류를 나누는 기준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예측모델은 소프트웨어의 한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온톨로지</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대상·관계·규칙의 정의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사용 관계, 상위 종류, 역관계</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지식 그래프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실제 대상들이 연결된 사실</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도착예측모델에 의존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3DF35948-391E-4A9B-948A-AA166BAAF05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04</a:t>
            </a:r>
          </a:p>
        </p:txBody>
      </p:sp>
      <p:sp>
        <p:nvSpPr>
          <p:cNvPr id="6" name="narrative-bridge">
            <a:extLst xmlns:a="http://schemas.openxmlformats.org/drawingml/2006/main">
              <a:ext uri="{FF2B5EF4-FFF2-40B4-BE49-F238E27FC236}">
                <a16:creationId xmlns:a16="http://schemas.microsoft.com/office/drawing/2014/main" id="{F6B9B96C-56DB-4B02-B797-8FC5ACDFECA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온톨로지의 정의를 실제 대상과 관계로 나눠 보겠습니다.</a:t>
            </a:r>
          </a:p>
        </p:txBody>
      </p:sp>
    </p:spTree>
    <p:extLst>
      <p:ext uri="{BB962C8B-B14F-4D97-AF65-F5344CB8AC3E}">
        <p14:creationId xmlns:p14="http://schemas.microsoft.com/office/powerpoint/2010/main" val="1838804072"/>
      </p:ext>
    </p:extLst>
  </p:cSld>
</p:sld>
</file>

<file path=ppt/slides/slide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1A21BAAD-FF5A-4F93-BE3D-170C627B6EA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ED46A580-9C93-4CBA-8D3A-399378099C6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종류·실제 대상·관계·값</a:t>
            </a:r>
          </a:p>
        </p:txBody>
      </p:sp>
      <p:graphicFrame>
        <p:nvGraphicFramePr>
          <p:cNvPr id="3" name="">
            <a:extLst xmlns:a="http://schemas.openxmlformats.org/drawingml/2006/main">
              <a:ext uri="{FF2B5EF4-FFF2-40B4-BE49-F238E27FC236}">
                <a16:creationId xmlns:a16="http://schemas.microsoft.com/office/drawing/2014/main" id="{CB39C8F4-F53F-4A82-AC8B-844FC6FAAE75}"/>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용어</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뜻</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클래스 / Class</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대상의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예측모델이라는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개체 / Individual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실제 대상 하나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우리가 사용하는 도착예측모델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관계 / Object property</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대상과 대상의 연결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모델에 의존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값 / Literal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문자나 숫자</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문서 설명, 처리 시간 3초</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E562FE1D-C257-4DA8-81AC-1F45573A44D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05</a:t>
            </a:r>
          </a:p>
        </p:txBody>
      </p:sp>
      <p:sp>
        <p:nvSpPr>
          <p:cNvPr id="6" name="narrative-bridge">
            <a:extLst xmlns:a="http://schemas.openxmlformats.org/drawingml/2006/main">
              <a:ext uri="{FF2B5EF4-FFF2-40B4-BE49-F238E27FC236}">
                <a16:creationId xmlns:a16="http://schemas.microsoft.com/office/drawing/2014/main" id="{7C7363B1-238B-4A33-9B7A-07C26A444E5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 재료를 적고, 해석하고, 검사하고, 조회하는 표준이 있습니다.</a:t>
            </a:r>
          </a:p>
        </p:txBody>
      </p:sp>
    </p:spTree>
    <p:extLst>
      <p:ext uri="{BB962C8B-B14F-4D97-AF65-F5344CB8AC3E}">
        <p14:creationId xmlns:p14="http://schemas.microsoft.com/office/powerpoint/2010/main" val="1985404544"/>
      </p:ext>
    </p:extLst>
  </p:cSld>
</p:sld>
</file>

<file path=ppt/slides/slide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52ED0038-EFE3-4E29-9736-4D3201A1AC8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46492902-1FE9-49DD-940B-18EF2F19CA7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표준 이름은 역할로 기억하면 됩니다</a:t>
            </a:r>
          </a:p>
        </p:txBody>
      </p:sp>
      <p:graphicFrame>
        <p:nvGraphicFramePr>
          <p:cNvPr id="3" name="">
            <a:extLst xmlns:a="http://schemas.openxmlformats.org/drawingml/2006/main">
              <a:ext uri="{FF2B5EF4-FFF2-40B4-BE49-F238E27FC236}">
                <a16:creationId xmlns:a16="http://schemas.microsoft.com/office/drawing/2014/main" id="{53559A79-46E2-4656-878C-DB80DA3860C4}"/>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이름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담당하는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실습에서 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RDF / Turtle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사실을 표현하고 글로 적기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대상·관계·대상을 한 줄로 작성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RDFS / OWL RL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의미와 규칙으로 새 사실 도출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상위 종류·역관계·전이 관계 추가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SHACL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입력 조건 검사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필수 관계와 값의 종류 검사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SPARQL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그래프에 질문하기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조건에 맞는 시스템 목록 조회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B0DD8952-029B-4686-BA31-1ADAD99CDDD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06</a:t>
            </a:r>
          </a:p>
        </p:txBody>
      </p:sp>
      <p:sp>
        <p:nvSpPr>
          <p:cNvPr id="6" name="narrative-bridge">
            <a:extLst xmlns:a="http://schemas.openxmlformats.org/drawingml/2006/main">
              <a:ext uri="{FF2B5EF4-FFF2-40B4-BE49-F238E27FC236}">
                <a16:creationId xmlns:a16="http://schemas.microsoft.com/office/drawing/2014/main" id="{CE1781E1-5406-4E7B-B2C8-22C29D72001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이제 표준의 역할을 규칙과 실제 데이터에 대입해 보겠습니다.</a:t>
            </a:r>
          </a:p>
        </p:txBody>
      </p:sp>
    </p:spTree>
    <p:extLst>
      <p:ext uri="{BB962C8B-B14F-4D97-AF65-F5344CB8AC3E}">
        <p14:creationId xmlns:p14="http://schemas.microsoft.com/office/powerpoint/2010/main" val="2002466008"/>
      </p:ext>
    </p:extLst>
  </p:cSld>
</p:sld>
</file>

<file path=ppt/slides/slide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C880608D-47D5-4DCC-8451-A498BF69E12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8DD2E572-0433-47BA-B7BD-D4F9E88912D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규칙과 실제 데이터를 나눠 보겠습니다</a:t>
            </a:r>
          </a:p>
        </p:txBody>
      </p:sp>
      <p:sp>
        <p:nvSpPr>
          <p:cNvPr id="3" name="lead">
            <a:extLst xmlns:a="http://schemas.openxmlformats.org/drawingml/2006/main">
              <a:ext uri="{FF2B5EF4-FFF2-40B4-BE49-F238E27FC236}">
                <a16:creationId xmlns:a16="http://schemas.microsoft.com/office/drawing/2014/main" id="{7AC1DD6B-19A2-4583-8A06-C230094AB05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기술 용어로는 규칙 쪽을 TBox, 개체 사실 쪽을 ABox라고 부릅니다</a:t>
            </a:r>
          </a:p>
        </p:txBody>
      </p:sp>
      <p:sp>
        <p:nvSpPr>
          <p:cNvPr id="4" name="code-label-0">
            <a:extLst xmlns:a="http://schemas.openxmlformats.org/drawingml/2006/main">
              <a:ext uri="{FF2B5EF4-FFF2-40B4-BE49-F238E27FC236}">
                <a16:creationId xmlns:a16="http://schemas.microsoft.com/office/drawing/2014/main" id="{815AE0DC-C30B-416D-BD21-D91AB4F0D435}"/>
              </a:ext>
            </a:extLst>
          </p:cNvPr>
          <p:cNvSpPr>
            <a:spLocks xmlns:a="http://schemas.openxmlformats.org/drawingml/2006/main" noGrp="1"/>
          </p:cNvSpPr>
          <p:nvPr/>
        </p:nvSpPr>
        <p:spPr>
          <a:xfrm xmlns:a="http://schemas.openxmlformats.org/drawingml/2006/main">
            <a:off x="609600" y="2219325"/>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규칙: 의미 모델</a:t>
            </a:r>
          </a:p>
        </p:txBody>
      </p:sp>
      <p:sp>
        <p:nvSpPr>
          <p:cNvPr id="5" name="code-0">
            <a:extLst xmlns:a="http://schemas.openxmlformats.org/drawingml/2006/main">
              <a:ext uri="{FF2B5EF4-FFF2-40B4-BE49-F238E27FC236}">
                <a16:creationId xmlns:a16="http://schemas.microsoft.com/office/drawing/2014/main" id="{FA98369B-269E-4975-9FDE-FDD77B00A975}"/>
              </a:ext>
            </a:extLst>
          </p:cNvPr>
          <p:cNvSpPr>
            <a:spLocks xmlns:a="http://schemas.openxmlformats.org/drawingml/2006/main" noGrp="1"/>
          </p:cNvSpPr>
          <p:nvPr/>
        </p:nvSpPr>
        <p:spPr>
          <a:xfrm xmlns:a="http://schemas.openxmlformats.org/drawingml/2006/main">
            <a:off x="609600" y="2828925"/>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예측모델은 소프트웨어의 한 종류입니다.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사용한다와 사용된다는 반대 방향입니다.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의존 관계는 여러 단계를 이어서 해석합니다.</a:t>
            </a:r>
          </a:p>
        </p:txBody>
      </p:sp>
      <p:sp>
        <p:nvSpPr>
          <p:cNvPr id="6" name="code-label-1">
            <a:extLst xmlns:a="http://schemas.openxmlformats.org/drawingml/2006/main">
              <a:ext uri="{FF2B5EF4-FFF2-40B4-BE49-F238E27FC236}">
                <a16:creationId xmlns:a16="http://schemas.microsoft.com/office/drawing/2014/main" id="{5439F2A0-8EE5-4DA3-A926-731DC068456E}"/>
              </a:ext>
            </a:extLst>
          </p:cNvPr>
          <p:cNvSpPr>
            <a:spLocks xmlns:a="http://schemas.openxmlformats.org/drawingml/2006/main" noGrp="1"/>
          </p:cNvSpPr>
          <p:nvPr/>
        </p:nvSpPr>
        <p:spPr>
          <a:xfrm xmlns:a="http://schemas.openxmlformats.org/drawingml/2006/main">
            <a:off x="6210300" y="2219325"/>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사실: 이번 회사의 데이터</a:t>
            </a:r>
          </a:p>
        </p:txBody>
      </p:sp>
      <p:sp>
        <p:nvSpPr>
          <p:cNvPr id="7" name="code-1">
            <a:extLst xmlns:a="http://schemas.openxmlformats.org/drawingml/2006/main">
              <a:ext uri="{FF2B5EF4-FFF2-40B4-BE49-F238E27FC236}">
                <a16:creationId xmlns:a16="http://schemas.microsoft.com/office/drawing/2014/main" id="{FD51998E-6595-429A-815F-C9299B74DC9C}"/>
              </a:ext>
            </a:extLst>
          </p:cNvPr>
          <p:cNvSpPr>
            <a:spLocks xmlns:a="http://schemas.openxmlformats.org/drawingml/2006/main" noGrp="1"/>
          </p:cNvSpPr>
          <p:nvPr/>
        </p:nvSpPr>
        <p:spPr>
          <a:xfrm xmlns:a="http://schemas.openxmlformats.org/drawingml/2006/main">
            <a:off x="6210300" y="2828925"/>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물류사가 배차시스템을 사용합니다.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배차시스템은 도착예측모델에 의존합니다.</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도착예측모델은 날씨API에 의존합니다.</a:t>
            </a:r>
          </a:p>
        </p:txBody>
      </p:sp>
      <p:sp>
        <p:nvSpPr>
          <p:cNvPr id="8" name="page">
            <a:extLst xmlns:a="http://schemas.openxmlformats.org/drawingml/2006/main">
              <a:ext uri="{FF2B5EF4-FFF2-40B4-BE49-F238E27FC236}">
                <a16:creationId xmlns:a16="http://schemas.microsoft.com/office/drawing/2014/main" id="{C325DF9B-0CE8-4C33-B3B4-6FC715CF745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07</a:t>
            </a:r>
          </a:p>
        </p:txBody>
      </p:sp>
      <p:sp>
        <p:nvSpPr>
          <p:cNvPr id="10" name="narrative-bridge">
            <a:extLst xmlns:a="http://schemas.openxmlformats.org/drawingml/2006/main">
              <a:ext uri="{FF2B5EF4-FFF2-40B4-BE49-F238E27FC236}">
                <a16:creationId xmlns:a16="http://schemas.microsoft.com/office/drawing/2014/main" id="{F64C6F7D-63E8-4202-B15F-DED8F4452046}"/>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정의한 규칙을 실제 데이터에 적용하면 새 사실이 생깁니다.</a:t>
            </a:r>
          </a:p>
        </p:txBody>
      </p:sp>
    </p:spTree>
    <p:extLst>
      <p:ext uri="{BB962C8B-B14F-4D97-AF65-F5344CB8AC3E}">
        <p14:creationId xmlns:p14="http://schemas.microsoft.com/office/powerpoint/2010/main" val="397915949"/>
      </p:ext>
    </p:extLst>
  </p:cSld>
</p:sld>
</file>

<file path=ppt/slides/slide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E4C7E586-D120-49E4-BF94-1EB9FD98C42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708FD0E1-1823-4BAC-B127-BC5DCFED608C}"/>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이미 아는 사실로 새 사실을 얻습니다</a:t>
            </a:r>
          </a:p>
        </p:txBody>
      </p:sp>
      <p:graphicFrame>
        <p:nvGraphicFramePr>
          <p:cNvPr id="3" name="">
            <a:extLst xmlns:a="http://schemas.openxmlformats.org/drawingml/2006/main">
              <a:ext uri="{FF2B5EF4-FFF2-40B4-BE49-F238E27FC236}">
                <a16:creationId xmlns:a16="http://schemas.microsoft.com/office/drawing/2014/main" id="{877B8B83-A360-42A3-8450-103B9D025157}"/>
              </a:ext>
            </a:extLst>
          </p:cNvPr>
          <p:cNvGraphicFramePr/>
          <p:nvPr/>
        </p:nvGraphicFramePr>
        <p:xfrm>
          <a:off xmlns:a="http://schemas.openxmlformats.org/drawingml/2006/main" x="609600" y="1866900"/>
          <a:ext xmlns:a="http://schemas.openxmlformats.org/drawingml/2006/main" cx="10972800" cy="185737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규칙</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이미 기록한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추가로 알 수 있는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상위 종류 포함</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도착예측모델은 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도착예측모델은 소프트웨어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관계 방향 뒤집기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물류사가 배차시스템을 사용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물류사에 의해 사용됨</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2033C6F9-15E9-4AD5-9712-36D5D1EDC13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08</a:t>
            </a:r>
          </a:p>
        </p:txBody>
      </p:sp>
      <p:sp>
        <p:nvSpPr>
          <p:cNvPr id="6" name="narrative-bridge">
            <a:extLst xmlns:a="http://schemas.openxmlformats.org/drawingml/2006/main">
              <a:ext uri="{FF2B5EF4-FFF2-40B4-BE49-F238E27FC236}">
                <a16:creationId xmlns:a16="http://schemas.microsoft.com/office/drawing/2014/main" id="{E4AEEDF3-729F-4462-8C84-E35DDE1154E3}"/>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종류와 방향을 확장했으니, 이번에는 여러 단계의 연결을 봅니다.</a:t>
            </a:r>
          </a:p>
        </p:txBody>
      </p:sp>
    </p:spTree>
    <p:extLst>
      <p:ext uri="{BB962C8B-B14F-4D97-AF65-F5344CB8AC3E}">
        <p14:creationId xmlns:p14="http://schemas.microsoft.com/office/powerpoint/2010/main" val="1044017853"/>
      </p:ext>
    </p:extLst>
  </p:cSld>
</p:sld>
</file>

<file path=ppt/slides/slide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48DB453D-90D9-4F02-860F-7BB0021B77D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5990A5EB-2363-4A3F-9BE2-8C53D0E01E0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직접 연결되지 않은 대상도 찾습니다</a:t>
            </a:r>
          </a:p>
        </p:txBody>
      </p:sp>
      <p:sp>
        <p:nvSpPr>
          <p:cNvPr id="3" name="label-0">
            <a:extLst xmlns:a="http://schemas.openxmlformats.org/drawingml/2006/main">
              <a:ext uri="{FF2B5EF4-FFF2-40B4-BE49-F238E27FC236}">
                <a16:creationId xmlns:a16="http://schemas.microsoft.com/office/drawing/2014/main" id="{5B7261BB-2EA3-468F-BCC4-B2F4936C232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기록한 연결</a:t>
            </a:r>
          </a:p>
        </p:txBody>
      </p:sp>
      <p:sp>
        <p:nvSpPr>
          <p:cNvPr id="4" name="body-0">
            <a:extLst xmlns:a="http://schemas.openxmlformats.org/drawingml/2006/main">
              <a:ext uri="{FF2B5EF4-FFF2-40B4-BE49-F238E27FC236}">
                <a16:creationId xmlns:a16="http://schemas.microsoft.com/office/drawing/2014/main" id="{7549F19E-AD73-469B-AD41-1B726E845B82}"/>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배차시스템이 모델에 의존하고, 모델이 날씨API에 의존합니다.</a:t>
            </a:r>
          </a:p>
        </p:txBody>
      </p:sp>
      <p:sp>
        <p:nvSpPr>
          <p:cNvPr id="5" name="label-1">
            <a:extLst xmlns:a="http://schemas.openxmlformats.org/drawingml/2006/main">
              <a:ext uri="{FF2B5EF4-FFF2-40B4-BE49-F238E27FC236}">
                <a16:creationId xmlns:a16="http://schemas.microsoft.com/office/drawing/2014/main" id="{226A0734-7763-4BFA-A696-9A00D9D6605D}"/>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적용한 규칙</a:t>
            </a:r>
          </a:p>
        </p:txBody>
      </p:sp>
      <p:sp>
        <p:nvSpPr>
          <p:cNvPr id="6" name="body-1">
            <a:extLst xmlns:a="http://schemas.openxmlformats.org/drawingml/2006/main">
              <a:ext uri="{FF2B5EF4-FFF2-40B4-BE49-F238E27FC236}">
                <a16:creationId xmlns:a16="http://schemas.microsoft.com/office/drawing/2014/main" id="{FC0EFD65-810E-47A9-AB64-A2BA4EFCA0EB}"/>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이번 예제의 의존 관계는 여러 단계를 이어서 해석합니다.</a:t>
            </a:r>
          </a:p>
        </p:txBody>
      </p:sp>
      <p:sp>
        <p:nvSpPr>
          <p:cNvPr id="7" name="label-2">
            <a:extLst xmlns:a="http://schemas.openxmlformats.org/drawingml/2006/main">
              <a:ext uri="{FF2B5EF4-FFF2-40B4-BE49-F238E27FC236}">
                <a16:creationId xmlns:a16="http://schemas.microsoft.com/office/drawing/2014/main" id="{69FDE634-1368-4313-A5C1-B292CD6298B8}"/>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조회 결과</a:t>
            </a:r>
          </a:p>
        </p:txBody>
      </p:sp>
      <p:sp>
        <p:nvSpPr>
          <p:cNvPr id="8" name="body-2">
            <a:extLst xmlns:a="http://schemas.openxmlformats.org/drawingml/2006/main">
              <a:ext uri="{FF2B5EF4-FFF2-40B4-BE49-F238E27FC236}">
                <a16:creationId xmlns:a16="http://schemas.microsoft.com/office/drawing/2014/main" id="{5FF184A5-6BF5-417D-AEEE-016EA133E34B}"/>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날씨API를 직접 쓰는 모델과 간접 의존하는 배차시스템이 나옵니다.</a:t>
            </a:r>
          </a:p>
        </p:txBody>
      </p:sp>
      <p:sp>
        <p:nvSpPr>
          <p:cNvPr id="9" name="page">
            <a:extLst xmlns:a="http://schemas.openxmlformats.org/drawingml/2006/main">
              <a:ext uri="{FF2B5EF4-FFF2-40B4-BE49-F238E27FC236}">
                <a16:creationId xmlns:a16="http://schemas.microsoft.com/office/drawing/2014/main" id="{D90964D2-778A-4299-80F2-CED92F059EF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09</a:t>
            </a:r>
          </a:p>
        </p:txBody>
      </p:sp>
      <p:sp>
        <p:nvSpPr>
          <p:cNvPr id="11" name="narrative-bridge">
            <a:extLst xmlns:a="http://schemas.openxmlformats.org/drawingml/2006/main">
              <a:ext uri="{FF2B5EF4-FFF2-40B4-BE49-F238E27FC236}">
                <a16:creationId xmlns:a16="http://schemas.microsoft.com/office/drawing/2014/main" id="{743A6BFA-1FE3-4C61-9EF8-6DDBC597E73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관계를 이어 읽는 규칙에 더해, 관계로 종류를 알아낼 수도 있습니다.</a:t>
            </a:r>
          </a:p>
        </p:txBody>
      </p:sp>
    </p:spTree>
    <p:extLst>
      <p:ext uri="{BB962C8B-B14F-4D97-AF65-F5344CB8AC3E}">
        <p14:creationId xmlns:p14="http://schemas.microsoft.com/office/powerpoint/2010/main" val="1936930229"/>
      </p:ext>
    </p:extLst>
  </p:cSld>
</p:sld>
</file>

<file path=ppt/slides/slide1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534EB52-8380-44DE-B4D5-10710C14BCE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DE344F70-2F87-42C4-9FA1-743148AB06B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domain과 range는 종류를 붙여 줍니다</a:t>
            </a:r>
          </a:p>
        </p:txBody>
      </p:sp>
      <p:sp>
        <p:nvSpPr>
          <p:cNvPr id="3" name="label-0">
            <a:extLst xmlns:a="http://schemas.openxmlformats.org/drawingml/2006/main">
              <a:ext uri="{FF2B5EF4-FFF2-40B4-BE49-F238E27FC236}">
                <a16:creationId xmlns:a16="http://schemas.microsoft.com/office/drawing/2014/main" id="{164FF249-CC76-4778-9562-5DA997871BC7}"/>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domain / 주어의 종류</a:t>
            </a:r>
          </a:p>
        </p:txBody>
      </p:sp>
      <p:sp>
        <p:nvSpPr>
          <p:cNvPr id="4" name="body-0">
            <a:extLst xmlns:a="http://schemas.openxmlformats.org/drawingml/2006/main">
              <a:ext uri="{FF2B5EF4-FFF2-40B4-BE49-F238E27FC236}">
                <a16:creationId xmlns:a16="http://schemas.microsoft.com/office/drawing/2014/main" id="{79EF37F0-BA37-41D9-9CED-A953241FD530}"/>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uses 관계의 주어를 회사로 해석합니다.</a:t>
            </a:r>
          </a:p>
        </p:txBody>
      </p:sp>
      <p:sp>
        <p:nvSpPr>
          <p:cNvPr id="5" name="label-1">
            <a:extLst xmlns:a="http://schemas.openxmlformats.org/drawingml/2006/main">
              <a:ext uri="{FF2B5EF4-FFF2-40B4-BE49-F238E27FC236}">
                <a16:creationId xmlns:a16="http://schemas.microsoft.com/office/drawing/2014/main" id="{CF8462D7-821B-435B-B6D1-DC2CC24C7AD5}"/>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range / 목적어의 종류</a:t>
            </a:r>
          </a:p>
        </p:txBody>
      </p:sp>
      <p:sp>
        <p:nvSpPr>
          <p:cNvPr id="6" name="body-1">
            <a:extLst xmlns:a="http://schemas.openxmlformats.org/drawingml/2006/main">
              <a:ext uri="{FF2B5EF4-FFF2-40B4-BE49-F238E27FC236}">
                <a16:creationId xmlns:a16="http://schemas.microsoft.com/office/drawing/2014/main" id="{14959E32-890E-49FC-B261-5C319781C01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uses 관계의 목적어를 소프트웨어로 해석합니다.</a:t>
            </a:r>
          </a:p>
        </p:txBody>
      </p:sp>
      <p:sp>
        <p:nvSpPr>
          <p:cNvPr id="7" name="label-2">
            <a:extLst xmlns:a="http://schemas.openxmlformats.org/drawingml/2006/main">
              <a:ext uri="{FF2B5EF4-FFF2-40B4-BE49-F238E27FC236}">
                <a16:creationId xmlns:a16="http://schemas.microsoft.com/office/drawing/2014/main" id="{8C6539B0-6404-4EA4-ABEF-E23826F2519A}"/>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실제 동작</a:t>
            </a:r>
          </a:p>
        </p:txBody>
      </p:sp>
      <p:sp>
        <p:nvSpPr>
          <p:cNvPr id="8" name="body-2">
            <a:extLst xmlns:a="http://schemas.openxmlformats.org/drawingml/2006/main">
              <a:ext uri="{FF2B5EF4-FFF2-40B4-BE49-F238E27FC236}">
                <a16:creationId xmlns:a16="http://schemas.microsoft.com/office/drawing/2014/main" id="{CCF1FB6F-B7F2-4035-AB77-A244110C0E5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종류를 적지 않은 대상에 타입을 추가합니다. 입력을 거절하는 검사는 별도입니다.</a:t>
            </a:r>
          </a:p>
        </p:txBody>
      </p:sp>
      <p:sp>
        <p:nvSpPr>
          <p:cNvPr id="9" name="page">
            <a:extLst xmlns:a="http://schemas.openxmlformats.org/drawingml/2006/main">
              <a:ext uri="{FF2B5EF4-FFF2-40B4-BE49-F238E27FC236}">
                <a16:creationId xmlns:a16="http://schemas.microsoft.com/office/drawing/2014/main" id="{4E9EC887-7CE9-4B45-AE31-8BA1F32591E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10</a:t>
            </a:r>
          </a:p>
        </p:txBody>
      </p:sp>
      <p:sp>
        <p:nvSpPr>
          <p:cNvPr id="11" name="narrative-bridge">
            <a:extLst xmlns:a="http://schemas.openxmlformats.org/drawingml/2006/main">
              <a:ext uri="{FF2B5EF4-FFF2-40B4-BE49-F238E27FC236}">
                <a16:creationId xmlns:a16="http://schemas.microsoft.com/office/drawing/2014/main" id="{8E1BF345-8A07-429C-97F4-655161E2B4B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종류를 알아내는 규칙과 입력 오류를 검사하는 조건을 구분합니다.</a:t>
            </a:r>
          </a:p>
        </p:txBody>
      </p:sp>
    </p:spTree>
    <p:extLst>
      <p:ext uri="{BB962C8B-B14F-4D97-AF65-F5344CB8AC3E}">
        <p14:creationId xmlns:p14="http://schemas.microsoft.com/office/powerpoint/2010/main" val="578858719"/>
      </p:ext>
    </p:extLst>
  </p:cSld>
</p:sld>
</file>

<file path=ppt/slides/slide1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EEEF4F4E-D06B-4DB9-AFB4-C10354FBD4F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4E4494EB-76F4-4CD5-B774-E3649BD1C29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모르는 것과 잘못 입력한 것을 구분합니다</a:t>
            </a:r>
          </a:p>
        </p:txBody>
      </p:sp>
      <p:sp>
        <p:nvSpPr>
          <p:cNvPr id="3" name="label-0">
            <a:extLst xmlns:a="http://schemas.openxmlformats.org/drawingml/2006/main">
              <a:ext uri="{FF2B5EF4-FFF2-40B4-BE49-F238E27FC236}">
                <a16:creationId xmlns:a16="http://schemas.microsoft.com/office/drawing/2014/main" id="{B39A3B55-4891-415E-A3C6-C7A3EF880BE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기록이 없을 때</a:t>
            </a:r>
          </a:p>
        </p:txBody>
      </p:sp>
      <p:sp>
        <p:nvSpPr>
          <p:cNvPr id="4" name="body-0">
            <a:extLst xmlns:a="http://schemas.openxmlformats.org/drawingml/2006/main">
              <a:ext uri="{FF2B5EF4-FFF2-40B4-BE49-F238E27FC236}">
                <a16:creationId xmlns:a16="http://schemas.microsoft.com/office/drawing/2014/main" id="{CE0AC153-F3B5-4551-995D-9BBB25F976D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OWL은 아직 모르는 정보일 수 있다고 봅니다.</a:t>
            </a:r>
          </a:p>
        </p:txBody>
      </p:sp>
      <p:sp>
        <p:nvSpPr>
          <p:cNvPr id="5" name="label-1">
            <a:extLst xmlns:a="http://schemas.openxmlformats.org/drawingml/2006/main">
              <a:ext uri="{FF2B5EF4-FFF2-40B4-BE49-F238E27FC236}">
                <a16:creationId xmlns:a16="http://schemas.microsoft.com/office/drawing/2014/main" id="{F85A1935-ACD5-49EA-969D-F37BA47F197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필수 입력을 검사할 때</a:t>
            </a:r>
          </a:p>
        </p:txBody>
      </p:sp>
      <p:sp>
        <p:nvSpPr>
          <p:cNvPr id="6" name="body-1">
            <a:extLst xmlns:a="http://schemas.openxmlformats.org/drawingml/2006/main">
              <a:ext uri="{FF2B5EF4-FFF2-40B4-BE49-F238E27FC236}">
                <a16:creationId xmlns:a16="http://schemas.microsoft.com/office/drawing/2014/main" id="{D9AF9A5E-53D1-493C-BDFE-A1D600CEE88C}"/>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SHACL은 현재 데이터에 필요한 값이 있는지 확인합니다.</a:t>
            </a:r>
          </a:p>
        </p:txBody>
      </p:sp>
      <p:sp>
        <p:nvSpPr>
          <p:cNvPr id="7" name="label-2">
            <a:extLst xmlns:a="http://schemas.openxmlformats.org/drawingml/2006/main">
              <a:ext uri="{FF2B5EF4-FFF2-40B4-BE49-F238E27FC236}">
                <a16:creationId xmlns:a16="http://schemas.microsoft.com/office/drawing/2014/main" id="{099742B4-E9D1-444E-82C8-711A1133581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실습에서 비교할 것</a:t>
            </a:r>
          </a:p>
        </p:txBody>
      </p:sp>
      <p:sp>
        <p:nvSpPr>
          <p:cNvPr id="8" name="body-2">
            <a:extLst xmlns:a="http://schemas.openxmlformats.org/drawingml/2006/main">
              <a:ext uri="{FF2B5EF4-FFF2-40B4-BE49-F238E27FC236}">
                <a16:creationId xmlns:a16="http://schemas.microsoft.com/office/drawing/2014/main" id="{2606B5BD-0F5C-4FDC-B6E0-CE7CCA02123B}"/>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추론 전후의 조회 결과와 검증 결과를 함께 봅니다.</a:t>
            </a:r>
          </a:p>
        </p:txBody>
      </p:sp>
      <p:sp>
        <p:nvSpPr>
          <p:cNvPr id="9" name="page">
            <a:extLst xmlns:a="http://schemas.openxmlformats.org/drawingml/2006/main">
              <a:ext uri="{FF2B5EF4-FFF2-40B4-BE49-F238E27FC236}">
                <a16:creationId xmlns:a16="http://schemas.microsoft.com/office/drawing/2014/main" id="{134EA934-B03B-4CD7-AAC1-7E45D5B8C02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11</a:t>
            </a:r>
          </a:p>
        </p:txBody>
      </p:sp>
      <p:sp>
        <p:nvSpPr>
          <p:cNvPr id="11" name="narrative-bridge">
            <a:extLst xmlns:a="http://schemas.openxmlformats.org/drawingml/2006/main">
              <a:ext uri="{FF2B5EF4-FFF2-40B4-BE49-F238E27FC236}">
                <a16:creationId xmlns:a16="http://schemas.microsoft.com/office/drawing/2014/main" id="{18D8B464-6E03-440D-BFB0-FE8895DE9108}"/>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필수 관계가 빠졌을 때 SHACL 보고서가 어떻게 나오는지 봅니다.</a:t>
            </a:r>
          </a:p>
        </p:txBody>
      </p:sp>
    </p:spTree>
    <p:extLst>
      <p:ext uri="{BB962C8B-B14F-4D97-AF65-F5344CB8AC3E}">
        <p14:creationId xmlns:p14="http://schemas.microsoft.com/office/powerpoint/2010/main" val="1384246022"/>
      </p:ext>
    </p:extLst>
  </p:cSld>
</p:sld>
</file>

<file path=ppt/slides/slide1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25FD97B8-11B0-4676-8C5F-46D039E6381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2DD6284-695F-4B6B-8C00-83B801647D40}"/>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오류 보고서는 이 세 곳을 보면 됩니다</a:t>
            </a:r>
          </a:p>
        </p:txBody>
      </p:sp>
      <p:graphicFrame>
        <p:nvGraphicFramePr>
          <p:cNvPr id="3" name="">
            <a:extLst xmlns:a="http://schemas.openxmlformats.org/drawingml/2006/main">
              <a:ext uri="{FF2B5EF4-FFF2-40B4-BE49-F238E27FC236}">
                <a16:creationId xmlns:a16="http://schemas.microsoft.com/office/drawing/2014/main" id="{17029513-E703-4A76-B966-AC6A88A0888D}"/>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보고서 항목</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뜻</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이번 오류</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focusNode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어느 대상의 문제인가?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resultPath</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어느 관계를 검사했나?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 / 사용 시스템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constraint</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어떤 조건을 어겼나?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하나 이상 있어야 하는데 없음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수정 방법</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무엇을 복구해야 하나?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물류사의 uses 관계</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C9077A2-53E5-4486-98D8-BEB76FD2F02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12</a:t>
            </a:r>
          </a:p>
        </p:txBody>
      </p:sp>
      <p:sp>
        <p:nvSpPr>
          <p:cNvPr id="6" name="narrative-bridge">
            <a:extLst xmlns:a="http://schemas.openxmlformats.org/drawingml/2006/main">
              <a:ext uri="{FF2B5EF4-FFF2-40B4-BE49-F238E27FC236}">
                <a16:creationId xmlns:a16="http://schemas.microsoft.com/office/drawing/2014/main" id="{A2D38E22-23D6-4BFF-9650-B2FEC9F15FB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입력을 고쳤다면, 연결을 조회하고 그 근거 문서까지 확인합니다.</a:t>
            </a:r>
          </a:p>
        </p:txBody>
      </p:sp>
    </p:spTree>
    <p:extLst>
      <p:ext uri="{BB962C8B-B14F-4D97-AF65-F5344CB8AC3E}">
        <p14:creationId xmlns:p14="http://schemas.microsoft.com/office/powerpoint/2010/main" val="1925440516"/>
      </p:ext>
    </p:extLst>
  </p:cSld>
</p:sld>
</file>

<file path=ppt/slides/slide1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B6867EFD-BD54-4137-854C-B2319AC4E19E}"/>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A9077F7-8398-428B-A238-8C228B6431A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찾은 대상에서 원문까지 확인합니다</a:t>
            </a:r>
          </a:p>
        </p:txBody>
      </p:sp>
      <p:sp>
        <p:nvSpPr>
          <p:cNvPr id="3" name="code-label-0">
            <a:extLst xmlns:a="http://schemas.openxmlformats.org/drawingml/2006/main">
              <a:ext uri="{FF2B5EF4-FFF2-40B4-BE49-F238E27FC236}">
                <a16:creationId xmlns:a16="http://schemas.microsoft.com/office/drawing/2014/main" id="{46930975-AF17-4686-B7CC-BE4F7190E9F3}"/>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① 날씨API 의존 시스템 조회</a:t>
            </a:r>
          </a:p>
        </p:txBody>
      </p:sp>
      <p:sp>
        <p:nvSpPr>
          <p:cNvPr id="4" name="code-0">
            <a:extLst xmlns:a="http://schemas.openxmlformats.org/drawingml/2006/main">
              <a:ext uri="{FF2B5EF4-FFF2-40B4-BE49-F238E27FC236}">
                <a16:creationId xmlns:a16="http://schemas.microsoft.com/office/drawing/2014/main" id="{B52FF730-9B4C-4D0E-987D-87B547AC0E23}"/>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SELECT ?system WHERE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?system ex:dependsOn ex:날씨API</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a:t>
            </a:r>
          </a:p>
          <a:p xmlns:a="http://schemas.openxmlformats.org/drawingml/2006/main">
            <a:r>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추론 ON 결과</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 도착예측모델</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이 중 배차시스템의 문서를 찾아봅니다.</a:t>
            </a:r>
          </a:p>
        </p:txBody>
      </p:sp>
      <p:sp>
        <p:nvSpPr>
          <p:cNvPr id="5" name="code-label-1">
            <a:extLst xmlns:a="http://schemas.openxmlformats.org/drawingml/2006/main">
              <a:ext uri="{FF2B5EF4-FFF2-40B4-BE49-F238E27FC236}">
                <a16:creationId xmlns:a16="http://schemas.microsoft.com/office/drawing/2014/main" id="{0758C6B6-D9E3-48AE-88B8-EE0A3C03491E}"/>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② FACTS에 미리 넣어 둔 문서 연결</a:t>
            </a:r>
          </a:p>
        </p:txBody>
      </p:sp>
      <p:sp>
        <p:nvSpPr>
          <p:cNvPr id="6" name="code-1">
            <a:extLst xmlns:a="http://schemas.openxmlformats.org/drawingml/2006/main">
              <a:ext uri="{FF2B5EF4-FFF2-40B4-BE49-F238E27FC236}">
                <a16:creationId xmlns:a16="http://schemas.microsoft.com/office/drawing/2014/main" id="{FFEA1A0A-F310-471D-A13C-3CF4B294E04E}"/>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ex:운영문서 ex:describes ex:배차시스템 .</a:t>
            </a:r>
          </a:p>
          <a:p xmlns:a="http://schemas.openxmlformats.org/drawingml/2006/main">
            <a:pPr>
              <a:defRPr sz="1725">
                <a:solidFill>
                  <a:srgbClr val="E4EFEC"/>
                </a:solidFill>
                <a:latin typeface="Noto Sans KR"/>
                <a:ea typeface="Noto Sans KR"/>
                <a:cs typeface="Noto Sans KR"/>
              </a:defRPr>
            </a:pPr>
            <a:r>
              <a:rPr sz="1725">
                <a:solidFill>
                  <a:srgbClr val="E4EFEC"/>
                </a:solidFill>
                <a:latin typeface="Noto Sans KR"/>
                <a:ea typeface="Noto Sans KR"/>
                <a:cs typeface="Noto Sans KR"/>
              </a:rPr>
              <a:t>ex:운영문서 ex:text</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"배차시스템은 도착예측모델의 결과로 배차 순서를 정한다."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배차시스템을 찾으면</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① describes로 연결된 운영문서를 찾고</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② 그 문서의 text를 화면에 표시합니다.</a:t>
            </a:r>
          </a:p>
        </p:txBody>
      </p:sp>
      <p:sp>
        <p:nvSpPr>
          <p:cNvPr id="7" name="page">
            <a:extLst xmlns:a="http://schemas.openxmlformats.org/drawingml/2006/main">
              <a:ext uri="{FF2B5EF4-FFF2-40B4-BE49-F238E27FC236}">
                <a16:creationId xmlns:a16="http://schemas.microsoft.com/office/drawing/2014/main" id="{127D2170-2C07-47DE-BDC5-E1DD25BB927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13</a:t>
            </a:r>
          </a:p>
        </p:txBody>
      </p:sp>
      <p:sp>
        <p:nvSpPr>
          <p:cNvPr id="9" name="narrative-bridge">
            <a:extLst xmlns:a="http://schemas.openxmlformats.org/drawingml/2006/main">
              <a:ext uri="{FF2B5EF4-FFF2-40B4-BE49-F238E27FC236}">
                <a16:creationId xmlns:a16="http://schemas.microsoft.com/office/drawing/2014/main" id="{C9F31298-624A-4109-91BC-0FA5E37A2604}"/>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문서 연결은 사람이 미리 작성했습니다. 조회 후 Python 코드가 연결된 문서의 본문을 가져옵니다.</a:t>
            </a:r>
          </a:p>
        </p:txBody>
      </p:sp>
    </p:spTree>
    <p:extLst>
      <p:ext uri="{BB962C8B-B14F-4D97-AF65-F5344CB8AC3E}">
        <p14:creationId xmlns:p14="http://schemas.microsoft.com/office/powerpoint/2010/main" val="237399388"/>
      </p:ext>
    </p:extLst>
  </p:cSld>
</p:sld>
</file>

<file path=ppt/slides/slide1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84170C1C-3612-49BC-BC0B-D6EA092C3F4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21E432C9-04E9-43A9-9944-9D061913FCF7}"/>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실습은 이렇게 바꿔 보시면 됩니다</a:t>
            </a:r>
          </a:p>
        </p:txBody>
      </p:sp>
      <p:graphicFrame>
        <p:nvGraphicFramePr>
          <p:cNvPr id="3" name="">
            <a:extLst xmlns:a="http://schemas.openxmlformats.org/drawingml/2006/main">
              <a:ext uri="{FF2B5EF4-FFF2-40B4-BE49-F238E27FC236}">
                <a16:creationId xmlns:a16="http://schemas.microsoft.com/office/drawing/2014/main" id="{77FF8BF5-8339-4F10-9A27-EB449F35B9AC}"/>
              </a:ext>
            </a:extLst>
          </p:cNvPr>
          <p:cNvGraphicFramePr/>
          <p:nvPr/>
        </p:nvGraphicFramePr>
        <p:xfrm>
          <a:off xmlns:a="http://schemas.openxmlformats.org/drawingml/2006/main" x="609600" y="1866900"/>
          <a:ext xmlns:a="http://schemas.openxmlformats.org/drawingml/2006/main" cx="10972800" cy="4095750"/>
        </p:xfrm>
        <a:graphic xmlns:a="http://schemas.openxmlformats.org/drawingml/2006/main">
          <a:graphicData uri="http://schemas.openxmlformats.org/drawingml/2006/table">
            <a:tbl>
              <a:tblPr/>
              <a:tblGrid>
                <a:gridCol w="2286000"/>
                <a:gridCol w="3857625"/>
                <a:gridCol w="4829175"/>
              </a:tblGrid>
              <a:tr h="585107">
                <a:tc>
                  <a:txBody>
                    <a:bodyPr/>
                    <a:lstStyle/>
                    <a:p>
                      <a:r>
                        <a:rPr sz="1800" b="1">
                          <a:solidFill>
                            <a:srgbClr val="A4DDCA"/>
                          </a:solidFill>
                          <a:latin typeface="Noto Sans KR"/>
                          <a:ea typeface="Noto Sans KR"/>
                          <a:cs typeface="Noto Sans KR"/>
                        </a:rPr>
                        <a:t>실습</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바꿀 내용</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예상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585107">
                <a:tc>
                  <a:txBody>
                    <a:bodyPr/>
                    <a:lstStyle/>
                    <a:p>
                      <a:r>
                        <a:rPr sz="1725" b="0">
                          <a:solidFill>
                            <a:srgbClr val="E4EFEC"/>
                          </a:solidFill>
                          <a:latin typeface="Noto Sans KR"/>
                          <a:ea typeface="Noto Sans KR"/>
                          <a:cs typeface="Noto Sans KR"/>
                        </a:rPr>
                        <a:t>1. 종류</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추론을 끄고 다시 켜기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소프트웨어 목록 2개 / 3개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2. 의존 경로</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날씨API 의존 질문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직접 연결 1개 / 간접 포함 2개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3. 반대 방향</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시스템 사용자 질문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0개 / 물류사 1개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4. 필수 입력</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 관계만 지우기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누락 오류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5. 이름과 개체</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개체 대신 문자열 넣기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값 종류 오류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6. 타입 선언</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domain/range 예제 실행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대상의 종류가 새로 붙음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0429EF85-AC46-4307-95D3-9F67860E66A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14</a:t>
            </a:r>
          </a:p>
        </p:txBody>
      </p:sp>
      <p:sp>
        <p:nvSpPr>
          <p:cNvPr id="6" name="narrative-bridge">
            <a:extLst xmlns:a="http://schemas.openxmlformats.org/drawingml/2006/main">
              <a:ext uri="{FF2B5EF4-FFF2-40B4-BE49-F238E27FC236}">
                <a16:creationId xmlns:a16="http://schemas.microsoft.com/office/drawing/2014/main" id="{45C4BF9D-4B60-4A3C-A848-617A2942537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실습에서 바꿔 본 규칙과 데이터는 실제 업무에서도 함께 관리합니다.</a:t>
            </a:r>
          </a:p>
        </p:txBody>
      </p:sp>
    </p:spTree>
    <p:extLst>
      <p:ext uri="{BB962C8B-B14F-4D97-AF65-F5344CB8AC3E}">
        <p14:creationId xmlns:p14="http://schemas.microsoft.com/office/powerpoint/2010/main" val="1805687597"/>
      </p:ext>
    </p:extLst>
  </p:cSld>
</p:sld>
</file>

<file path=ppt/slides/slide1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054327BF-5BAE-4C4A-B946-F51B6BE936F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01 / 업무 의미와 규칙</a:t>
            </a:r>
          </a:p>
        </p:txBody>
      </p:sp>
      <p:sp>
        <p:nvSpPr>
          <p:cNvPr id="2" name="title">
            <a:extLst xmlns:a="http://schemas.openxmlformats.org/drawingml/2006/main">
              <a:ext uri="{FF2B5EF4-FFF2-40B4-BE49-F238E27FC236}">
                <a16:creationId xmlns:a16="http://schemas.microsoft.com/office/drawing/2014/main" id="{F303C8D9-5996-4B95-97D8-50FE29D4730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실제 업무에서는 계속 고쳐 나갑니다</a:t>
            </a:r>
          </a:p>
        </p:txBody>
      </p:sp>
      <p:sp>
        <p:nvSpPr>
          <p:cNvPr id="3" name="label-0">
            <a:extLst xmlns:a="http://schemas.openxmlformats.org/drawingml/2006/main">
              <a:ext uri="{FF2B5EF4-FFF2-40B4-BE49-F238E27FC236}">
                <a16:creationId xmlns:a16="http://schemas.microsoft.com/office/drawing/2014/main" id="{1E42BAA9-2D39-4FDD-BB15-1D77055944C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작은 범위부터</a:t>
            </a:r>
          </a:p>
        </p:txBody>
      </p:sp>
      <p:sp>
        <p:nvSpPr>
          <p:cNvPr id="4" name="body-0">
            <a:extLst xmlns:a="http://schemas.openxmlformats.org/drawingml/2006/main">
              <a:ext uri="{FF2B5EF4-FFF2-40B4-BE49-F238E27FC236}">
                <a16:creationId xmlns:a16="http://schemas.microsoft.com/office/drawing/2014/main" id="{1D5CFC79-E9D3-4822-8BAE-6BF5524BAA0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업무 질문 몇 개와 필요한 대상부터 정합니다.</a:t>
            </a:r>
          </a:p>
        </p:txBody>
      </p:sp>
      <p:sp>
        <p:nvSpPr>
          <p:cNvPr id="5" name="label-1">
            <a:extLst xmlns:a="http://schemas.openxmlformats.org/drawingml/2006/main">
              <a:ext uri="{FF2B5EF4-FFF2-40B4-BE49-F238E27FC236}">
                <a16:creationId xmlns:a16="http://schemas.microsoft.com/office/drawing/2014/main" id="{C32849B4-D107-4A1B-A06C-CE79233FF261}"/>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담당자와 의미 맞추기</a:t>
            </a:r>
          </a:p>
        </p:txBody>
      </p:sp>
      <p:sp>
        <p:nvSpPr>
          <p:cNvPr id="6" name="body-1">
            <a:extLst xmlns:a="http://schemas.openxmlformats.org/drawingml/2006/main">
              <a:ext uri="{FF2B5EF4-FFF2-40B4-BE49-F238E27FC236}">
                <a16:creationId xmlns:a16="http://schemas.microsoft.com/office/drawing/2014/main" id="{EBCCC920-B880-4F84-B1F1-B046FA31B3C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용어와 관계를 누가 정의하고 바꿀지 정합니다.</a:t>
            </a:r>
          </a:p>
        </p:txBody>
      </p:sp>
      <p:sp>
        <p:nvSpPr>
          <p:cNvPr id="7" name="label-2">
            <a:extLst xmlns:a="http://schemas.openxmlformats.org/drawingml/2006/main">
              <a:ext uri="{FF2B5EF4-FFF2-40B4-BE49-F238E27FC236}">
                <a16:creationId xmlns:a16="http://schemas.microsoft.com/office/drawing/2014/main" id="{8FD55FBB-5123-453F-9997-692EA57145D2}"/>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수정 후 다시 확인하기</a:t>
            </a:r>
          </a:p>
        </p:txBody>
      </p:sp>
      <p:sp>
        <p:nvSpPr>
          <p:cNvPr id="8" name="body-2">
            <a:extLst xmlns:a="http://schemas.openxmlformats.org/drawingml/2006/main">
              <a:ext uri="{FF2B5EF4-FFF2-40B4-BE49-F238E27FC236}">
                <a16:creationId xmlns:a16="http://schemas.microsoft.com/office/drawing/2014/main" id="{E8225899-087E-4D99-A820-099C3657CE5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기존 질문의 답과 입력 검사 결과를 비교합니다.</a:t>
            </a:r>
          </a:p>
        </p:txBody>
      </p:sp>
      <p:sp>
        <p:nvSpPr>
          <p:cNvPr id="9" name="page">
            <a:extLst xmlns:a="http://schemas.openxmlformats.org/drawingml/2006/main">
              <a:ext uri="{FF2B5EF4-FFF2-40B4-BE49-F238E27FC236}">
                <a16:creationId xmlns:a16="http://schemas.microsoft.com/office/drawing/2014/main" id="{092FE296-3784-45D0-B215-22E2A0C9F77E}"/>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15</a:t>
            </a:r>
          </a:p>
        </p:txBody>
      </p:sp>
      <p:sp>
        <p:nvSpPr>
          <p:cNvPr id="11" name="narrative-bridge">
            <a:extLst xmlns:a="http://schemas.openxmlformats.org/drawingml/2006/main">
              <a:ext uri="{FF2B5EF4-FFF2-40B4-BE49-F238E27FC236}">
                <a16:creationId xmlns:a16="http://schemas.microsoft.com/office/drawing/2014/main" id="{4D240D31-3767-4C04-A240-B6310DD5F105}"/>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이렇게 정리한 연결을 이제 답변에 필요한 근거를 찾는 데 활용합니다.</a:t>
            </a:r>
          </a:p>
        </p:txBody>
      </p:sp>
    </p:spTree>
    <p:extLst>
      <p:ext uri="{BB962C8B-B14F-4D97-AF65-F5344CB8AC3E}">
        <p14:creationId xmlns:p14="http://schemas.microsoft.com/office/powerpoint/2010/main" val="1238508376"/>
      </p:ext>
    </p:extLst>
  </p:cSld>
</p:sld>
</file>

<file path=ppt/slides/slide1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7313E76B-7446-435F-84D5-879E32E718F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검색 구조 비교</a:t>
            </a:r>
          </a:p>
        </p:txBody>
      </p:sp>
      <p:sp>
        <p:nvSpPr>
          <p:cNvPr id="2" name="title">
            <a:extLst xmlns:a="http://schemas.openxmlformats.org/drawingml/2006/main">
              <a:ext uri="{FF2B5EF4-FFF2-40B4-BE49-F238E27FC236}">
                <a16:creationId xmlns:a16="http://schemas.microsoft.com/office/drawing/2014/main" id="{7CB52FC4-B0F5-4A12-AE89-CFACB1AC7CC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온톨로지의 연결을 GraphRAG 검색에 활용</a:t>
            </a:r>
          </a:p>
        </p:txBody>
      </p:sp>
      <p:graphicFrame>
        <p:nvGraphicFramePr>
          <p:cNvPr id="3" name="">
            <a:extLst xmlns:a="http://schemas.openxmlformats.org/drawingml/2006/main">
              <a:ext uri="{FF2B5EF4-FFF2-40B4-BE49-F238E27FC236}">
                <a16:creationId xmlns:a16="http://schemas.microsoft.com/office/drawing/2014/main" id="{B23CADA5-CFA5-459E-8A1C-B8F20F3D2280}"/>
              </a:ext>
            </a:extLst>
          </p:cNvPr>
          <p:cNvGraphicFramePr/>
          <p:nvPr/>
        </p:nvGraphicFramePr>
        <p:xfrm>
          <a:off xmlns:a="http://schemas.openxmlformats.org/drawingml/2006/main" x="609600" y="1866900"/>
          <a:ext xmlns:a="http://schemas.openxmlformats.org/drawingml/2006/main" cx="10972800" cy="2476500"/>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단계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나오는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규칙 추론</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명시한 규칙을 사실에 적용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추가로 알 수 있는 사실</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GraphRAG 검색</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질문에 관련된 연결과 문서 찾기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답변에 쓸 근거 후보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LLM 답변 생성</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질문과 근거를 읽고 설명 작성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자연어 답변과 인용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E07C337-3400-4E6F-84C0-3DD75462C4F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16</a:t>
            </a:r>
          </a:p>
        </p:txBody>
      </p:sp>
      <p:sp>
        <p:nvSpPr>
          <p:cNvPr id="6" name="narrative-bridge">
            <a:extLst xmlns:a="http://schemas.openxmlformats.org/drawingml/2006/main">
              <a:ext uri="{FF2B5EF4-FFF2-40B4-BE49-F238E27FC236}">
                <a16:creationId xmlns:a16="http://schemas.microsoft.com/office/drawing/2014/main" id="{D17B31D0-C28A-4E21-9F62-C27403AC7CA2}"/>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GraphRAG는 저장 구조와 근거를 찾는 방식으로 비교하겠습니다.</a:t>
            </a:r>
          </a:p>
        </p:txBody>
      </p:sp>
    </p:spTree>
    <p:extLst>
      <p:ext uri="{BB962C8B-B14F-4D97-AF65-F5344CB8AC3E}">
        <p14:creationId xmlns:p14="http://schemas.microsoft.com/office/powerpoint/2010/main" val="1677037954"/>
      </p:ext>
    </p:extLst>
  </p:cSld>
</p:sld>
</file>

<file path=ppt/slides/slide1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7B5FC685-C12D-4DE2-A40A-72D44C51502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검색 구조 비교</a:t>
            </a:r>
          </a:p>
        </p:txBody>
      </p:sp>
      <p:sp>
        <p:nvSpPr>
          <p:cNvPr id="2" name="title">
            <a:extLst xmlns:a="http://schemas.openxmlformats.org/drawingml/2006/main">
              <a:ext uri="{FF2B5EF4-FFF2-40B4-BE49-F238E27FC236}">
                <a16:creationId xmlns:a16="http://schemas.microsoft.com/office/drawing/2014/main" id="{6EF35ECC-7504-4F52-ABF0-3B2FB73AAAA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같은 기준으로 비교하는 검색 방법</a:t>
            </a:r>
          </a:p>
        </p:txBody>
      </p:sp>
      <p:graphicFrame>
        <p:nvGraphicFramePr>
          <p:cNvPr id="3" name="">
            <a:extLst xmlns:a="http://schemas.openxmlformats.org/drawingml/2006/main">
              <a:ext uri="{FF2B5EF4-FFF2-40B4-BE49-F238E27FC236}">
                <a16:creationId xmlns:a16="http://schemas.microsoft.com/office/drawing/2014/main" id="{443E1857-C7ED-49DF-8D5D-5492862454D3}"/>
              </a:ext>
            </a:extLst>
          </p:cNvPr>
          <p:cNvGraphicFramePr/>
          <p:nvPr/>
        </p:nvGraphicFramePr>
        <p:xfrm>
          <a:off xmlns:a="http://schemas.openxmlformats.org/drawingml/2006/main" x="609600" y="1866900"/>
          <a:ext xmlns:a="http://schemas.openxmlformats.org/drawingml/2006/main" cx="10972800" cy="3714750"/>
        </p:xfrm>
        <a:graphic xmlns:a="http://schemas.openxmlformats.org/drawingml/2006/main">
          <a:graphicData uri="http://schemas.openxmlformats.org/drawingml/2006/table">
            <a:tbl>
              <a:tblPr/>
              <a:tblGrid>
                <a:gridCol w="2333625"/>
                <a:gridCol w="8639175"/>
              </a:tblGrid>
              <a:tr h="619125">
                <a:tc>
                  <a:txBody>
                    <a:bodyPr/>
                    <a:lstStyle/>
                    <a:p>
                      <a:r>
                        <a:rPr sz="1800" b="1">
                          <a:solidFill>
                            <a:srgbClr val="A4DDCA"/>
                          </a:solidFill>
                          <a:latin typeface="Noto Sans KR"/>
                          <a:ea typeface="Noto Sans KR"/>
                          <a:cs typeface="Noto Sans KR"/>
                        </a:rPr>
                        <a:t>비교할 것</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확인할 질문</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저장 대상</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원문, 개체, 관계, 요약 중 무엇을 저장하나요?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사전 준비 / 색인</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문서를 어떤 검색 구조로 바꾸나요?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질문 처리 / 검색</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질문이 오면 어떤 순서로 찾나요?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답변 근거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찾은 내용 중 무엇을 LLM에 주나요?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비용과 오류</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준비·검색·생성 중 어디서 문제가 생기나요?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241D08AA-6BD0-4A5B-BA86-BD04B1291E3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17</a:t>
            </a:r>
          </a:p>
        </p:txBody>
      </p:sp>
      <p:sp>
        <p:nvSpPr>
          <p:cNvPr id="6" name="narrative-bridge">
            <a:extLst xmlns:a="http://schemas.openxmlformats.org/drawingml/2006/main">
              <a:ext uri="{FF2B5EF4-FFF2-40B4-BE49-F238E27FC236}">
                <a16:creationId xmlns:a16="http://schemas.microsoft.com/office/drawing/2014/main" id="{96607B0B-7171-4844-B887-6E528CA680E9}"/>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먼저 여러 문서를 요약해 넓은 질문에 답하는 방법부터 봅니다.</a:t>
            </a:r>
          </a:p>
        </p:txBody>
      </p:sp>
    </p:spTree>
    <p:extLst>
      <p:ext uri="{BB962C8B-B14F-4D97-AF65-F5344CB8AC3E}">
        <p14:creationId xmlns:p14="http://schemas.microsoft.com/office/powerpoint/2010/main" val="1573125871"/>
      </p:ext>
    </p:extLst>
  </p:cSld>
</p:sld>
</file>

<file path=ppt/slides/slide1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7892C46-17E2-45C7-96AA-9CD87DDA6AD0}"/>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요약과 그룹</a:t>
            </a:r>
          </a:p>
        </p:txBody>
      </p:sp>
      <p:sp>
        <p:nvSpPr>
          <p:cNvPr id="2" name="title">
            <a:extLst xmlns:a="http://schemas.openxmlformats.org/drawingml/2006/main">
              <a:ext uri="{FF2B5EF4-FFF2-40B4-BE49-F238E27FC236}">
                <a16:creationId xmlns:a16="http://schemas.microsoft.com/office/drawing/2014/main" id="{F01E9770-4673-4694-A095-7B04D22DE58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RAPTOR: 문서를 요약의 층으로 정리</a:t>
            </a:r>
          </a:p>
        </p:txBody>
      </p:sp>
      <p:sp>
        <p:nvSpPr>
          <p:cNvPr id="3" name="label-0">
            <a:extLst xmlns:a="http://schemas.openxmlformats.org/drawingml/2006/main">
              <a:ext uri="{FF2B5EF4-FFF2-40B4-BE49-F238E27FC236}">
                <a16:creationId xmlns:a16="http://schemas.microsoft.com/office/drawing/2014/main" id="{8E3ACDFF-4158-4BAB-89A7-633A834BD6A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39F7376F-518B-45F5-AC05-DEDF691DDAD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원문 조각과 여러 단계의 요약문</a:t>
            </a:r>
          </a:p>
        </p:txBody>
      </p:sp>
      <p:sp>
        <p:nvSpPr>
          <p:cNvPr id="5" name="label-1">
            <a:extLst xmlns:a="http://schemas.openxmlformats.org/drawingml/2006/main">
              <a:ext uri="{FF2B5EF4-FFF2-40B4-BE49-F238E27FC236}">
                <a16:creationId xmlns:a16="http://schemas.microsoft.com/office/drawing/2014/main" id="{F3A9DCB0-7D14-45BB-9054-5D37756D389C}"/>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69888C82-D5CF-4CAA-BFC5-F4658E4A6E3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비슷한 문서를 묶어 요약하고, 요약들을 다시 묶습니다.</a:t>
            </a:r>
          </a:p>
        </p:txBody>
      </p:sp>
      <p:sp>
        <p:nvSpPr>
          <p:cNvPr id="7" name="label-2">
            <a:extLst xmlns:a="http://schemas.openxmlformats.org/drawingml/2006/main">
              <a:ext uri="{FF2B5EF4-FFF2-40B4-BE49-F238E27FC236}">
                <a16:creationId xmlns:a16="http://schemas.microsoft.com/office/drawing/2014/main" id="{1013679D-74E0-4947-8458-768BB66EDA77}"/>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B0C974BA-046E-4C65-867D-85EA5470BA6E}"/>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질문과 맞는 원문 또는 요약문을 찾습니다.</a:t>
            </a:r>
          </a:p>
        </p:txBody>
      </p:sp>
      <p:sp>
        <p:nvSpPr>
          <p:cNvPr id="9" name="page">
            <a:extLst xmlns:a="http://schemas.openxmlformats.org/drawingml/2006/main">
              <a:ext uri="{FF2B5EF4-FFF2-40B4-BE49-F238E27FC236}">
                <a16:creationId xmlns:a16="http://schemas.microsoft.com/office/drawing/2014/main" id="{7A0A269B-D75B-4AF4-B746-A38A5A5AE21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18</a:t>
            </a:r>
          </a:p>
        </p:txBody>
      </p:sp>
      <p:sp>
        <p:nvSpPr>
          <p:cNvPr id="11" name="narrative-bridge">
            <a:extLst xmlns:a="http://schemas.openxmlformats.org/drawingml/2006/main">
              <a:ext uri="{FF2B5EF4-FFF2-40B4-BE49-F238E27FC236}">
                <a16:creationId xmlns:a16="http://schemas.microsoft.com/office/drawing/2014/main" id="{D0347061-91A1-4CC6-8351-3EE339497C9B}"/>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같은 물류 문서를 전체 운영 변화에 대한 질문으로 읽어 보겠습니다.</a:t>
            </a:r>
          </a:p>
        </p:txBody>
      </p:sp>
    </p:spTree>
    <p:extLst>
      <p:ext uri="{BB962C8B-B14F-4D97-AF65-F5344CB8AC3E}">
        <p14:creationId xmlns:p14="http://schemas.microsoft.com/office/powerpoint/2010/main" val="32134783"/>
      </p:ext>
    </p:extLst>
  </p:cSld>
</p:sld>
</file>

<file path=ppt/slides/slide1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CC5ECED5-F65F-443C-BA03-45E62229DBC8}"/>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요약과 그룹</a:t>
            </a:r>
          </a:p>
        </p:txBody>
      </p:sp>
      <p:sp>
        <p:nvSpPr>
          <p:cNvPr id="2" name="title">
            <a:extLst xmlns:a="http://schemas.openxmlformats.org/drawingml/2006/main">
              <a:ext uri="{FF2B5EF4-FFF2-40B4-BE49-F238E27FC236}">
                <a16:creationId xmlns:a16="http://schemas.microsoft.com/office/drawing/2014/main" id="{52C10C3C-A73F-4688-AA69-7944A04734C9}"/>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RAPTOR를 질문에 대입하면</a:t>
            </a:r>
          </a:p>
        </p:txBody>
      </p:sp>
      <p:sp>
        <p:nvSpPr>
          <p:cNvPr id="3" name="label-0">
            <a:extLst xmlns:a="http://schemas.openxmlformats.org/drawingml/2006/main">
              <a:ext uri="{FF2B5EF4-FFF2-40B4-BE49-F238E27FC236}">
                <a16:creationId xmlns:a16="http://schemas.microsoft.com/office/drawing/2014/main" id="{FAEB5CD2-32E4-4C2D-82E0-730AEDB8AA2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AE2738E9-8046-4A15-A64C-A6E0546EBBE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 운영은 전반적으로 어떻게 바뀌었나요?</a:t>
            </a:r>
          </a:p>
        </p:txBody>
      </p:sp>
      <p:sp>
        <p:nvSpPr>
          <p:cNvPr id="5" name="label-1">
            <a:extLst xmlns:a="http://schemas.openxmlformats.org/drawingml/2006/main">
              <a:ext uri="{FF2B5EF4-FFF2-40B4-BE49-F238E27FC236}">
                <a16:creationId xmlns:a16="http://schemas.microsoft.com/office/drawing/2014/main" id="{B00B5A14-BE94-4A3F-99D5-D3499803E7D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6391980A-8F41-48B2-85D1-574B9DDE563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큰 변화는 상위 요약에서, 세부 내용은 원문에서 찾습니다.</a:t>
            </a:r>
          </a:p>
        </p:txBody>
      </p:sp>
      <p:sp>
        <p:nvSpPr>
          <p:cNvPr id="7" name="label-2">
            <a:extLst xmlns:a="http://schemas.openxmlformats.org/drawingml/2006/main">
              <a:ext uri="{FF2B5EF4-FFF2-40B4-BE49-F238E27FC236}">
                <a16:creationId xmlns:a16="http://schemas.microsoft.com/office/drawing/2014/main" id="{38D70D2D-4ABD-485B-AD66-A390926ED55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0CE830C3-078F-437B-9BDA-22DFB47D230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요약하면서 빠진 내용이 있을 수 있어 원문 확인이 필요합니다.</a:t>
            </a:r>
          </a:p>
        </p:txBody>
      </p:sp>
      <p:sp>
        <p:nvSpPr>
          <p:cNvPr id="9" name="page">
            <a:extLst xmlns:a="http://schemas.openxmlformats.org/drawingml/2006/main">
              <a:ext uri="{FF2B5EF4-FFF2-40B4-BE49-F238E27FC236}">
                <a16:creationId xmlns:a16="http://schemas.microsoft.com/office/drawing/2014/main" id="{E34352D8-8FA7-49F1-9CCD-2A80227F7D33}"/>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19</a:t>
            </a:r>
          </a:p>
        </p:txBody>
      </p:sp>
      <p:sp>
        <p:nvSpPr>
          <p:cNvPr id="11" name="narrative-bridge">
            <a:extLst xmlns:a="http://schemas.openxmlformats.org/drawingml/2006/main">
              <a:ext uri="{FF2B5EF4-FFF2-40B4-BE49-F238E27FC236}">
                <a16:creationId xmlns:a16="http://schemas.microsoft.com/office/drawing/2014/main" id="{C1620C6B-4A5E-4762-B70E-1E5FC098BE6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이제 원문과 요약이 준비·검색 단계에서 어떻게 이어지는지 봅니다.</a:t>
            </a:r>
          </a:p>
        </p:txBody>
      </p:sp>
    </p:spTree>
    <p:extLst>
      <p:ext uri="{BB962C8B-B14F-4D97-AF65-F5344CB8AC3E}">
        <p14:creationId xmlns:p14="http://schemas.microsoft.com/office/powerpoint/2010/main" val="1890079320"/>
      </p:ext>
    </p:extLst>
  </p:cSld>
</p:sld>
</file>

<file path=ppt/slides/slide20.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A6437441-CF2B-406F-A3D6-4471689F7966}"/>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3E72AB13-C45A-430B-ACE1-1DFB27F8A8FE}"/>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21C14BE1-CC19-4F56-AB95-505583CA8AA9}"/>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83F675B7-EEAD-42CA-9831-1EB997A1DE98}"/>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29CC0224-6E2F-43AD-A2AE-490D8E9B83F6}"/>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C196E75A-C21E-4F4D-B617-57AD7AF185EC}"/>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29547DE5-90A9-47F1-987C-EAA3627F23BB}"/>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BB81CE73-46B0-431D-B017-B3C595F07C64}"/>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F85F428F-AE69-4F19-9540-4F0BEE75F64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요약과 그룹</a:t>
            </a:r>
          </a:p>
        </p:txBody>
      </p:sp>
      <p:sp>
        <p:nvSpPr>
          <p:cNvPr id="2" name="">
            <a:extLst xmlns:a="http://schemas.openxmlformats.org/drawingml/2006/main">
              <a:ext uri="{FF2B5EF4-FFF2-40B4-BE49-F238E27FC236}">
                <a16:creationId xmlns:a16="http://schemas.microsoft.com/office/drawing/2014/main" id="{AA9065C1-0C69-4547-80AA-0BB4B4D9EF4C}"/>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RAPTOR의 전체 처리 순서</a:t>
            </a:r>
          </a:p>
        </p:txBody>
      </p:sp>
      <p:sp>
        <p:nvSpPr>
          <p:cNvPr id="3" name="">
            <a:extLst xmlns:a="http://schemas.openxmlformats.org/drawingml/2006/main">
              <a:ext uri="{FF2B5EF4-FFF2-40B4-BE49-F238E27FC236}">
                <a16:creationId xmlns:a16="http://schemas.microsoft.com/office/drawing/2014/main" id="{63B595E7-B1DA-4434-8855-3CAC42F3918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20</a:t>
            </a:r>
          </a:p>
        </p:txBody>
      </p:sp>
      <p:sp>
        <p:nvSpPr>
          <p:cNvPr id="4" name="">
            <a:extLst xmlns:a="http://schemas.openxmlformats.org/drawingml/2006/main">
              <a:ext uri="{FF2B5EF4-FFF2-40B4-BE49-F238E27FC236}">
                <a16:creationId xmlns:a16="http://schemas.microsoft.com/office/drawing/2014/main" id="{B0CB6D70-FE30-47FB-BAB3-6C8F9FF940E0}"/>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E31DCB46-5042-4B21-8313-5F0F4357B19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원문을 나누고 벡터로 변환</a:t>
            </a:r>
          </a:p>
        </p:txBody>
      </p:sp>
      <p:sp>
        <p:nvSpPr>
          <p:cNvPr id="6" name="">
            <a:extLst xmlns:a="http://schemas.openxmlformats.org/drawingml/2006/main">
              <a:ext uri="{FF2B5EF4-FFF2-40B4-BE49-F238E27FC236}">
                <a16:creationId xmlns:a16="http://schemas.microsoft.com/office/drawing/2014/main" id="{B397C984-D973-461A-BB97-AC484F8E214E}"/>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문서 조각을 묶기</a:t>
            </a:r>
          </a:p>
        </p:txBody>
      </p:sp>
      <p:sp>
        <p:nvSpPr>
          <p:cNvPr id="8" name="">
            <a:extLst xmlns:a="http://schemas.openxmlformats.org/drawingml/2006/main">
              <a:ext uri="{FF2B5EF4-FFF2-40B4-BE49-F238E27FC236}">
                <a16:creationId xmlns:a16="http://schemas.microsoft.com/office/drawing/2014/main" id="{382FCA02-CC2C-4A40-8A6F-19E780A27BAE}"/>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묶음마다 요약문 작성</a:t>
            </a:r>
          </a:p>
        </p:txBody>
      </p:sp>
      <p:sp>
        <p:nvSpPr>
          <p:cNvPr id="10" name="">
            <a:extLst xmlns:a="http://schemas.openxmlformats.org/drawingml/2006/main">
              <a:ext uri="{FF2B5EF4-FFF2-40B4-BE49-F238E27FC236}">
                <a16:creationId xmlns:a16="http://schemas.microsoft.com/office/drawing/2014/main" id="{4E6CDCC6-B506-49FA-BAF3-4D8FFBB3C0F0}"/>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요약을 다시 묶고 요약</a:t>
            </a:r>
          </a:p>
        </p:txBody>
      </p:sp>
      <p:sp>
        <p:nvSpPr>
          <p:cNvPr id="12" name="">
            <a:extLst xmlns:a="http://schemas.openxmlformats.org/drawingml/2006/main">
              <a:ext uri="{FF2B5EF4-FFF2-40B4-BE49-F238E27FC236}">
                <a16:creationId xmlns:a16="http://schemas.microsoft.com/office/drawing/2014/main" id="{BA65E24B-B5F2-43C2-BDAA-04E5D4EC75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원문과 여러 층의 요약 저장</a:t>
            </a:r>
          </a:p>
        </p:txBody>
      </p:sp>
      <p:sp>
        <p:nvSpPr>
          <p:cNvPr id="14" name="">
            <a:extLst xmlns:a="http://schemas.openxmlformats.org/drawingml/2006/main">
              <a:ext uri="{FF2B5EF4-FFF2-40B4-BE49-F238E27FC236}">
                <a16:creationId xmlns:a16="http://schemas.microsoft.com/office/drawing/2014/main" id="{3F60E42A-E116-421B-8FFA-FCC9D6741B5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5269E313-80A8-436C-9A95-31996E4541A7}"/>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질문을 벡터로 변환</a:t>
            </a:r>
          </a:p>
        </p:txBody>
      </p:sp>
      <p:sp>
        <p:nvSpPr>
          <p:cNvPr id="16" name="">
            <a:extLst xmlns:a="http://schemas.openxmlformats.org/drawingml/2006/main">
              <a:ext uri="{FF2B5EF4-FFF2-40B4-BE49-F238E27FC236}">
                <a16:creationId xmlns:a16="http://schemas.microsoft.com/office/drawing/2014/main" id="{58D5A363-D4A2-432A-AB1E-ACAA51380296}"/>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질문과 맞는 층·노드 찾기</a:t>
            </a:r>
          </a:p>
        </p:txBody>
      </p:sp>
      <p:sp>
        <p:nvSpPr>
          <p:cNvPr id="18" name="">
            <a:extLst xmlns:a="http://schemas.openxmlformats.org/drawingml/2006/main">
              <a:ext uri="{FF2B5EF4-FFF2-40B4-BE49-F238E27FC236}">
                <a16:creationId xmlns:a16="http://schemas.microsoft.com/office/drawing/2014/main" id="{39FD05B6-A4E8-442D-8231-A1C2979CCB06}"/>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원문과 요약 선택</a:t>
            </a:r>
          </a:p>
        </p:txBody>
      </p:sp>
      <p:sp>
        <p:nvSpPr>
          <p:cNvPr id="20" name="">
            <a:extLst xmlns:a="http://schemas.openxmlformats.org/drawingml/2006/main">
              <a:ext uri="{FF2B5EF4-FFF2-40B4-BE49-F238E27FC236}">
                <a16:creationId xmlns:a16="http://schemas.microsoft.com/office/drawing/2014/main" id="{E5020E26-4CF1-4940-AD94-8E6B826533C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필요한 내용을 함께 모으기</a:t>
            </a:r>
          </a:p>
        </p:txBody>
      </p:sp>
      <p:sp>
        <p:nvSpPr>
          <p:cNvPr id="22" name="">
            <a:extLst xmlns:a="http://schemas.openxmlformats.org/drawingml/2006/main">
              <a:ext uri="{FF2B5EF4-FFF2-40B4-BE49-F238E27FC236}">
                <a16:creationId xmlns:a16="http://schemas.microsoft.com/office/drawing/2014/main" id="{788F9C55-96BD-4629-A35F-032DDF1B1383}"/>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근거를 읽고 답변 작성</a:t>
            </a:r>
          </a:p>
        </p:txBody>
      </p:sp>
      <p:sp>
        <p:nvSpPr>
          <p:cNvPr id="24" name="">
            <a:extLst xmlns:a="http://schemas.openxmlformats.org/drawingml/2006/main">
              <a:ext uri="{FF2B5EF4-FFF2-40B4-BE49-F238E27FC236}">
                <a16:creationId xmlns:a16="http://schemas.microsoft.com/office/drawing/2014/main" id="{EBC9CEE1-E4A8-4AA4-BB9A-13733BF2D23F}"/>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문서 요약의 층을 봤으니, 개체들의 그룹을 요약하는 방법과 비교합니다.</a:t>
            </a:r>
          </a:p>
        </p:txBody>
      </p:sp>
    </p:spTree>
    <p:extLst>
      <p:ext uri="{BB962C8B-B14F-4D97-AF65-F5344CB8AC3E}">
        <p14:creationId xmlns:p14="http://schemas.microsoft.com/office/powerpoint/2010/main" val="1158298948"/>
      </p:ext>
    </p:extLst>
  </p:cSld>
</p:sld>
</file>

<file path=ppt/slides/slide2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97D338A1-64F4-4010-8CEA-F2108EF3725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요약과 그룹</a:t>
            </a:r>
          </a:p>
        </p:txBody>
      </p:sp>
      <p:sp>
        <p:nvSpPr>
          <p:cNvPr id="2" name="title">
            <a:extLst xmlns:a="http://schemas.openxmlformats.org/drawingml/2006/main">
              <a:ext uri="{FF2B5EF4-FFF2-40B4-BE49-F238E27FC236}">
                <a16:creationId xmlns:a16="http://schemas.microsoft.com/office/drawing/2014/main" id="{A2962BBD-4D24-4515-9C98-1A5C88C3690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Microsoft GraphRAG: 연결된 개체를 묶어 전체를 요약</a:t>
            </a:r>
          </a:p>
        </p:txBody>
      </p:sp>
      <p:sp>
        <p:nvSpPr>
          <p:cNvPr id="3" name="label-0">
            <a:extLst xmlns:a="http://schemas.openxmlformats.org/drawingml/2006/main">
              <a:ext uri="{FF2B5EF4-FFF2-40B4-BE49-F238E27FC236}">
                <a16:creationId xmlns:a16="http://schemas.microsoft.com/office/drawing/2014/main" id="{81E33554-CE67-404A-997E-827B93164572}"/>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F01FD1CF-BCA9-4979-BD85-3AB308D837A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개체·관계와 그룹별 요약 보고서</a:t>
            </a:r>
          </a:p>
        </p:txBody>
      </p:sp>
      <p:sp>
        <p:nvSpPr>
          <p:cNvPr id="5" name="label-1">
            <a:extLst xmlns:a="http://schemas.openxmlformats.org/drawingml/2006/main">
              <a:ext uri="{FF2B5EF4-FFF2-40B4-BE49-F238E27FC236}">
                <a16:creationId xmlns:a16="http://schemas.microsoft.com/office/drawing/2014/main" id="{53B7C8B6-2702-4B32-8472-E6619FAE90D9}"/>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B3FED6AE-C63F-4BAC-A974-390148A33BC0}"/>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개체와 관계를 뽑고, 촘촘하게 연결된 그룹마다 보고서를 만듭니다.</a:t>
            </a:r>
          </a:p>
        </p:txBody>
      </p:sp>
      <p:sp>
        <p:nvSpPr>
          <p:cNvPr id="7" name="label-2">
            <a:extLst xmlns:a="http://schemas.openxmlformats.org/drawingml/2006/main">
              <a:ext uri="{FF2B5EF4-FFF2-40B4-BE49-F238E27FC236}">
                <a16:creationId xmlns:a16="http://schemas.microsoft.com/office/drawing/2014/main" id="{2FE8174B-37FE-4146-A25F-BFC6F7F8E0C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9DAD0E35-CC34-48B9-A621-DC4EB0C47583}"/>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질문은 그룹별 답을 합치고, 특정 대상 질문은 주변 근거를 찾습니다.</a:t>
            </a:r>
          </a:p>
        </p:txBody>
      </p:sp>
      <p:sp>
        <p:nvSpPr>
          <p:cNvPr id="9" name="page">
            <a:extLst xmlns:a="http://schemas.openxmlformats.org/drawingml/2006/main">
              <a:ext uri="{FF2B5EF4-FFF2-40B4-BE49-F238E27FC236}">
                <a16:creationId xmlns:a16="http://schemas.microsoft.com/office/drawing/2014/main" id="{601D48BC-F30C-4CDE-9786-8B966214655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21</a:t>
            </a:r>
          </a:p>
        </p:txBody>
      </p:sp>
      <p:sp>
        <p:nvSpPr>
          <p:cNvPr id="11" name="narrative-bridge">
            <a:extLst xmlns:a="http://schemas.openxmlformats.org/drawingml/2006/main">
              <a:ext uri="{FF2B5EF4-FFF2-40B4-BE49-F238E27FC236}">
                <a16:creationId xmlns:a16="http://schemas.microsoft.com/office/drawing/2014/main" id="{319B2C3A-A86F-4231-A036-D7FF7C79CA58}"/>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전체 운영 위험을 묻는 질문에는 여러 그룹의 정보가 필요합니다.</a:t>
            </a:r>
          </a:p>
        </p:txBody>
      </p:sp>
    </p:spTree>
    <p:extLst>
      <p:ext uri="{BB962C8B-B14F-4D97-AF65-F5344CB8AC3E}">
        <p14:creationId xmlns:p14="http://schemas.microsoft.com/office/powerpoint/2010/main" val="161227505"/>
      </p:ext>
    </p:extLst>
  </p:cSld>
</p:sld>
</file>

<file path=ppt/slides/slide2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C86D4BF7-113D-4445-8D92-F61AC7107933}"/>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요약과 그룹</a:t>
            </a:r>
          </a:p>
        </p:txBody>
      </p:sp>
      <p:sp>
        <p:nvSpPr>
          <p:cNvPr id="2" name="title">
            <a:extLst xmlns:a="http://schemas.openxmlformats.org/drawingml/2006/main">
              <a:ext uri="{FF2B5EF4-FFF2-40B4-BE49-F238E27FC236}">
                <a16:creationId xmlns:a16="http://schemas.microsoft.com/office/drawing/2014/main" id="{50336C0D-35B5-41EA-8239-2A0466BE8C1A}"/>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Microsoft GraphRAG를 질문에 대입하면</a:t>
            </a:r>
          </a:p>
        </p:txBody>
      </p:sp>
      <p:sp>
        <p:nvSpPr>
          <p:cNvPr id="3" name="label-0">
            <a:extLst xmlns:a="http://schemas.openxmlformats.org/drawingml/2006/main">
              <a:ext uri="{FF2B5EF4-FFF2-40B4-BE49-F238E27FC236}">
                <a16:creationId xmlns:a16="http://schemas.microsoft.com/office/drawing/2014/main" id="{9399E194-A316-43DB-9BFE-CE8B334E999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0DC9810D-78BA-43D5-85D1-5905B97ABA9C}"/>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운영 문서에서 공통으로 드러나는 위험은 무엇인가요?</a:t>
            </a:r>
          </a:p>
        </p:txBody>
      </p:sp>
      <p:sp>
        <p:nvSpPr>
          <p:cNvPr id="5" name="label-1">
            <a:extLst xmlns:a="http://schemas.openxmlformats.org/drawingml/2006/main">
              <a:ext uri="{FF2B5EF4-FFF2-40B4-BE49-F238E27FC236}">
                <a16:creationId xmlns:a16="http://schemas.microsoft.com/office/drawing/2014/main" id="{0DA32453-2D0C-47EB-BA37-8591B372F3E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AB7A11D5-3A73-4469-85AC-8818E37EEEC7}"/>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그룹의 보고서를 읽어 공통 주제를 모읍니다.</a:t>
            </a:r>
          </a:p>
        </p:txBody>
      </p:sp>
      <p:sp>
        <p:nvSpPr>
          <p:cNvPr id="7" name="label-2">
            <a:extLst xmlns:a="http://schemas.openxmlformats.org/drawingml/2006/main">
              <a:ext uri="{FF2B5EF4-FFF2-40B4-BE49-F238E27FC236}">
                <a16:creationId xmlns:a16="http://schemas.microsoft.com/office/drawing/2014/main" id="{E7E46BD9-32EF-4977-9441-447CA91260EF}"/>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AFC9DD27-78BB-4EBD-A68F-CAC1857B0902}"/>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그룹 보고서를 만드는 비용과 개별 사실의 원문 확인이 필요합니다.</a:t>
            </a:r>
          </a:p>
        </p:txBody>
      </p:sp>
      <p:sp>
        <p:nvSpPr>
          <p:cNvPr id="9" name="page">
            <a:extLst xmlns:a="http://schemas.openxmlformats.org/drawingml/2006/main">
              <a:ext uri="{FF2B5EF4-FFF2-40B4-BE49-F238E27FC236}">
                <a16:creationId xmlns:a16="http://schemas.microsoft.com/office/drawing/2014/main" id="{CDEBEB17-0010-4941-91F5-E9CD3577F27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22</a:t>
            </a:r>
          </a:p>
        </p:txBody>
      </p:sp>
      <p:sp>
        <p:nvSpPr>
          <p:cNvPr id="11" name="narrative-bridge">
            <a:extLst xmlns:a="http://schemas.openxmlformats.org/drawingml/2006/main">
              <a:ext uri="{FF2B5EF4-FFF2-40B4-BE49-F238E27FC236}">
                <a16:creationId xmlns:a16="http://schemas.microsoft.com/office/drawing/2014/main" id="{A5932BCC-0ED7-408C-9F2A-A02B2C1F9AD6}"/>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그룹 보고서를 미리 만드는 과정과 질문마다 합치는 과정을 나눠 봅니다.</a:t>
            </a:r>
          </a:p>
        </p:txBody>
      </p:sp>
    </p:spTree>
    <p:extLst>
      <p:ext uri="{BB962C8B-B14F-4D97-AF65-F5344CB8AC3E}">
        <p14:creationId xmlns:p14="http://schemas.microsoft.com/office/powerpoint/2010/main" val="175959782"/>
      </p:ext>
    </p:extLst>
  </p:cSld>
</p:sld>
</file>

<file path=ppt/slides/slide23.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2FC85786-BF5A-4D3A-9211-B7E1AA8544F4}"/>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BF5B4BEA-9E6A-4965-B440-8C9A3DA213D8}"/>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D0FFD3A3-8A61-45ED-8228-B6BB96117B3C}"/>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4739A78-5537-4C71-AC68-CCF2C62958CA}"/>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968CFE15-5540-4AD1-B6EC-A5E160547CC4}"/>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65953EF2-727D-4D30-86A6-74A9C5EADE00}"/>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7437F0E4-9EBD-427D-9C44-EB18E6EEEA99}"/>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74881828-9927-4862-A7EC-B3BA89B10103}"/>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1152B90-611D-44B0-82B4-FD1CB4A6B7FF}"/>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요약과 그룹</a:t>
            </a:r>
          </a:p>
        </p:txBody>
      </p:sp>
      <p:sp>
        <p:nvSpPr>
          <p:cNvPr id="2" name="">
            <a:extLst xmlns:a="http://schemas.openxmlformats.org/drawingml/2006/main">
              <a:ext uri="{FF2B5EF4-FFF2-40B4-BE49-F238E27FC236}">
                <a16:creationId xmlns:a16="http://schemas.microsoft.com/office/drawing/2014/main" id="{47D09AC4-0138-4C6E-B59D-5248EAB3B378}"/>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Microsoft GraphRAG의 전체 처리 순서</a:t>
            </a:r>
          </a:p>
        </p:txBody>
      </p:sp>
      <p:sp>
        <p:nvSpPr>
          <p:cNvPr id="3" name="">
            <a:extLst xmlns:a="http://schemas.openxmlformats.org/drawingml/2006/main">
              <a:ext uri="{FF2B5EF4-FFF2-40B4-BE49-F238E27FC236}">
                <a16:creationId xmlns:a16="http://schemas.microsoft.com/office/drawing/2014/main" id="{3381D596-C7AD-4C92-93AC-67490D84B327}"/>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23</a:t>
            </a:r>
          </a:p>
        </p:txBody>
      </p:sp>
      <p:sp>
        <p:nvSpPr>
          <p:cNvPr id="4" name="">
            <a:extLst xmlns:a="http://schemas.openxmlformats.org/drawingml/2006/main">
              <a:ext uri="{FF2B5EF4-FFF2-40B4-BE49-F238E27FC236}">
                <a16:creationId xmlns:a16="http://schemas.microsoft.com/office/drawing/2014/main" id="{8FC208A7-2FD3-4415-815C-011F5AC74D41}"/>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F3D6399B-CE31-4454-87EF-0C0EF235362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검색용 조각으로 나누기</a:t>
            </a:r>
          </a:p>
        </p:txBody>
      </p:sp>
      <p:sp>
        <p:nvSpPr>
          <p:cNvPr id="6" name="">
            <a:extLst xmlns:a="http://schemas.openxmlformats.org/drawingml/2006/main">
              <a:ext uri="{FF2B5EF4-FFF2-40B4-BE49-F238E27FC236}">
                <a16:creationId xmlns:a16="http://schemas.microsoft.com/office/drawing/2014/main" id="{C7F6DEDD-CE53-4E3E-B595-5A39C171A82B}"/>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개체와 관계를 LLM으로 추출</a:t>
            </a:r>
          </a:p>
        </p:txBody>
      </p:sp>
      <p:sp>
        <p:nvSpPr>
          <p:cNvPr id="8" name="">
            <a:extLst xmlns:a="http://schemas.openxmlformats.org/drawingml/2006/main">
              <a:ext uri="{FF2B5EF4-FFF2-40B4-BE49-F238E27FC236}">
                <a16:creationId xmlns:a16="http://schemas.microsoft.com/office/drawing/2014/main" id="{D91F5CEE-670C-4E2E-BD1C-656F8B96A29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개체와 관계 설명 합치기</a:t>
            </a:r>
          </a:p>
        </p:txBody>
      </p:sp>
      <p:sp>
        <p:nvSpPr>
          <p:cNvPr id="10" name="">
            <a:extLst xmlns:a="http://schemas.openxmlformats.org/drawingml/2006/main">
              <a:ext uri="{FF2B5EF4-FFF2-40B4-BE49-F238E27FC236}">
                <a16:creationId xmlns:a16="http://schemas.microsoft.com/office/drawing/2014/main" id="{96CBA014-4923-490D-934E-EAFCA911FBD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연결된 개체들의 그룹 찾기</a:t>
            </a:r>
          </a:p>
        </p:txBody>
      </p:sp>
      <p:sp>
        <p:nvSpPr>
          <p:cNvPr id="12" name="">
            <a:extLst xmlns:a="http://schemas.openxmlformats.org/drawingml/2006/main">
              <a:ext uri="{FF2B5EF4-FFF2-40B4-BE49-F238E27FC236}">
                <a16:creationId xmlns:a16="http://schemas.microsoft.com/office/drawing/2014/main" id="{08D0B7E0-0D3F-4FD7-A700-28E009003DC8}"/>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그룹별 요약 보고서 저장</a:t>
            </a:r>
          </a:p>
        </p:txBody>
      </p:sp>
      <p:sp>
        <p:nvSpPr>
          <p:cNvPr id="14" name="">
            <a:extLst xmlns:a="http://schemas.openxmlformats.org/drawingml/2006/main">
              <a:ext uri="{FF2B5EF4-FFF2-40B4-BE49-F238E27FC236}">
                <a16:creationId xmlns:a16="http://schemas.microsoft.com/office/drawing/2014/main" id="{7424631A-4659-4009-A7EE-1AFD3E580C3F}"/>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58942A2A-5E12-4703-B843-0EF14AC5537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전체를 묻는 질문 받기</a:t>
            </a:r>
          </a:p>
        </p:txBody>
      </p:sp>
      <p:sp>
        <p:nvSpPr>
          <p:cNvPr id="16" name="">
            <a:extLst xmlns:a="http://schemas.openxmlformats.org/drawingml/2006/main">
              <a:ext uri="{FF2B5EF4-FFF2-40B4-BE49-F238E27FC236}">
                <a16:creationId xmlns:a16="http://schemas.microsoft.com/office/drawing/2014/main" id="{D45926E5-0112-4506-8B9A-1F34F0AD71E3}"/>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그룹별 보고서로 부분 답 작성</a:t>
            </a:r>
          </a:p>
        </p:txBody>
      </p:sp>
      <p:sp>
        <p:nvSpPr>
          <p:cNvPr id="18" name="">
            <a:extLst xmlns:a="http://schemas.openxmlformats.org/drawingml/2006/main">
              <a:ext uri="{FF2B5EF4-FFF2-40B4-BE49-F238E27FC236}">
                <a16:creationId xmlns:a16="http://schemas.microsoft.com/office/drawing/2014/main" id="{F9529B24-740F-4EB4-8628-290F71B4527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부분 답의 중요도 평가</a:t>
            </a:r>
          </a:p>
        </p:txBody>
      </p:sp>
      <p:sp>
        <p:nvSpPr>
          <p:cNvPr id="20" name="">
            <a:extLst xmlns:a="http://schemas.openxmlformats.org/drawingml/2006/main">
              <a:ext uri="{FF2B5EF4-FFF2-40B4-BE49-F238E27FC236}">
                <a16:creationId xmlns:a16="http://schemas.microsoft.com/office/drawing/2014/main" id="{33E4392D-94AC-434C-A242-242239EE5CCC}"/>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핵심 부분 답을 모아 정리</a:t>
            </a:r>
          </a:p>
        </p:txBody>
      </p:sp>
      <p:sp>
        <p:nvSpPr>
          <p:cNvPr id="22" name="">
            <a:extLst xmlns:a="http://schemas.openxmlformats.org/drawingml/2006/main">
              <a:ext uri="{FF2B5EF4-FFF2-40B4-BE49-F238E27FC236}">
                <a16:creationId xmlns:a16="http://schemas.microsoft.com/office/drawing/2014/main" id="{69921778-C895-4B66-A201-6507A545509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최종 답변과 근거 표시</a:t>
            </a:r>
          </a:p>
        </p:txBody>
      </p:sp>
      <p:sp>
        <p:nvSpPr>
          <p:cNvPr id="24" name="">
            <a:extLst xmlns:a="http://schemas.openxmlformats.org/drawingml/2006/main">
              <a:ext uri="{FF2B5EF4-FFF2-40B4-BE49-F238E27FC236}">
                <a16:creationId xmlns:a16="http://schemas.microsoft.com/office/drawing/2014/main" id="{C39C6AFF-7159-477B-A708-441A0B0FEA4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관련 그룹만 먼저 좁혀 찾고 싶다면 ArchRAG의 구조를 볼 수 있습니다.</a:t>
            </a:r>
          </a:p>
        </p:txBody>
      </p:sp>
    </p:spTree>
    <p:extLst>
      <p:ext uri="{BB962C8B-B14F-4D97-AF65-F5344CB8AC3E}">
        <p14:creationId xmlns:p14="http://schemas.microsoft.com/office/powerpoint/2010/main" val="897072340"/>
      </p:ext>
    </p:extLst>
  </p:cSld>
</p:sld>
</file>

<file path=ppt/slides/slide2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A9B599AB-2779-4132-B981-73F428838E7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요약과 그룹</a:t>
            </a:r>
          </a:p>
        </p:txBody>
      </p:sp>
      <p:sp>
        <p:nvSpPr>
          <p:cNvPr id="2" name="title">
            <a:extLst xmlns:a="http://schemas.openxmlformats.org/drawingml/2006/main">
              <a:ext uri="{FF2B5EF4-FFF2-40B4-BE49-F238E27FC236}">
                <a16:creationId xmlns:a16="http://schemas.microsoft.com/office/drawing/2014/main" id="{20234EF5-9DE1-4BEA-9C41-F616ED157B9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ArchRAG: 연결과 의미가 비슷한 그룹 찾기</a:t>
            </a:r>
          </a:p>
        </p:txBody>
      </p:sp>
      <p:sp>
        <p:nvSpPr>
          <p:cNvPr id="3" name="label-0">
            <a:extLst xmlns:a="http://schemas.openxmlformats.org/drawingml/2006/main">
              <a:ext uri="{FF2B5EF4-FFF2-40B4-BE49-F238E27FC236}">
                <a16:creationId xmlns:a16="http://schemas.microsoft.com/office/drawing/2014/main" id="{89865349-2F15-4D20-8242-625EEB912D9E}"/>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B22C621D-46F9-416D-B73F-7491E53A067F}"/>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내용과 연결을 함께 반영한 여러 단계의 그룹</a:t>
            </a:r>
          </a:p>
        </p:txBody>
      </p:sp>
      <p:sp>
        <p:nvSpPr>
          <p:cNvPr id="5" name="label-1">
            <a:extLst xmlns:a="http://schemas.openxmlformats.org/drawingml/2006/main">
              <a:ext uri="{FF2B5EF4-FFF2-40B4-BE49-F238E27FC236}">
                <a16:creationId xmlns:a16="http://schemas.microsoft.com/office/drawing/2014/main" id="{F0325456-6D6E-4222-BB7B-0155B66CBEC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621EA3A6-C640-4B4D-A5EF-FB776DEE7969}"/>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개체가 어떻게 연결됐는지와 설명이 얼마나 비슷한지를 함께 보고 묶습니다.</a:t>
            </a:r>
          </a:p>
        </p:txBody>
      </p:sp>
      <p:sp>
        <p:nvSpPr>
          <p:cNvPr id="7" name="label-2">
            <a:extLst xmlns:a="http://schemas.openxmlformats.org/drawingml/2006/main">
              <a:ext uri="{FF2B5EF4-FFF2-40B4-BE49-F238E27FC236}">
                <a16:creationId xmlns:a16="http://schemas.microsoft.com/office/drawing/2014/main" id="{A8A86AA0-4189-4438-854F-85B210E8647D}"/>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91CF68E0-AE74-4E6C-B0FF-7DC13AD5558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큰 그룹부터 관련 범위를 좁혀 필요한 요약과 원문을 찾습니다.</a:t>
            </a:r>
          </a:p>
        </p:txBody>
      </p:sp>
      <p:sp>
        <p:nvSpPr>
          <p:cNvPr id="9" name="page">
            <a:extLst xmlns:a="http://schemas.openxmlformats.org/drawingml/2006/main">
              <a:ext uri="{FF2B5EF4-FFF2-40B4-BE49-F238E27FC236}">
                <a16:creationId xmlns:a16="http://schemas.microsoft.com/office/drawing/2014/main" id="{33BAD80F-48B5-423A-B58D-E7E912E0EDE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24</a:t>
            </a:r>
          </a:p>
        </p:txBody>
      </p:sp>
      <p:sp>
        <p:nvSpPr>
          <p:cNvPr id="11" name="narrative-bridge">
            <a:extLst xmlns:a="http://schemas.openxmlformats.org/drawingml/2006/main">
              <a:ext uri="{FF2B5EF4-FFF2-40B4-BE49-F238E27FC236}">
                <a16:creationId xmlns:a16="http://schemas.microsoft.com/office/drawing/2014/main" id="{070F3CBF-FD3A-4529-B360-31CC34C102B9}"/>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날씨 관련 이슈를 묶어 설명하는 질문에 이 구조를 대입해 봅니다.</a:t>
            </a:r>
          </a:p>
        </p:txBody>
      </p:sp>
    </p:spTree>
    <p:extLst>
      <p:ext uri="{BB962C8B-B14F-4D97-AF65-F5344CB8AC3E}">
        <p14:creationId xmlns:p14="http://schemas.microsoft.com/office/powerpoint/2010/main" val="639984891"/>
      </p:ext>
    </p:extLst>
  </p:cSld>
</p:sld>
</file>

<file path=ppt/slides/slide2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C4B9FDB-C31F-40D1-A5D3-A90CB4B2FDB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요약과 그룹</a:t>
            </a:r>
          </a:p>
        </p:txBody>
      </p:sp>
      <p:sp>
        <p:nvSpPr>
          <p:cNvPr id="2" name="title">
            <a:extLst xmlns:a="http://schemas.openxmlformats.org/drawingml/2006/main">
              <a:ext uri="{FF2B5EF4-FFF2-40B4-BE49-F238E27FC236}">
                <a16:creationId xmlns:a16="http://schemas.microsoft.com/office/drawing/2014/main" id="{F7A5AE43-D78B-400F-83ED-45E5EC9BB99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ArchRAG를 질문에 대입하면</a:t>
            </a:r>
          </a:p>
        </p:txBody>
      </p:sp>
      <p:sp>
        <p:nvSpPr>
          <p:cNvPr id="3" name="label-0">
            <a:extLst xmlns:a="http://schemas.openxmlformats.org/drawingml/2006/main">
              <a:ext uri="{FF2B5EF4-FFF2-40B4-BE49-F238E27FC236}">
                <a16:creationId xmlns:a16="http://schemas.microsoft.com/office/drawing/2014/main" id="{03A176F2-AB80-44BB-A03B-6A64E9570D35}"/>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A3639D52-D973-4562-9991-F3FB45022B44}"/>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날씨와 관련된 운영 이슈를 묶어 설명해 주세요.</a:t>
            </a:r>
          </a:p>
        </p:txBody>
      </p:sp>
      <p:sp>
        <p:nvSpPr>
          <p:cNvPr id="5" name="label-1">
            <a:extLst xmlns:a="http://schemas.openxmlformats.org/drawingml/2006/main">
              <a:ext uri="{FF2B5EF4-FFF2-40B4-BE49-F238E27FC236}">
                <a16:creationId xmlns:a16="http://schemas.microsoft.com/office/drawing/2014/main" id="{DA0C007F-9C38-4481-A0CC-DD9544E01B4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1787B193-B76F-4074-B181-5F9EFC870A4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그룹을 모두 읽기보다 관련 그룹의 요약과 원문을 선택합니다.</a:t>
            </a:r>
          </a:p>
        </p:txBody>
      </p:sp>
      <p:sp>
        <p:nvSpPr>
          <p:cNvPr id="7" name="label-2">
            <a:extLst xmlns:a="http://schemas.openxmlformats.org/drawingml/2006/main">
              <a:ext uri="{FF2B5EF4-FFF2-40B4-BE49-F238E27FC236}">
                <a16:creationId xmlns:a16="http://schemas.microsoft.com/office/drawing/2014/main" id="{DD3F49E0-A79E-4DFA-A885-A603FCC9A583}"/>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E8F74892-EBD0-4204-96FF-63C3E6623913}"/>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그룹과 검색 구조를 만드는 비용, 그룹을 잘못 좁히는 오류가 있습니다.</a:t>
            </a:r>
          </a:p>
        </p:txBody>
      </p:sp>
      <p:sp>
        <p:nvSpPr>
          <p:cNvPr id="9" name="page">
            <a:extLst xmlns:a="http://schemas.openxmlformats.org/drawingml/2006/main">
              <a:ext uri="{FF2B5EF4-FFF2-40B4-BE49-F238E27FC236}">
                <a16:creationId xmlns:a16="http://schemas.microsoft.com/office/drawing/2014/main" id="{ADC220ED-3778-42E9-9B9E-247AE866191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25</a:t>
            </a:r>
          </a:p>
        </p:txBody>
      </p:sp>
      <p:sp>
        <p:nvSpPr>
          <p:cNvPr id="11" name="narrative-bridge">
            <a:extLst xmlns:a="http://schemas.openxmlformats.org/drawingml/2006/main">
              <a:ext uri="{FF2B5EF4-FFF2-40B4-BE49-F238E27FC236}">
                <a16:creationId xmlns:a16="http://schemas.microsoft.com/office/drawing/2014/main" id="{689BF1FA-5482-4AB1-96D4-D6CAD0C321F5}"/>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관련 그룹을 고르는 과정이 준비 단계와 검색 단계에서 어떻게 나뉠까요?</a:t>
            </a:r>
          </a:p>
        </p:txBody>
      </p:sp>
    </p:spTree>
    <p:extLst>
      <p:ext uri="{BB962C8B-B14F-4D97-AF65-F5344CB8AC3E}">
        <p14:creationId xmlns:p14="http://schemas.microsoft.com/office/powerpoint/2010/main" val="708282588"/>
      </p:ext>
    </p:extLst>
  </p:cSld>
</p:sld>
</file>

<file path=ppt/slides/slide26.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FD655222-1F3E-4F6A-9841-5608AB040697}"/>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9B49F48D-AC5C-4C8F-A0C3-6677D4316A85}"/>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AF89D766-2343-4082-A501-14E2BDE052CB}"/>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5EC59F96-0859-447D-92AA-91DC957949E1}"/>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17FC4F55-D23A-4000-AF06-75D29F671888}"/>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1C7FDD56-AB7B-4569-BE85-CC6727185AF1}"/>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374A2F27-F0C6-45DE-9F5D-42543CE0479F}"/>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AFF495E5-8A05-477B-915D-F96F0F2BEFEC}"/>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A46A6F-CC26-49BE-A494-7C415493B712}"/>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요약과 그룹</a:t>
            </a:r>
          </a:p>
        </p:txBody>
      </p:sp>
      <p:sp>
        <p:nvSpPr>
          <p:cNvPr id="2" name="">
            <a:extLst xmlns:a="http://schemas.openxmlformats.org/drawingml/2006/main">
              <a:ext uri="{FF2B5EF4-FFF2-40B4-BE49-F238E27FC236}">
                <a16:creationId xmlns:a16="http://schemas.microsoft.com/office/drawing/2014/main" id="{C10B04D3-2A06-47FF-BB5D-C99827544EBF}"/>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ArchRAG의 전체 처리 순서</a:t>
            </a:r>
          </a:p>
        </p:txBody>
      </p:sp>
      <p:sp>
        <p:nvSpPr>
          <p:cNvPr id="3" name="">
            <a:extLst xmlns:a="http://schemas.openxmlformats.org/drawingml/2006/main">
              <a:ext uri="{FF2B5EF4-FFF2-40B4-BE49-F238E27FC236}">
                <a16:creationId xmlns:a16="http://schemas.microsoft.com/office/drawing/2014/main" id="{B1A702A4-55CD-47CE-8A75-2F77BC15B8B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26</a:t>
            </a:r>
          </a:p>
        </p:txBody>
      </p:sp>
      <p:sp>
        <p:nvSpPr>
          <p:cNvPr id="4" name="">
            <a:extLst xmlns:a="http://schemas.openxmlformats.org/drawingml/2006/main">
              <a:ext uri="{FF2B5EF4-FFF2-40B4-BE49-F238E27FC236}">
                <a16:creationId xmlns:a16="http://schemas.microsoft.com/office/drawing/2014/main" id="{EA73BC5C-9319-4A0F-AC9E-A20F42ABF714}"/>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699BED4D-D8E0-4081-9A31-03BDC9938FBE}"/>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개체 그래프 구성</a:t>
            </a:r>
          </a:p>
        </p:txBody>
      </p:sp>
      <p:sp>
        <p:nvSpPr>
          <p:cNvPr id="6" name="">
            <a:extLst xmlns:a="http://schemas.openxmlformats.org/drawingml/2006/main">
              <a:ext uri="{FF2B5EF4-FFF2-40B4-BE49-F238E27FC236}">
                <a16:creationId xmlns:a16="http://schemas.microsoft.com/office/drawing/2014/main" id="{D70A629C-71D1-40EC-AB67-32DDABC2BE60}"/>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설명과 특징을 벡터로 변환</a:t>
            </a:r>
          </a:p>
        </p:txBody>
      </p:sp>
      <p:sp>
        <p:nvSpPr>
          <p:cNvPr id="8" name="">
            <a:extLst xmlns:a="http://schemas.openxmlformats.org/drawingml/2006/main">
              <a:ext uri="{FF2B5EF4-FFF2-40B4-BE49-F238E27FC236}">
                <a16:creationId xmlns:a16="http://schemas.microsoft.com/office/drawing/2014/main" id="{24972E8B-9832-48AD-B38C-51B9A589DEA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연결과 의미를 함께 보고 묶기</a:t>
            </a:r>
          </a:p>
        </p:txBody>
      </p:sp>
      <p:sp>
        <p:nvSpPr>
          <p:cNvPr id="10" name="">
            <a:extLst xmlns:a="http://schemas.openxmlformats.org/drawingml/2006/main">
              <a:ext uri="{FF2B5EF4-FFF2-40B4-BE49-F238E27FC236}">
                <a16:creationId xmlns:a16="http://schemas.microsoft.com/office/drawing/2014/main" id="{AD48CE5A-94B8-4085-9F17-1CAE1C1CBB0E}"/>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그룹을 여러 층으로 요약</a:t>
            </a:r>
          </a:p>
        </p:txBody>
      </p:sp>
      <p:sp>
        <p:nvSpPr>
          <p:cNvPr id="12" name="">
            <a:extLst xmlns:a="http://schemas.openxmlformats.org/drawingml/2006/main">
              <a:ext uri="{FF2B5EF4-FFF2-40B4-BE49-F238E27FC236}">
                <a16:creationId xmlns:a16="http://schemas.microsoft.com/office/drawing/2014/main" id="{6B391B76-98E0-4B60-97F4-DA4B1F45B3B7}"/>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빠른 계층 검색 구조 준비</a:t>
            </a:r>
          </a:p>
        </p:txBody>
      </p:sp>
      <p:sp>
        <p:nvSpPr>
          <p:cNvPr id="14" name="">
            <a:extLst xmlns:a="http://schemas.openxmlformats.org/drawingml/2006/main">
              <a:ext uri="{FF2B5EF4-FFF2-40B4-BE49-F238E27FC236}">
                <a16:creationId xmlns:a16="http://schemas.microsoft.com/office/drawing/2014/main" id="{CC2518F5-E206-45CC-AE53-B75EE673A0B6}"/>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82D18D73-AA5B-4012-A79F-65A87E0456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질문과 관련된 큰 그룹 찾기</a:t>
            </a:r>
          </a:p>
        </p:txBody>
      </p:sp>
      <p:sp>
        <p:nvSpPr>
          <p:cNvPr id="16" name="">
            <a:extLst xmlns:a="http://schemas.openxmlformats.org/drawingml/2006/main">
              <a:ext uri="{FF2B5EF4-FFF2-40B4-BE49-F238E27FC236}">
                <a16:creationId xmlns:a16="http://schemas.microsoft.com/office/drawing/2014/main" id="{FB7EEBC2-982B-4D20-9399-4869CEE6D5B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계층 검색 구조를 따라 탐색</a:t>
            </a:r>
          </a:p>
        </p:txBody>
      </p:sp>
      <p:sp>
        <p:nvSpPr>
          <p:cNvPr id="18" name="">
            <a:extLst xmlns:a="http://schemas.openxmlformats.org/drawingml/2006/main">
              <a:ext uri="{FF2B5EF4-FFF2-40B4-BE49-F238E27FC236}">
                <a16:creationId xmlns:a16="http://schemas.microsoft.com/office/drawing/2014/main" id="{8A77A875-968E-41CC-80A4-5E9F966C5FD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큰 그룹에서 세부 후보로 좁히기</a:t>
            </a:r>
          </a:p>
        </p:txBody>
      </p:sp>
      <p:sp>
        <p:nvSpPr>
          <p:cNvPr id="20" name="">
            <a:extLst xmlns:a="http://schemas.openxmlformats.org/drawingml/2006/main">
              <a:ext uri="{FF2B5EF4-FFF2-40B4-BE49-F238E27FC236}">
                <a16:creationId xmlns:a16="http://schemas.microsoft.com/office/drawing/2014/main" id="{D3C0158F-06AB-4072-A9E8-58871DFFA2C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관련 없는 후보 걸러내기</a:t>
            </a:r>
          </a:p>
        </p:txBody>
      </p:sp>
      <p:sp>
        <p:nvSpPr>
          <p:cNvPr id="22" name="">
            <a:extLst xmlns:a="http://schemas.openxmlformats.org/drawingml/2006/main">
              <a:ext uri="{FF2B5EF4-FFF2-40B4-BE49-F238E27FC236}">
                <a16:creationId xmlns:a16="http://schemas.microsoft.com/office/drawing/2014/main" id="{425236F5-A29E-4839-BD1D-5613C1D0A9D5}"/>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요약·원문으로 답변</a:t>
            </a:r>
          </a:p>
        </p:txBody>
      </p:sp>
      <p:sp>
        <p:nvSpPr>
          <p:cNvPr id="24" name="">
            <a:extLst xmlns:a="http://schemas.openxmlformats.org/drawingml/2006/main">
              <a:ext uri="{FF2B5EF4-FFF2-40B4-BE49-F238E27FC236}">
                <a16:creationId xmlns:a16="http://schemas.microsoft.com/office/drawing/2014/main" id="{F82CF5E2-54B2-4C85-960F-A90F1B2ED801}"/>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그룹 요약까지 봤으니, 특정 개체와 관계를 직접 찾는 LightRAG로 갑니다.</a:t>
            </a:r>
          </a:p>
        </p:txBody>
      </p:sp>
    </p:spTree>
    <p:extLst>
      <p:ext uri="{BB962C8B-B14F-4D97-AF65-F5344CB8AC3E}">
        <p14:creationId xmlns:p14="http://schemas.microsoft.com/office/powerpoint/2010/main" val="1095044567"/>
      </p:ext>
    </p:extLst>
  </p:cSld>
</p:sld>
</file>

<file path=ppt/slides/slide2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6A48F453-70A9-4B35-AAF6-7A73D1578C7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개체와 연결</a:t>
            </a:r>
          </a:p>
        </p:txBody>
      </p:sp>
      <p:sp>
        <p:nvSpPr>
          <p:cNvPr id="2" name="title">
            <a:extLst xmlns:a="http://schemas.openxmlformats.org/drawingml/2006/main">
              <a:ext uri="{FF2B5EF4-FFF2-40B4-BE49-F238E27FC236}">
                <a16:creationId xmlns:a16="http://schemas.microsoft.com/office/drawing/2014/main" id="{85AADB55-2362-4A32-9E3C-837DB6B4D2A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LightRAG: 개체와 관계를 나눠 검색</a:t>
            </a:r>
          </a:p>
        </p:txBody>
      </p:sp>
      <p:sp>
        <p:nvSpPr>
          <p:cNvPr id="3" name="label-0">
            <a:extLst xmlns:a="http://schemas.openxmlformats.org/drawingml/2006/main">
              <a:ext uri="{FF2B5EF4-FFF2-40B4-BE49-F238E27FC236}">
                <a16:creationId xmlns:a16="http://schemas.microsoft.com/office/drawing/2014/main" id="{C574E557-36B3-4A51-B9B2-D868EA110CC1}"/>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F5B683B4-65B6-4EA7-8029-699EFC9BEA2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설명, 관계 설명, 연결된 원문</a:t>
            </a:r>
          </a:p>
        </p:txBody>
      </p:sp>
      <p:sp>
        <p:nvSpPr>
          <p:cNvPr id="5" name="label-1">
            <a:extLst xmlns:a="http://schemas.openxmlformats.org/drawingml/2006/main">
              <a:ext uri="{FF2B5EF4-FFF2-40B4-BE49-F238E27FC236}">
                <a16:creationId xmlns:a16="http://schemas.microsoft.com/office/drawing/2014/main" id="{309BA61A-2208-455E-A3E7-FE4288A860C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A3D6B0FF-6A06-487A-9C04-5E18CBE0104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같은 개체와 관계의 설명을 합치고 원문 위치를 저장합니다.</a:t>
            </a:r>
          </a:p>
        </p:txBody>
      </p:sp>
      <p:sp>
        <p:nvSpPr>
          <p:cNvPr id="7" name="label-2">
            <a:extLst xmlns:a="http://schemas.openxmlformats.org/drawingml/2006/main">
              <a:ext uri="{FF2B5EF4-FFF2-40B4-BE49-F238E27FC236}">
                <a16:creationId xmlns:a16="http://schemas.microsoft.com/office/drawing/2014/main" id="{90ED19D8-7D68-4494-AD19-E6916558B7C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6D273132-0009-4F56-9802-21663F7338B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구체적인 대상 키워드와 넓은 주제 키워드로 근거를 찾습니다.</a:t>
            </a:r>
          </a:p>
        </p:txBody>
      </p:sp>
      <p:sp>
        <p:nvSpPr>
          <p:cNvPr id="9" name="page">
            <a:extLst xmlns:a="http://schemas.openxmlformats.org/drawingml/2006/main">
              <a:ext uri="{FF2B5EF4-FFF2-40B4-BE49-F238E27FC236}">
                <a16:creationId xmlns:a16="http://schemas.microsoft.com/office/drawing/2014/main" id="{E408FA10-7F39-4B91-9EE8-3C0EC328DF1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27</a:t>
            </a:r>
          </a:p>
        </p:txBody>
      </p:sp>
      <p:sp>
        <p:nvSpPr>
          <p:cNvPr id="11" name="narrative-bridge">
            <a:extLst xmlns:a="http://schemas.openxmlformats.org/drawingml/2006/main">
              <a:ext uri="{FF2B5EF4-FFF2-40B4-BE49-F238E27FC236}">
                <a16:creationId xmlns:a16="http://schemas.microsoft.com/office/drawing/2014/main" id="{6FDE5FD7-61A8-4674-8187-2E661BE3D71B}"/>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이번 질문은 전체 요약보다 배차시스템과 모델의 사용 관계에 가깝습니다.</a:t>
            </a:r>
          </a:p>
        </p:txBody>
      </p:sp>
    </p:spTree>
    <p:extLst>
      <p:ext uri="{BB962C8B-B14F-4D97-AF65-F5344CB8AC3E}">
        <p14:creationId xmlns:p14="http://schemas.microsoft.com/office/powerpoint/2010/main" val="2077996527"/>
      </p:ext>
    </p:extLst>
  </p:cSld>
</p:sld>
</file>

<file path=ppt/slides/slide2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1523124-8744-47A2-A59E-E7709790C55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개체와 연결</a:t>
            </a:r>
          </a:p>
        </p:txBody>
      </p:sp>
      <p:sp>
        <p:nvSpPr>
          <p:cNvPr id="2" name="title">
            <a:extLst xmlns:a="http://schemas.openxmlformats.org/drawingml/2006/main">
              <a:ext uri="{FF2B5EF4-FFF2-40B4-BE49-F238E27FC236}">
                <a16:creationId xmlns:a16="http://schemas.microsoft.com/office/drawing/2014/main" id="{4844884F-2C62-4714-B62E-B3639E3F36AC}"/>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LightRAG를 질문에 대입하면</a:t>
            </a:r>
          </a:p>
        </p:txBody>
      </p:sp>
      <p:sp>
        <p:nvSpPr>
          <p:cNvPr id="3" name="label-0">
            <a:extLst xmlns:a="http://schemas.openxmlformats.org/drawingml/2006/main">
              <a:ext uri="{FF2B5EF4-FFF2-40B4-BE49-F238E27FC236}">
                <a16:creationId xmlns:a16="http://schemas.microsoft.com/office/drawing/2014/main" id="{688754E4-77BD-47FE-9A01-FF8C7CDF2C7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F84458A3-084F-4E1D-90C4-90EF14BA52A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배차시스템은 도착예측모델을 어떻게 활용하나요?</a:t>
            </a:r>
          </a:p>
        </p:txBody>
      </p:sp>
      <p:sp>
        <p:nvSpPr>
          <p:cNvPr id="5" name="label-1">
            <a:extLst xmlns:a="http://schemas.openxmlformats.org/drawingml/2006/main">
              <a:ext uri="{FF2B5EF4-FFF2-40B4-BE49-F238E27FC236}">
                <a16:creationId xmlns:a16="http://schemas.microsoft.com/office/drawing/2014/main" id="{F3F8A366-4C83-404B-BF61-668F24FE1D3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03A4BC0A-FAC3-42E1-8877-5A8E91CB1617}"/>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시스템 설명과 사용 관계를 찾고 연결된 원문을 모읍니다.</a:t>
            </a:r>
          </a:p>
        </p:txBody>
      </p:sp>
      <p:sp>
        <p:nvSpPr>
          <p:cNvPr id="7" name="label-2">
            <a:extLst xmlns:a="http://schemas.openxmlformats.org/drawingml/2006/main">
              <a:ext uri="{FF2B5EF4-FFF2-40B4-BE49-F238E27FC236}">
                <a16:creationId xmlns:a16="http://schemas.microsoft.com/office/drawing/2014/main" id="{C17422C1-3365-44A5-80F6-6CC4D5660C1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1ABB8EFE-5C85-4F84-BCF5-5E827FF09095}"/>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키워드나 추출한 관계가 틀리면 근거도 빗나갈 수 있습니다.</a:t>
            </a:r>
          </a:p>
        </p:txBody>
      </p:sp>
      <p:sp>
        <p:nvSpPr>
          <p:cNvPr id="9" name="page">
            <a:extLst xmlns:a="http://schemas.openxmlformats.org/drawingml/2006/main">
              <a:ext uri="{FF2B5EF4-FFF2-40B4-BE49-F238E27FC236}">
                <a16:creationId xmlns:a16="http://schemas.microsoft.com/office/drawing/2014/main" id="{814803BE-9FC3-434B-B2B9-995A21B225D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28</a:t>
            </a:r>
          </a:p>
        </p:txBody>
      </p:sp>
      <p:sp>
        <p:nvSpPr>
          <p:cNvPr id="11" name="narrative-bridge">
            <a:extLst xmlns:a="http://schemas.openxmlformats.org/drawingml/2006/main">
              <a:ext uri="{FF2B5EF4-FFF2-40B4-BE49-F238E27FC236}">
                <a16:creationId xmlns:a16="http://schemas.microsoft.com/office/drawing/2014/main" id="{CA69531B-054C-4F98-972D-216AAEE06B33}"/>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개체 설명과 관계 설명이 최종 원문 근거로 이어지는 순서를 봅니다.</a:t>
            </a:r>
          </a:p>
        </p:txBody>
      </p:sp>
    </p:spTree>
    <p:extLst>
      <p:ext uri="{BB962C8B-B14F-4D97-AF65-F5344CB8AC3E}">
        <p14:creationId xmlns:p14="http://schemas.microsoft.com/office/powerpoint/2010/main" val="1451243853"/>
      </p:ext>
    </p:extLst>
  </p:cSld>
</p:sld>
</file>

<file path=ppt/slides/slide2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3CFB90D4-FAAD-4176-BBC2-08A2E8E77961}"/>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5647E8A4-7B8A-4B06-B521-1C0CD0640CF3}"/>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7E015B0-7D4C-444D-A5D3-024F3A4866E2}"/>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F651C01B-01D2-42A1-99FF-89CA37BB1D3D}"/>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FB0A25FF-A0CA-41D8-8A7B-C594DE4131F1}"/>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CB84A23F-F3A8-4BF2-B9CD-8C566DEE40A3}"/>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7C4497C7-1699-43EA-8932-D95DD596862F}"/>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6FA472E7-53EC-4E2F-9299-E8760A4AADA4}"/>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2E50EE9F-B829-4609-B346-BC5FB06BBDEA}"/>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개체와 연결</a:t>
            </a:r>
          </a:p>
        </p:txBody>
      </p:sp>
      <p:sp>
        <p:nvSpPr>
          <p:cNvPr id="2" name="">
            <a:extLst xmlns:a="http://schemas.openxmlformats.org/drawingml/2006/main">
              <a:ext uri="{FF2B5EF4-FFF2-40B4-BE49-F238E27FC236}">
                <a16:creationId xmlns:a16="http://schemas.microsoft.com/office/drawing/2014/main" id="{91E91E4D-4C00-48FA-8809-F0BFB338AB9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LightRAG의 전체 처리 순서</a:t>
            </a:r>
          </a:p>
        </p:txBody>
      </p:sp>
      <p:sp>
        <p:nvSpPr>
          <p:cNvPr id="3" name="">
            <a:extLst xmlns:a="http://schemas.openxmlformats.org/drawingml/2006/main">
              <a:ext uri="{FF2B5EF4-FFF2-40B4-BE49-F238E27FC236}">
                <a16:creationId xmlns:a16="http://schemas.microsoft.com/office/drawing/2014/main" id="{891CCABA-33D8-4861-B01E-F647CB888DF9}"/>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29</a:t>
            </a:r>
          </a:p>
        </p:txBody>
      </p:sp>
      <p:sp>
        <p:nvSpPr>
          <p:cNvPr id="4" name="">
            <a:extLst xmlns:a="http://schemas.openxmlformats.org/drawingml/2006/main">
              <a:ext uri="{FF2B5EF4-FFF2-40B4-BE49-F238E27FC236}">
                <a16:creationId xmlns:a16="http://schemas.microsoft.com/office/drawing/2014/main" id="{3AAF4E5B-C398-48C5-B0F1-42EB352F2E8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9C704328-01B5-42B0-BFCF-C3955A84A7E8}"/>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조각으로 나누기</a:t>
            </a:r>
          </a:p>
        </p:txBody>
      </p:sp>
      <p:sp>
        <p:nvSpPr>
          <p:cNvPr id="6" name="">
            <a:extLst xmlns:a="http://schemas.openxmlformats.org/drawingml/2006/main">
              <a:ext uri="{FF2B5EF4-FFF2-40B4-BE49-F238E27FC236}">
                <a16:creationId xmlns:a16="http://schemas.microsoft.com/office/drawing/2014/main" id="{E84D2558-611E-492D-B63F-AA13FD35CE5A}"/>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개체와 관계 추출</a:t>
            </a:r>
          </a:p>
        </p:txBody>
      </p:sp>
      <p:sp>
        <p:nvSpPr>
          <p:cNvPr id="8" name="">
            <a:extLst xmlns:a="http://schemas.openxmlformats.org/drawingml/2006/main">
              <a:ext uri="{FF2B5EF4-FFF2-40B4-BE49-F238E27FC236}">
                <a16:creationId xmlns:a16="http://schemas.microsoft.com/office/drawing/2014/main" id="{5A4CFD61-60A1-454F-B773-8E8FC124D116}"/>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중복된 설명을 합치기</a:t>
            </a:r>
          </a:p>
        </p:txBody>
      </p:sp>
      <p:sp>
        <p:nvSpPr>
          <p:cNvPr id="10" name="">
            <a:extLst xmlns:a="http://schemas.openxmlformats.org/drawingml/2006/main">
              <a:ext uri="{FF2B5EF4-FFF2-40B4-BE49-F238E27FC236}">
                <a16:creationId xmlns:a16="http://schemas.microsoft.com/office/drawing/2014/main" id="{0D711D1E-3B86-4B8A-AACD-EA6E8B810F1C}"/>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그래프·벡터·원문 위치 저장</a:t>
            </a:r>
          </a:p>
        </p:txBody>
      </p:sp>
      <p:sp>
        <p:nvSpPr>
          <p:cNvPr id="12" name="">
            <a:extLst xmlns:a="http://schemas.openxmlformats.org/drawingml/2006/main">
              <a:ext uri="{FF2B5EF4-FFF2-40B4-BE49-F238E27FC236}">
                <a16:creationId xmlns:a16="http://schemas.microsoft.com/office/drawing/2014/main" id="{CB8A1FF2-9EC9-4F57-982E-32BC84D6FFF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새 문서의 정보를 추가</a:t>
            </a:r>
          </a:p>
        </p:txBody>
      </p:sp>
      <p:sp>
        <p:nvSpPr>
          <p:cNvPr id="14" name="">
            <a:extLst xmlns:a="http://schemas.openxmlformats.org/drawingml/2006/main">
              <a:ext uri="{FF2B5EF4-FFF2-40B4-BE49-F238E27FC236}">
                <a16:creationId xmlns:a16="http://schemas.microsoft.com/office/drawing/2014/main" id="{E3C9AF8F-CDFF-45D8-B6FA-C6C5F8B4FDF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C29AF815-F01C-4C83-B1A2-270AE18A5DA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대상·주제 키워드 추출</a:t>
            </a:r>
          </a:p>
        </p:txBody>
      </p:sp>
      <p:sp>
        <p:nvSpPr>
          <p:cNvPr id="16" name="">
            <a:extLst xmlns:a="http://schemas.openxmlformats.org/drawingml/2006/main">
              <a:ext uri="{FF2B5EF4-FFF2-40B4-BE49-F238E27FC236}">
                <a16:creationId xmlns:a16="http://schemas.microsoft.com/office/drawing/2014/main" id="{2998A399-D6EE-422B-ACEF-4050ADEE1E85}"/>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대상 키워드로 개체 찾기</a:t>
            </a:r>
          </a:p>
        </p:txBody>
      </p:sp>
      <p:sp>
        <p:nvSpPr>
          <p:cNvPr id="18" name="">
            <a:extLst xmlns:a="http://schemas.openxmlformats.org/drawingml/2006/main">
              <a:ext uri="{FF2B5EF4-FFF2-40B4-BE49-F238E27FC236}">
                <a16:creationId xmlns:a16="http://schemas.microsoft.com/office/drawing/2014/main" id="{4C4D74D6-C05C-4A57-B7B9-21F168A70E23}"/>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주제 키워드로 관계 찾기</a:t>
            </a:r>
          </a:p>
        </p:txBody>
      </p:sp>
      <p:sp>
        <p:nvSpPr>
          <p:cNvPr id="20" name="">
            <a:extLst xmlns:a="http://schemas.openxmlformats.org/drawingml/2006/main">
              <a:ext uri="{FF2B5EF4-FFF2-40B4-BE49-F238E27FC236}">
                <a16:creationId xmlns:a16="http://schemas.microsoft.com/office/drawing/2014/main" id="{7787F7B2-F9F3-4C61-B0D1-2AC362B40F8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주변 연결과 원문 모으기</a:t>
            </a:r>
          </a:p>
        </p:txBody>
      </p:sp>
      <p:sp>
        <p:nvSpPr>
          <p:cNvPr id="22" name="">
            <a:extLst xmlns:a="http://schemas.openxmlformats.org/drawingml/2006/main">
              <a:ext uri="{FF2B5EF4-FFF2-40B4-BE49-F238E27FC236}">
                <a16:creationId xmlns:a16="http://schemas.microsoft.com/office/drawing/2014/main" id="{1EEB79F2-E1C7-4478-A0D5-30C55CF98ECC}"/>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모은 근거로 답변 작성</a:t>
            </a:r>
          </a:p>
        </p:txBody>
      </p:sp>
      <p:sp>
        <p:nvSpPr>
          <p:cNvPr id="24" name="">
            <a:extLst xmlns:a="http://schemas.openxmlformats.org/drawingml/2006/main">
              <a:ext uri="{FF2B5EF4-FFF2-40B4-BE49-F238E27FC236}">
                <a16:creationId xmlns:a16="http://schemas.microsoft.com/office/drawing/2014/main" id="{3548E26D-73A4-4294-9983-B9C79879AF9A}"/>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더 먼 연결까지 찾으려면, 질문의 단서를 연결망에 퍼뜨릴 수 있습니다.</a:t>
            </a:r>
          </a:p>
        </p:txBody>
      </p:sp>
    </p:spTree>
    <p:extLst>
      <p:ext uri="{BB962C8B-B14F-4D97-AF65-F5344CB8AC3E}">
        <p14:creationId xmlns:p14="http://schemas.microsoft.com/office/powerpoint/2010/main" val="371560908"/>
      </p:ext>
    </p:extLst>
  </p:cSld>
</p:sld>
</file>

<file path=ppt/slides/slide3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5B54254-5E1F-4CC5-8136-0B1B2A492328}"/>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검색 구조 비교</a:t>
            </a:r>
          </a:p>
        </p:txBody>
      </p:sp>
      <p:sp>
        <p:nvSpPr>
          <p:cNvPr id="2" name="title">
            <a:extLst xmlns:a="http://schemas.openxmlformats.org/drawingml/2006/main">
              <a:ext uri="{FF2B5EF4-FFF2-40B4-BE49-F238E27FC236}">
                <a16:creationId xmlns:a16="http://schemas.microsoft.com/office/drawing/2014/main" id="{C511B667-8C7C-4959-9DF6-F27CAA1BDBE9}"/>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먼 연결을 찾는 PPR 점수 계산</a:t>
            </a:r>
          </a:p>
        </p:txBody>
      </p:sp>
      <p:sp>
        <p:nvSpPr>
          <p:cNvPr id="3" name="label-0">
            <a:extLst xmlns:a="http://schemas.openxmlformats.org/drawingml/2006/main">
              <a:ext uri="{FF2B5EF4-FFF2-40B4-BE49-F238E27FC236}">
                <a16:creationId xmlns:a16="http://schemas.microsoft.com/office/drawing/2014/main" id="{699E913D-B61D-45F9-AFBA-8E210C660131}"/>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출발점</a:t>
            </a:r>
          </a:p>
        </p:txBody>
      </p:sp>
      <p:sp>
        <p:nvSpPr>
          <p:cNvPr id="4" name="body-0">
            <a:extLst xmlns:a="http://schemas.openxmlformats.org/drawingml/2006/main">
              <a:ext uri="{FF2B5EF4-FFF2-40B4-BE49-F238E27FC236}">
                <a16:creationId xmlns:a16="http://schemas.microsoft.com/office/drawing/2014/main" id="{C14B1BFC-D71F-4B88-93AA-9DE718412FC7}"/>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질문과 연결된 개체에 시작 점수를 줍니다.</a:t>
            </a:r>
          </a:p>
        </p:txBody>
      </p:sp>
      <p:sp>
        <p:nvSpPr>
          <p:cNvPr id="5" name="label-1">
            <a:extLst xmlns:a="http://schemas.openxmlformats.org/drawingml/2006/main">
              <a:ext uri="{FF2B5EF4-FFF2-40B4-BE49-F238E27FC236}">
                <a16:creationId xmlns:a16="http://schemas.microsoft.com/office/drawing/2014/main" id="{A68B5509-BF30-4F96-BA5E-D8E58C6F9E51}"/>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점수 전달</a:t>
            </a:r>
          </a:p>
        </p:txBody>
      </p:sp>
      <p:sp>
        <p:nvSpPr>
          <p:cNvPr id="6" name="body-1">
            <a:extLst xmlns:a="http://schemas.openxmlformats.org/drawingml/2006/main">
              <a:ext uri="{FF2B5EF4-FFF2-40B4-BE49-F238E27FC236}">
                <a16:creationId xmlns:a16="http://schemas.microsoft.com/office/drawing/2014/main" id="{8E634068-09AA-4945-9B80-D5011B63F98F}"/>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연결된 이웃으로 점수를 보내는 계산을 반복합니다.</a:t>
            </a:r>
          </a:p>
        </p:txBody>
      </p:sp>
      <p:sp>
        <p:nvSpPr>
          <p:cNvPr id="7" name="label-2">
            <a:extLst xmlns:a="http://schemas.openxmlformats.org/drawingml/2006/main">
              <a:ext uri="{FF2B5EF4-FFF2-40B4-BE49-F238E27FC236}">
                <a16:creationId xmlns:a16="http://schemas.microsoft.com/office/drawing/2014/main" id="{F9210B1C-653A-4CF8-BB34-82A1ABF3C9D3}"/>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원문 선택</a:t>
            </a:r>
          </a:p>
        </p:txBody>
      </p:sp>
      <p:sp>
        <p:nvSpPr>
          <p:cNvPr id="8" name="body-2">
            <a:extLst xmlns:a="http://schemas.openxmlformats.org/drawingml/2006/main">
              <a:ext uri="{FF2B5EF4-FFF2-40B4-BE49-F238E27FC236}">
                <a16:creationId xmlns:a16="http://schemas.microsoft.com/office/drawing/2014/main" id="{2588BCE4-5B9C-4454-B0CA-BE986FCB0E72}"/>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높은 점수의 개체와 연결된 문서를 근거 후보로 고릅니다.</a:t>
            </a:r>
          </a:p>
        </p:txBody>
      </p:sp>
      <p:sp>
        <p:nvSpPr>
          <p:cNvPr id="9" name="page">
            <a:extLst xmlns:a="http://schemas.openxmlformats.org/drawingml/2006/main">
              <a:ext uri="{FF2B5EF4-FFF2-40B4-BE49-F238E27FC236}">
                <a16:creationId xmlns:a16="http://schemas.microsoft.com/office/drawing/2014/main" id="{E68451AB-919F-4F1F-826D-95E6DE2584C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30</a:t>
            </a:r>
          </a:p>
        </p:txBody>
      </p:sp>
      <p:sp>
        <p:nvSpPr>
          <p:cNvPr id="11" name="narrative-bridge">
            <a:extLst xmlns:a="http://schemas.openxmlformats.org/drawingml/2006/main">
              <a:ext uri="{FF2B5EF4-FFF2-40B4-BE49-F238E27FC236}">
                <a16:creationId xmlns:a16="http://schemas.microsoft.com/office/drawing/2014/main" id="{7E9FB14D-58FD-40B9-B2EE-58713E13367B}"/>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이 점수 계산을 개체 그래프와 원문 검색에 쓰는 예가 HippoRAG입니다.</a:t>
            </a:r>
          </a:p>
        </p:txBody>
      </p:sp>
    </p:spTree>
    <p:extLst>
      <p:ext uri="{BB962C8B-B14F-4D97-AF65-F5344CB8AC3E}">
        <p14:creationId xmlns:p14="http://schemas.microsoft.com/office/powerpoint/2010/main" val="889223100"/>
      </p:ext>
    </p:extLst>
  </p:cSld>
</p:sld>
</file>

<file path=ppt/slides/slide3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DA1C0A8B-2896-46E3-A3D3-0765CE447E5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개체와 연결</a:t>
            </a:r>
          </a:p>
        </p:txBody>
      </p:sp>
      <p:sp>
        <p:nvSpPr>
          <p:cNvPr id="2" name="title">
            <a:extLst xmlns:a="http://schemas.openxmlformats.org/drawingml/2006/main">
              <a:ext uri="{FF2B5EF4-FFF2-40B4-BE49-F238E27FC236}">
                <a16:creationId xmlns:a16="http://schemas.microsoft.com/office/drawing/2014/main" id="{E371711B-126F-4C01-8A72-D122A97391E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질문의 단서를 연결망에 퍼뜨리기</a:t>
            </a:r>
          </a:p>
        </p:txBody>
      </p:sp>
      <p:sp>
        <p:nvSpPr>
          <p:cNvPr id="3" name="label-0">
            <a:extLst xmlns:a="http://schemas.openxmlformats.org/drawingml/2006/main">
              <a:ext uri="{FF2B5EF4-FFF2-40B4-BE49-F238E27FC236}">
                <a16:creationId xmlns:a16="http://schemas.microsoft.com/office/drawing/2014/main" id="{7F433B51-1777-4C1F-A96F-124B40EB291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EF0AD893-3AAB-4E2C-B4F5-1ED0B3C9321A}"/>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사이의 연결과 원문 위치</a:t>
            </a:r>
          </a:p>
        </p:txBody>
      </p:sp>
      <p:sp>
        <p:nvSpPr>
          <p:cNvPr id="5" name="label-1">
            <a:extLst xmlns:a="http://schemas.openxmlformats.org/drawingml/2006/main">
              <a:ext uri="{FF2B5EF4-FFF2-40B4-BE49-F238E27FC236}">
                <a16:creationId xmlns:a16="http://schemas.microsoft.com/office/drawing/2014/main" id="{6C5D32EC-EC97-445F-AD08-A7102C69BE09}"/>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82C03884-15A4-421F-8529-5AA248D24875}"/>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문장에서 개체와 관계를 뽑고 각 개체를 원문에 연결합니다.</a:t>
            </a:r>
          </a:p>
        </p:txBody>
      </p:sp>
      <p:sp>
        <p:nvSpPr>
          <p:cNvPr id="7" name="label-2">
            <a:extLst xmlns:a="http://schemas.openxmlformats.org/drawingml/2006/main">
              <a:ext uri="{FF2B5EF4-FFF2-40B4-BE49-F238E27FC236}">
                <a16:creationId xmlns:a16="http://schemas.microsoft.com/office/drawing/2014/main" id="{11CDFD45-075F-4015-AC3D-463D56307F49}"/>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2C83F568-E7F5-4F50-80D4-42727176B7E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속 개체에서 시작해 연결망의 점수를 계산하고 문서를 고릅니다.</a:t>
            </a:r>
          </a:p>
        </p:txBody>
      </p:sp>
      <p:sp>
        <p:nvSpPr>
          <p:cNvPr id="9" name="page">
            <a:extLst xmlns:a="http://schemas.openxmlformats.org/drawingml/2006/main">
              <a:ext uri="{FF2B5EF4-FFF2-40B4-BE49-F238E27FC236}">
                <a16:creationId xmlns:a16="http://schemas.microsoft.com/office/drawing/2014/main" id="{876CF601-98DC-498E-9797-F3048885B5C1}"/>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31</a:t>
            </a:r>
          </a:p>
        </p:txBody>
      </p:sp>
      <p:sp>
        <p:nvSpPr>
          <p:cNvPr id="11" name="narrative-bridge">
            <a:extLst xmlns:a="http://schemas.openxmlformats.org/drawingml/2006/main">
              <a:ext uri="{FF2B5EF4-FFF2-40B4-BE49-F238E27FC236}">
                <a16:creationId xmlns:a16="http://schemas.microsoft.com/office/drawing/2014/main" id="{1897362B-B8F8-4D2D-B922-68AAB8AF8944}"/>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날씨API에서 출발해 회사 이름까지 찾아야 하는 질문으로 확인합니다.</a:t>
            </a:r>
          </a:p>
        </p:txBody>
      </p:sp>
    </p:spTree>
    <p:extLst>
      <p:ext uri="{BB962C8B-B14F-4D97-AF65-F5344CB8AC3E}">
        <p14:creationId xmlns:p14="http://schemas.microsoft.com/office/powerpoint/2010/main" val="807075386"/>
      </p:ext>
    </p:extLst>
  </p:cSld>
</p:sld>
</file>

<file path=ppt/slides/slide3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40E1E588-6022-49E9-9530-AF709A8D21A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개체와 연결</a:t>
            </a:r>
          </a:p>
        </p:txBody>
      </p:sp>
      <p:sp>
        <p:nvSpPr>
          <p:cNvPr id="2" name="title">
            <a:extLst xmlns:a="http://schemas.openxmlformats.org/drawingml/2006/main">
              <a:ext uri="{FF2B5EF4-FFF2-40B4-BE49-F238E27FC236}">
                <a16:creationId xmlns:a16="http://schemas.microsoft.com/office/drawing/2014/main" id="{A07C3DB9-5EA4-4FF5-ADFB-E62BFBD3B40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HippoRAG를 질문에 대입하면</a:t>
            </a:r>
          </a:p>
        </p:txBody>
      </p:sp>
      <p:sp>
        <p:nvSpPr>
          <p:cNvPr id="3" name="label-0">
            <a:extLst xmlns:a="http://schemas.openxmlformats.org/drawingml/2006/main">
              <a:ext uri="{FF2B5EF4-FFF2-40B4-BE49-F238E27FC236}">
                <a16:creationId xmlns:a16="http://schemas.microsoft.com/office/drawing/2014/main" id="{144B2FF2-0F0D-4E58-9BE5-1F9A30ED953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CADA4068-8DFD-4A5C-9D34-21D579543698}"/>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 정보를 쓰는 시스템을 사용하는 회사는 어디인가요?</a:t>
            </a:r>
          </a:p>
        </p:txBody>
      </p:sp>
      <p:sp>
        <p:nvSpPr>
          <p:cNvPr id="5" name="label-1">
            <a:extLst xmlns:a="http://schemas.openxmlformats.org/drawingml/2006/main">
              <a:ext uri="{FF2B5EF4-FFF2-40B4-BE49-F238E27FC236}">
                <a16:creationId xmlns:a16="http://schemas.microsoft.com/office/drawing/2014/main" id="{DCFE531C-248C-46AC-B3AA-C6BEC5A2F3A3}"/>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3B441026-0319-4F3C-BC6C-85A71DAE844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 모델, 배차시스템, 회사를 연결하는 문서를 모읍니다.</a:t>
            </a:r>
          </a:p>
        </p:txBody>
      </p:sp>
      <p:sp>
        <p:nvSpPr>
          <p:cNvPr id="7" name="label-2">
            <a:extLst xmlns:a="http://schemas.openxmlformats.org/drawingml/2006/main">
              <a:ext uri="{FF2B5EF4-FFF2-40B4-BE49-F238E27FC236}">
                <a16:creationId xmlns:a16="http://schemas.microsoft.com/office/drawing/2014/main" id="{D48888B1-4243-4AA9-B183-E0317D79266D}"/>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DEF7F8A6-F77C-40AE-916B-3F1994D2D0D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잘못된 연결이나 연결이 많은 대상이 검색 점수를 흔들 수 있습니다.</a:t>
            </a:r>
          </a:p>
        </p:txBody>
      </p:sp>
      <p:sp>
        <p:nvSpPr>
          <p:cNvPr id="9" name="page">
            <a:extLst xmlns:a="http://schemas.openxmlformats.org/drawingml/2006/main">
              <a:ext uri="{FF2B5EF4-FFF2-40B4-BE49-F238E27FC236}">
                <a16:creationId xmlns:a16="http://schemas.microsoft.com/office/drawing/2014/main" id="{7DB711F9-2B56-4BB6-BC0B-DC2B4A71ACE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32</a:t>
            </a:r>
          </a:p>
        </p:txBody>
      </p:sp>
      <p:sp>
        <p:nvSpPr>
          <p:cNvPr id="11" name="narrative-bridge">
            <a:extLst xmlns:a="http://schemas.openxmlformats.org/drawingml/2006/main">
              <a:ext uri="{FF2B5EF4-FFF2-40B4-BE49-F238E27FC236}">
                <a16:creationId xmlns:a16="http://schemas.microsoft.com/office/drawing/2014/main" id="{66DBC8CB-9D11-487E-8C17-062C7BADABA4}"/>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회사를 답하려면 중간 연결의 원문들이 함께 검색되어야 합니다.</a:t>
            </a:r>
          </a:p>
        </p:txBody>
      </p:sp>
    </p:spTree>
    <p:extLst>
      <p:ext uri="{BB962C8B-B14F-4D97-AF65-F5344CB8AC3E}">
        <p14:creationId xmlns:p14="http://schemas.microsoft.com/office/powerpoint/2010/main" val="2104326198"/>
      </p:ext>
    </p:extLst>
  </p:cSld>
</p:sld>
</file>

<file path=ppt/slides/slide33.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74700C4E-4F83-4F25-B9AB-EF1D6C2D4116}"/>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00FD34B3-A238-45D2-BBFB-B4DD79D10DCF}"/>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923CB712-512A-48C1-B59B-810F21056C74}"/>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BB1D23EB-777C-4752-9898-0159EC1EFCBF}"/>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8E6BB584-413E-4E13-ABC9-431C34B6985E}"/>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AC13F384-CB73-458F-AB6E-93BB8C76D842}"/>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1AA6F2F6-E902-491B-8252-A340C132F5A0}"/>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395F4E0C-2E56-4E63-AAA2-F04D123A6962}"/>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D069C0AB-A4BE-48B0-B133-C40CD8E118B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개체와 연결</a:t>
            </a:r>
          </a:p>
        </p:txBody>
      </p:sp>
      <p:sp>
        <p:nvSpPr>
          <p:cNvPr id="2" name="">
            <a:extLst xmlns:a="http://schemas.openxmlformats.org/drawingml/2006/main">
              <a:ext uri="{FF2B5EF4-FFF2-40B4-BE49-F238E27FC236}">
                <a16:creationId xmlns:a16="http://schemas.microsoft.com/office/drawing/2014/main" id="{44C0E3B0-910B-451B-B36A-4DADF392A53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HippoRAG의 전체 처리 순서</a:t>
            </a:r>
          </a:p>
        </p:txBody>
      </p:sp>
      <p:sp>
        <p:nvSpPr>
          <p:cNvPr id="3" name="">
            <a:extLst xmlns:a="http://schemas.openxmlformats.org/drawingml/2006/main">
              <a:ext uri="{FF2B5EF4-FFF2-40B4-BE49-F238E27FC236}">
                <a16:creationId xmlns:a16="http://schemas.microsoft.com/office/drawing/2014/main" id="{E785009E-3754-4E9E-8E9C-A62E5C30A7E0}"/>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33</a:t>
            </a:r>
          </a:p>
        </p:txBody>
      </p:sp>
      <p:sp>
        <p:nvSpPr>
          <p:cNvPr id="4" name="">
            <a:extLst xmlns:a="http://schemas.openxmlformats.org/drawingml/2006/main">
              <a:ext uri="{FF2B5EF4-FFF2-40B4-BE49-F238E27FC236}">
                <a16:creationId xmlns:a16="http://schemas.microsoft.com/office/drawing/2014/main" id="{427F4BE6-6602-4D9F-882D-B69D7290E449}"/>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FF9D01DD-E5A7-4CC2-88E1-05A010C3597A}"/>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문단으로 나누기</a:t>
            </a:r>
          </a:p>
        </p:txBody>
      </p:sp>
      <p:sp>
        <p:nvSpPr>
          <p:cNvPr id="6" name="">
            <a:extLst xmlns:a="http://schemas.openxmlformats.org/drawingml/2006/main">
              <a:ext uri="{FF2B5EF4-FFF2-40B4-BE49-F238E27FC236}">
                <a16:creationId xmlns:a16="http://schemas.microsoft.com/office/drawing/2014/main" id="{8CADC742-52E4-4A8B-BA24-27D1DF9A84C3}"/>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문장에서 개체·관계 추출</a:t>
            </a:r>
          </a:p>
        </p:txBody>
      </p:sp>
      <p:sp>
        <p:nvSpPr>
          <p:cNvPr id="8" name="">
            <a:extLst xmlns:a="http://schemas.openxmlformats.org/drawingml/2006/main">
              <a:ext uri="{FF2B5EF4-FFF2-40B4-BE49-F238E27FC236}">
                <a16:creationId xmlns:a16="http://schemas.microsoft.com/office/drawing/2014/main" id="{1BF86C5A-495C-467A-BB48-032D0B9CA5FB}"/>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의미의 개체 연결</a:t>
            </a:r>
          </a:p>
        </p:txBody>
      </p:sp>
      <p:sp>
        <p:nvSpPr>
          <p:cNvPr id="10" name="">
            <a:extLst xmlns:a="http://schemas.openxmlformats.org/drawingml/2006/main">
              <a:ext uri="{FF2B5EF4-FFF2-40B4-BE49-F238E27FC236}">
                <a16:creationId xmlns:a16="http://schemas.microsoft.com/office/drawing/2014/main" id="{C1640753-D9D2-4F2D-97E0-E144966EA095}"/>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개체와 원문 문단 연결</a:t>
            </a:r>
          </a:p>
        </p:txBody>
      </p:sp>
      <p:sp>
        <p:nvSpPr>
          <p:cNvPr id="12" name="">
            <a:extLst xmlns:a="http://schemas.openxmlformats.org/drawingml/2006/main">
              <a:ext uri="{FF2B5EF4-FFF2-40B4-BE49-F238E27FC236}">
                <a16:creationId xmlns:a16="http://schemas.microsoft.com/office/drawing/2014/main" id="{693A2ABD-AAB2-49A6-B914-BBA672A4C8C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연결망을 검색용으로 저장</a:t>
            </a:r>
          </a:p>
        </p:txBody>
      </p:sp>
      <p:sp>
        <p:nvSpPr>
          <p:cNvPr id="14" name="">
            <a:extLst xmlns:a="http://schemas.openxmlformats.org/drawingml/2006/main">
              <a:ext uri="{FF2B5EF4-FFF2-40B4-BE49-F238E27FC236}">
                <a16:creationId xmlns:a16="http://schemas.microsoft.com/office/drawing/2014/main" id="{9875D09C-B033-4C4F-BDDB-5BC37D0C94E7}"/>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64E72686-6C57-4AAA-8652-DA3BB0ECE74E}"/>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질문에서 시작 단서 추출</a:t>
            </a:r>
          </a:p>
        </p:txBody>
      </p:sp>
      <p:sp>
        <p:nvSpPr>
          <p:cNvPr id="16" name="">
            <a:extLst xmlns:a="http://schemas.openxmlformats.org/drawingml/2006/main">
              <a:ext uri="{FF2B5EF4-FFF2-40B4-BE49-F238E27FC236}">
                <a16:creationId xmlns:a16="http://schemas.microsoft.com/office/drawing/2014/main" id="{814C630F-BEE9-4693-B686-F51D1C817882}"/>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단서를 그래프 개체와 맞추기</a:t>
            </a:r>
          </a:p>
        </p:txBody>
      </p:sp>
      <p:sp>
        <p:nvSpPr>
          <p:cNvPr id="18" name="">
            <a:extLst xmlns:a="http://schemas.openxmlformats.org/drawingml/2006/main">
              <a:ext uri="{FF2B5EF4-FFF2-40B4-BE49-F238E27FC236}">
                <a16:creationId xmlns:a16="http://schemas.microsoft.com/office/drawing/2014/main" id="{ABE77CC3-CD22-4403-A931-7029940E92E5}"/>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PPR로 연결망 점수 계산</a:t>
            </a:r>
          </a:p>
        </p:txBody>
      </p:sp>
      <p:sp>
        <p:nvSpPr>
          <p:cNvPr id="20" name="">
            <a:extLst xmlns:a="http://schemas.openxmlformats.org/drawingml/2006/main">
              <a:ext uri="{FF2B5EF4-FFF2-40B4-BE49-F238E27FC236}">
                <a16:creationId xmlns:a16="http://schemas.microsoft.com/office/drawing/2014/main" id="{37C30F48-775F-4469-A524-CDCC9B49EEE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 점수를 원문에 반영</a:t>
            </a:r>
          </a:p>
        </p:txBody>
      </p:sp>
      <p:sp>
        <p:nvSpPr>
          <p:cNvPr id="22" name="">
            <a:extLst xmlns:a="http://schemas.openxmlformats.org/drawingml/2006/main">
              <a:ext uri="{FF2B5EF4-FFF2-40B4-BE49-F238E27FC236}">
                <a16:creationId xmlns:a16="http://schemas.microsoft.com/office/drawing/2014/main" id="{29BEE4B2-4C32-4240-8275-3D507E28B06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D8BFA7F7-D085-4EFA-B20B-E06BFDF5E2C7}"/>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개체 연결에 원문 문맥도 직접 반영하려는 방향이 HippoRAG 2입니다.</a:t>
            </a:r>
          </a:p>
        </p:txBody>
      </p:sp>
    </p:spTree>
    <p:extLst>
      <p:ext uri="{BB962C8B-B14F-4D97-AF65-F5344CB8AC3E}">
        <p14:creationId xmlns:p14="http://schemas.microsoft.com/office/powerpoint/2010/main" val="279070823"/>
      </p:ext>
    </p:extLst>
  </p:cSld>
</p:sld>
</file>

<file path=ppt/slides/slide3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9D4AD1DC-E17F-429D-A82B-CB65584C343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개체와 연결</a:t>
            </a:r>
          </a:p>
        </p:txBody>
      </p:sp>
      <p:sp>
        <p:nvSpPr>
          <p:cNvPr id="2" name="title">
            <a:extLst xmlns:a="http://schemas.openxmlformats.org/drawingml/2006/main">
              <a:ext uri="{FF2B5EF4-FFF2-40B4-BE49-F238E27FC236}">
                <a16:creationId xmlns:a16="http://schemas.microsoft.com/office/drawing/2014/main" id="{F68A33CA-8F47-4905-8A0D-C64E253030E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2: 개체 연결과 원문 문맥을 함께 사용</a:t>
            </a:r>
          </a:p>
        </p:txBody>
      </p:sp>
      <p:sp>
        <p:nvSpPr>
          <p:cNvPr id="3" name="label-0">
            <a:extLst xmlns:a="http://schemas.openxmlformats.org/drawingml/2006/main">
              <a:ext uri="{FF2B5EF4-FFF2-40B4-BE49-F238E27FC236}">
                <a16:creationId xmlns:a16="http://schemas.microsoft.com/office/drawing/2014/main" id="{663D957A-5DF0-471F-9DEC-63690DE23016}"/>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1F7D8A56-DB4C-4C4A-9B6B-86BBDB5F8240}"/>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짧은 개념 표현과 원문 문단을 함께 연결한 그래프</a:t>
            </a:r>
          </a:p>
        </p:txBody>
      </p:sp>
      <p:sp>
        <p:nvSpPr>
          <p:cNvPr id="5" name="label-1">
            <a:extLst xmlns:a="http://schemas.openxmlformats.org/drawingml/2006/main">
              <a:ext uri="{FF2B5EF4-FFF2-40B4-BE49-F238E27FC236}">
                <a16:creationId xmlns:a16="http://schemas.microsoft.com/office/drawing/2014/main" id="{8914D712-FE41-4249-8A78-AD01050B538B}"/>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A2C7E0F7-C1C6-45E6-A6AB-014497A728C1}"/>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개체끼리의 연결뿐 아니라 원문 문단도 그래프에 넣습니다.</a:t>
            </a:r>
          </a:p>
        </p:txBody>
      </p:sp>
      <p:sp>
        <p:nvSpPr>
          <p:cNvPr id="7" name="label-2">
            <a:extLst xmlns:a="http://schemas.openxmlformats.org/drawingml/2006/main">
              <a:ext uri="{FF2B5EF4-FFF2-40B4-BE49-F238E27FC236}">
                <a16:creationId xmlns:a16="http://schemas.microsoft.com/office/drawing/2014/main" id="{10B5EE9A-B1AC-403E-BE34-C0C8ACB8E86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2E04FFDD-211A-4D86-B31F-010AC2D638EF}"/>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관련 관계 후보를 LLM으로 걸러낸 뒤 그래프 점수로 문서를 고릅니다.</a:t>
            </a:r>
          </a:p>
        </p:txBody>
      </p:sp>
      <p:sp>
        <p:nvSpPr>
          <p:cNvPr id="9" name="page">
            <a:extLst xmlns:a="http://schemas.openxmlformats.org/drawingml/2006/main">
              <a:ext uri="{FF2B5EF4-FFF2-40B4-BE49-F238E27FC236}">
                <a16:creationId xmlns:a16="http://schemas.microsoft.com/office/drawing/2014/main" id="{939D6E07-4C8F-4B96-91E5-9A8F95D37CF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34</a:t>
            </a:r>
          </a:p>
        </p:txBody>
      </p:sp>
      <p:sp>
        <p:nvSpPr>
          <p:cNvPr id="11" name="narrative-bridge">
            <a:extLst xmlns:a="http://schemas.openxmlformats.org/drawingml/2006/main">
              <a:ext uri="{FF2B5EF4-FFF2-40B4-BE49-F238E27FC236}">
                <a16:creationId xmlns:a16="http://schemas.microsoft.com/office/drawing/2014/main" id="{90219376-F6E3-4551-9C1D-2DC5492BEA4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같은 회사 질문에서 실제 운영과 단순 시험 사용을 구분해 보겠습니다.</a:t>
            </a:r>
          </a:p>
        </p:txBody>
      </p:sp>
    </p:spTree>
    <p:extLst>
      <p:ext uri="{BB962C8B-B14F-4D97-AF65-F5344CB8AC3E}">
        <p14:creationId xmlns:p14="http://schemas.microsoft.com/office/powerpoint/2010/main" val="962940391"/>
      </p:ext>
    </p:extLst>
  </p:cSld>
</p:sld>
</file>

<file path=ppt/slides/slide3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B06D3C98-56CC-4161-9CF3-B0F8C13A2BA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개체와 연결</a:t>
            </a:r>
          </a:p>
        </p:txBody>
      </p:sp>
      <p:sp>
        <p:nvSpPr>
          <p:cNvPr id="2" name="title">
            <a:extLst xmlns:a="http://schemas.openxmlformats.org/drawingml/2006/main">
              <a:ext uri="{FF2B5EF4-FFF2-40B4-BE49-F238E27FC236}">
                <a16:creationId xmlns:a16="http://schemas.microsoft.com/office/drawing/2014/main" id="{B00668CF-E32F-40D9-9942-31FFFC63190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2를 질문에 대입하면</a:t>
            </a:r>
          </a:p>
        </p:txBody>
      </p:sp>
      <p:sp>
        <p:nvSpPr>
          <p:cNvPr id="3" name="label-0">
            <a:extLst xmlns:a="http://schemas.openxmlformats.org/drawingml/2006/main">
              <a:ext uri="{FF2B5EF4-FFF2-40B4-BE49-F238E27FC236}">
                <a16:creationId xmlns:a16="http://schemas.microsoft.com/office/drawing/2014/main" id="{08BBE29A-134C-4E16-8C31-68FFECCA6A4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8FD36F17-143D-47DA-A730-9F5B38703F05}"/>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어느 회사가 날씨 정보로 배차를 결정하나요?</a:t>
            </a:r>
          </a:p>
        </p:txBody>
      </p:sp>
      <p:sp>
        <p:nvSpPr>
          <p:cNvPr id="5" name="label-1">
            <a:extLst xmlns:a="http://schemas.openxmlformats.org/drawingml/2006/main">
              <a:ext uri="{FF2B5EF4-FFF2-40B4-BE49-F238E27FC236}">
                <a16:creationId xmlns:a16="http://schemas.microsoft.com/office/drawing/2014/main" id="{DC8E9AD2-E406-4678-8BFA-F92395F0CE8A}"/>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B4DD92F3-A712-468D-BF12-374B537F5888}"/>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관계 후보와 원문 문단을 함께 활용해 연결 근거를 찾습니다.</a:t>
            </a:r>
          </a:p>
        </p:txBody>
      </p:sp>
      <p:sp>
        <p:nvSpPr>
          <p:cNvPr id="7" name="label-2">
            <a:extLst xmlns:a="http://schemas.openxmlformats.org/drawingml/2006/main">
              <a:ext uri="{FF2B5EF4-FFF2-40B4-BE49-F238E27FC236}">
                <a16:creationId xmlns:a16="http://schemas.microsoft.com/office/drawing/2014/main" id="{92F39FB4-4DE3-4916-BB9E-F863694ACF34}"/>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F982FA0A-40BA-42A3-8D6E-3468E748B24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처리 중 LLM을 호출하므로 비용과 잘못된 필터링을 확인해야 합니다.</a:t>
            </a:r>
          </a:p>
        </p:txBody>
      </p:sp>
      <p:sp>
        <p:nvSpPr>
          <p:cNvPr id="9" name="page">
            <a:extLst xmlns:a="http://schemas.openxmlformats.org/drawingml/2006/main">
              <a:ext uri="{FF2B5EF4-FFF2-40B4-BE49-F238E27FC236}">
                <a16:creationId xmlns:a16="http://schemas.microsoft.com/office/drawing/2014/main" id="{36387C6A-CB97-4D4D-9D79-25F5EEFD697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35</a:t>
            </a:r>
          </a:p>
        </p:txBody>
      </p:sp>
      <p:sp>
        <p:nvSpPr>
          <p:cNvPr id="11" name="narrative-bridge">
            <a:extLst xmlns:a="http://schemas.openxmlformats.org/drawingml/2006/main">
              <a:ext uri="{FF2B5EF4-FFF2-40B4-BE49-F238E27FC236}">
                <a16:creationId xmlns:a16="http://schemas.microsoft.com/office/drawing/2014/main" id="{17B59B92-375B-40C3-957D-1CB7AC642E37}"/>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후보 관계를 걸러 낸 뒤 PPR을 실행하는 위치를 확인합니다.</a:t>
            </a:r>
          </a:p>
        </p:txBody>
      </p:sp>
    </p:spTree>
    <p:extLst>
      <p:ext uri="{BB962C8B-B14F-4D97-AF65-F5344CB8AC3E}">
        <p14:creationId xmlns:p14="http://schemas.microsoft.com/office/powerpoint/2010/main" val="1653041740"/>
      </p:ext>
    </p:extLst>
  </p:cSld>
</p:sld>
</file>

<file path=ppt/slides/slide36.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54D7D7EB-7011-49F3-AB28-4A5B6361CA42}"/>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141D2736-B58C-4BE5-A5B6-2FCEAAFDBB26}"/>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88F4DCB2-1AC3-4400-83D2-D93410DDE686}"/>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E69F3A7D-51F8-4372-B7FA-18B0571ECF76}"/>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0BB35A0B-94DA-4730-956A-1DBECADA539D}"/>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6BD4A99E-DE3B-4D2D-8BB6-C0554CEEC7C3}"/>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1CB9934C-B830-41A5-8453-224EEFA985BE}"/>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3B4B23A3-AD02-4397-8D18-4E4A096A6DB1}"/>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5D940C2F-A520-4314-A5F3-83878AFEE18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개체와 연결</a:t>
            </a:r>
          </a:p>
        </p:txBody>
      </p:sp>
      <p:sp>
        <p:nvSpPr>
          <p:cNvPr id="2" name="">
            <a:extLst xmlns:a="http://schemas.openxmlformats.org/drawingml/2006/main">
              <a:ext uri="{FF2B5EF4-FFF2-40B4-BE49-F238E27FC236}">
                <a16:creationId xmlns:a16="http://schemas.microsoft.com/office/drawing/2014/main" id="{8CBAB9DA-76E6-45EC-A08C-48135A58D64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 2의 전체 처리 순서</a:t>
            </a:r>
          </a:p>
        </p:txBody>
      </p:sp>
      <p:sp>
        <p:nvSpPr>
          <p:cNvPr id="3" name="">
            <a:extLst xmlns:a="http://schemas.openxmlformats.org/drawingml/2006/main">
              <a:ext uri="{FF2B5EF4-FFF2-40B4-BE49-F238E27FC236}">
                <a16:creationId xmlns:a16="http://schemas.microsoft.com/office/drawing/2014/main" id="{D656E660-8B6B-4A44-A289-67A945C02C9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36</a:t>
            </a:r>
          </a:p>
        </p:txBody>
      </p:sp>
      <p:sp>
        <p:nvSpPr>
          <p:cNvPr id="4" name="">
            <a:extLst xmlns:a="http://schemas.openxmlformats.org/drawingml/2006/main">
              <a:ext uri="{FF2B5EF4-FFF2-40B4-BE49-F238E27FC236}">
                <a16:creationId xmlns:a16="http://schemas.microsoft.com/office/drawing/2014/main" id="{176461B3-109B-4F49-8EFF-2368BFCA6D7B}"/>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EF5A31AC-5228-42CF-9BC9-441518CE1D57}"/>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개념 표현과 관계 추출</a:t>
            </a:r>
          </a:p>
        </p:txBody>
      </p:sp>
      <p:sp>
        <p:nvSpPr>
          <p:cNvPr id="6" name="">
            <a:extLst xmlns:a="http://schemas.openxmlformats.org/drawingml/2006/main">
              <a:ext uri="{FF2B5EF4-FFF2-40B4-BE49-F238E27FC236}">
                <a16:creationId xmlns:a16="http://schemas.microsoft.com/office/drawing/2014/main" id="{685367B9-0FFF-4394-B44D-5DFF0ED22C71}"/>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개념 표현 연결</a:t>
            </a:r>
          </a:p>
        </p:txBody>
      </p:sp>
      <p:sp>
        <p:nvSpPr>
          <p:cNvPr id="8" name="">
            <a:extLst xmlns:a="http://schemas.openxmlformats.org/drawingml/2006/main">
              <a:ext uri="{FF2B5EF4-FFF2-40B4-BE49-F238E27FC236}">
                <a16:creationId xmlns:a16="http://schemas.microsoft.com/office/drawing/2014/main" id="{6CEE1FE8-A05B-418E-A286-EFCADB6105E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원문 문단도 그래프에 연결</a:t>
            </a:r>
          </a:p>
        </p:txBody>
      </p:sp>
      <p:sp>
        <p:nvSpPr>
          <p:cNvPr id="10" name="">
            <a:extLst xmlns:a="http://schemas.openxmlformats.org/drawingml/2006/main">
              <a:ext uri="{FF2B5EF4-FFF2-40B4-BE49-F238E27FC236}">
                <a16:creationId xmlns:a16="http://schemas.microsoft.com/office/drawing/2014/main" id="{6B7CFD9F-EB02-4C6A-A899-08553063DFF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개념·문단의 벡터 저장</a:t>
            </a:r>
          </a:p>
        </p:txBody>
      </p:sp>
      <p:sp>
        <p:nvSpPr>
          <p:cNvPr id="12" name="">
            <a:extLst xmlns:a="http://schemas.openxmlformats.org/drawingml/2006/main">
              <a:ext uri="{FF2B5EF4-FFF2-40B4-BE49-F238E27FC236}">
                <a16:creationId xmlns:a16="http://schemas.microsoft.com/office/drawing/2014/main" id="{A376CC4D-AF9D-4550-8923-DE3581452303}"/>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문맥을 포함한 그래프 저장</a:t>
            </a:r>
          </a:p>
        </p:txBody>
      </p:sp>
      <p:sp>
        <p:nvSpPr>
          <p:cNvPr id="14" name="">
            <a:extLst xmlns:a="http://schemas.openxmlformats.org/drawingml/2006/main">
              <a:ext uri="{FF2B5EF4-FFF2-40B4-BE49-F238E27FC236}">
                <a16:creationId xmlns:a16="http://schemas.microsoft.com/office/drawing/2014/main" id="{8F6EE4B8-5CAD-4518-8847-5F90278B2F9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8D5347E2-803E-4161-83B4-CBAD4CE0596B}"/>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관련 관계 후보 찾기</a:t>
            </a:r>
          </a:p>
        </p:txBody>
      </p:sp>
      <p:sp>
        <p:nvSpPr>
          <p:cNvPr id="16" name="">
            <a:extLst xmlns:a="http://schemas.openxmlformats.org/drawingml/2006/main">
              <a:ext uri="{FF2B5EF4-FFF2-40B4-BE49-F238E27FC236}">
                <a16:creationId xmlns:a16="http://schemas.microsoft.com/office/drawing/2014/main" id="{6A9DAB1F-5B2B-4471-B7F2-6B984116D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LLM으로 관련 후보 걸러내기</a:t>
            </a:r>
          </a:p>
        </p:txBody>
      </p:sp>
      <p:sp>
        <p:nvSpPr>
          <p:cNvPr id="18" name="">
            <a:extLst xmlns:a="http://schemas.openxmlformats.org/drawingml/2006/main">
              <a:ext uri="{FF2B5EF4-FFF2-40B4-BE49-F238E27FC236}">
                <a16:creationId xmlns:a16="http://schemas.microsoft.com/office/drawing/2014/main" id="{A7A4D3BE-B64C-40F8-B790-EE7141E9639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관계·원문에서 출발점 정하기</a:t>
            </a:r>
          </a:p>
        </p:txBody>
      </p:sp>
      <p:sp>
        <p:nvSpPr>
          <p:cNvPr id="20" name="">
            <a:extLst xmlns:a="http://schemas.openxmlformats.org/drawingml/2006/main">
              <a:ext uri="{FF2B5EF4-FFF2-40B4-BE49-F238E27FC236}">
                <a16:creationId xmlns:a16="http://schemas.microsoft.com/office/drawing/2014/main" id="{DC03BD94-5006-4DD9-BFB2-EBBB81D9D64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통합 그래프에 PPR 적용</a:t>
            </a:r>
          </a:p>
        </p:txBody>
      </p:sp>
      <p:sp>
        <p:nvSpPr>
          <p:cNvPr id="22" name="">
            <a:extLst xmlns:a="http://schemas.openxmlformats.org/drawingml/2006/main">
              <a:ext uri="{FF2B5EF4-FFF2-40B4-BE49-F238E27FC236}">
                <a16:creationId xmlns:a16="http://schemas.microsoft.com/office/drawing/2014/main" id="{53666DE2-6D4A-4245-9F24-F8B12B4C9A90}"/>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0CCF2B73-4C54-4660-A8B5-EE639680C91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이번에는 관계 이름을 추출하는 부담을 줄이는 LinearRAG를 봅니다.</a:t>
            </a:r>
          </a:p>
        </p:txBody>
      </p:sp>
    </p:spTree>
    <p:extLst>
      <p:ext uri="{BB962C8B-B14F-4D97-AF65-F5344CB8AC3E}">
        <p14:creationId xmlns:p14="http://schemas.microsoft.com/office/powerpoint/2010/main" val="973108344"/>
      </p:ext>
    </p:extLst>
  </p:cSld>
</p:sld>
</file>

<file path=ppt/slides/slide3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412DCE56-4ED6-4FA5-AD78-DB4CEB8B911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근거 단위와 비용</a:t>
            </a:r>
          </a:p>
        </p:txBody>
      </p:sp>
      <p:sp>
        <p:nvSpPr>
          <p:cNvPr id="2" name="title">
            <a:extLst xmlns:a="http://schemas.openxmlformats.org/drawingml/2006/main">
              <a:ext uri="{FF2B5EF4-FFF2-40B4-BE49-F238E27FC236}">
                <a16:creationId xmlns:a16="http://schemas.microsoft.com/office/drawing/2014/main" id="{22F11DA0-9219-4DAA-BA76-CB4EAE135B8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LinearRAG: 관계 이름보다 개체의 출현을 활용</a:t>
            </a:r>
          </a:p>
        </p:txBody>
      </p:sp>
      <p:sp>
        <p:nvSpPr>
          <p:cNvPr id="3" name="label-0">
            <a:extLst xmlns:a="http://schemas.openxmlformats.org/drawingml/2006/main">
              <a:ext uri="{FF2B5EF4-FFF2-40B4-BE49-F238E27FC236}">
                <a16:creationId xmlns:a16="http://schemas.microsoft.com/office/drawing/2014/main" id="{2B226033-41EA-4DC4-8F44-8A119281762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057E1E5D-7478-46DB-A5E5-683C8A35433A}"/>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문장, 원문 문단의 연결</a:t>
            </a:r>
          </a:p>
        </p:txBody>
      </p:sp>
      <p:sp>
        <p:nvSpPr>
          <p:cNvPr id="5" name="label-1">
            <a:extLst xmlns:a="http://schemas.openxmlformats.org/drawingml/2006/main">
              <a:ext uri="{FF2B5EF4-FFF2-40B4-BE49-F238E27FC236}">
                <a16:creationId xmlns:a16="http://schemas.microsoft.com/office/drawing/2014/main" id="{E5543610-058D-4BAF-ADA0-B389B5FA677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177133BD-F4C6-48B8-8E22-E83B04793E1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개체가 어떤 문장과 문단에 나오는지 연결합니다.</a:t>
            </a:r>
          </a:p>
        </p:txBody>
      </p:sp>
      <p:sp>
        <p:nvSpPr>
          <p:cNvPr id="7" name="label-2">
            <a:extLst xmlns:a="http://schemas.openxmlformats.org/drawingml/2006/main">
              <a:ext uri="{FF2B5EF4-FFF2-40B4-BE49-F238E27FC236}">
                <a16:creationId xmlns:a16="http://schemas.microsoft.com/office/drawing/2014/main" id="{EFA618A0-7F70-4C2B-BB9C-3B0CD27D42E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BE75ED97-4D99-446E-A02C-9A6D684B553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관련 문장과 개체를 통해 단서를 넓히고 원문 문단을 정렬합니다.</a:t>
            </a:r>
          </a:p>
        </p:txBody>
      </p:sp>
      <p:sp>
        <p:nvSpPr>
          <p:cNvPr id="9" name="page">
            <a:extLst xmlns:a="http://schemas.openxmlformats.org/drawingml/2006/main">
              <a:ext uri="{FF2B5EF4-FFF2-40B4-BE49-F238E27FC236}">
                <a16:creationId xmlns:a16="http://schemas.microsoft.com/office/drawing/2014/main" id="{8891D5BE-4899-417D-BC97-A9EF12F5B311}"/>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37</a:t>
            </a:r>
          </a:p>
        </p:txBody>
      </p:sp>
      <p:sp>
        <p:nvSpPr>
          <p:cNvPr id="11" name="narrative-bridge">
            <a:extLst xmlns:a="http://schemas.openxmlformats.org/drawingml/2006/main">
              <a:ext uri="{FF2B5EF4-FFF2-40B4-BE49-F238E27FC236}">
                <a16:creationId xmlns:a16="http://schemas.microsoft.com/office/drawing/2014/main" id="{7D6A9E95-4661-4975-8EB6-00FEC8623562}"/>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같은 개체가 여러 문장을 잇는 단서가 되는 예를 보겠습니다.</a:t>
            </a:r>
          </a:p>
        </p:txBody>
      </p:sp>
    </p:spTree>
    <p:extLst>
      <p:ext uri="{BB962C8B-B14F-4D97-AF65-F5344CB8AC3E}">
        <p14:creationId xmlns:p14="http://schemas.microsoft.com/office/powerpoint/2010/main" val="2061039852"/>
      </p:ext>
    </p:extLst>
  </p:cSld>
</p:sld>
</file>

<file path=ppt/slides/slide3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CBE4C4DB-7E84-4964-A4FF-65CAD97D2AE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근거 단위와 비용</a:t>
            </a:r>
          </a:p>
        </p:txBody>
      </p:sp>
      <p:sp>
        <p:nvSpPr>
          <p:cNvPr id="2" name="title">
            <a:extLst xmlns:a="http://schemas.openxmlformats.org/drawingml/2006/main">
              <a:ext uri="{FF2B5EF4-FFF2-40B4-BE49-F238E27FC236}">
                <a16:creationId xmlns:a16="http://schemas.microsoft.com/office/drawing/2014/main" id="{3A98EB8A-E0BC-4307-AE32-4EFE37CBF4A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LinearRAG를 질문에 대입하면</a:t>
            </a:r>
          </a:p>
        </p:txBody>
      </p:sp>
      <p:sp>
        <p:nvSpPr>
          <p:cNvPr id="3" name="label-0">
            <a:extLst xmlns:a="http://schemas.openxmlformats.org/drawingml/2006/main">
              <a:ext uri="{FF2B5EF4-FFF2-40B4-BE49-F238E27FC236}">
                <a16:creationId xmlns:a16="http://schemas.microsoft.com/office/drawing/2014/main" id="{DFECC7F0-D275-42AE-B05E-63560448078E}"/>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79146557-E4D5-493E-A90F-0F4F20B44AD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날씨API와 배차에 함께 연결되는 내용은 무엇인가요?</a:t>
            </a:r>
          </a:p>
        </p:txBody>
      </p:sp>
      <p:sp>
        <p:nvSpPr>
          <p:cNvPr id="5" name="label-1">
            <a:extLst xmlns:a="http://schemas.openxmlformats.org/drawingml/2006/main">
              <a:ext uri="{FF2B5EF4-FFF2-40B4-BE49-F238E27FC236}">
                <a16:creationId xmlns:a16="http://schemas.microsoft.com/office/drawing/2014/main" id="{A5D784BE-593B-4DC8-B5E3-1732CC8A635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7166D3D5-C144-4896-82A2-CE5FBA628771}"/>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개체를 공유하는 문장들을 거쳐 필요한 원문을 모읍니다.</a:t>
            </a:r>
          </a:p>
        </p:txBody>
      </p:sp>
      <p:sp>
        <p:nvSpPr>
          <p:cNvPr id="7" name="label-2">
            <a:extLst xmlns:a="http://schemas.openxmlformats.org/drawingml/2006/main">
              <a:ext uri="{FF2B5EF4-FFF2-40B4-BE49-F238E27FC236}">
                <a16:creationId xmlns:a16="http://schemas.microsoft.com/office/drawing/2014/main" id="{293EC0B0-24A3-4FFC-8ED9-035AEDF38AA9}"/>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120EDA22-BF93-4C7C-9756-D2A51417F3AE}"/>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같은 문장에 나왔다는 사실만으로 실제 업무 관계를 단정할 수 없습니다.</a:t>
            </a:r>
          </a:p>
        </p:txBody>
      </p:sp>
      <p:sp>
        <p:nvSpPr>
          <p:cNvPr id="9" name="page">
            <a:extLst xmlns:a="http://schemas.openxmlformats.org/drawingml/2006/main">
              <a:ext uri="{FF2B5EF4-FFF2-40B4-BE49-F238E27FC236}">
                <a16:creationId xmlns:a16="http://schemas.microsoft.com/office/drawing/2014/main" id="{2A40FF32-C354-46F1-871C-210807FCBDF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38</a:t>
            </a:r>
          </a:p>
        </p:txBody>
      </p:sp>
      <p:sp>
        <p:nvSpPr>
          <p:cNvPr id="11" name="narrative-bridge">
            <a:extLst xmlns:a="http://schemas.openxmlformats.org/drawingml/2006/main">
              <a:ext uri="{FF2B5EF4-FFF2-40B4-BE49-F238E27FC236}">
                <a16:creationId xmlns:a16="http://schemas.microsoft.com/office/drawing/2014/main" id="{11E90775-B7DE-4F7C-A0E0-60F448AE92EF}"/>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동시 출현은 검색 단서입니다. 실제 의미는 원문에서 확인합니다.</a:t>
            </a:r>
          </a:p>
        </p:txBody>
      </p:sp>
    </p:spTree>
    <p:extLst>
      <p:ext uri="{BB962C8B-B14F-4D97-AF65-F5344CB8AC3E}">
        <p14:creationId xmlns:p14="http://schemas.microsoft.com/office/powerpoint/2010/main" val="1002293206"/>
      </p:ext>
    </p:extLst>
  </p:cSld>
</p:sld>
</file>

<file path=ppt/slides/slide3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0D29F859-D675-4471-BC0F-158E7484FFB2}"/>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64B9CFCC-6391-4D72-81CE-B846C3FDEE6E}"/>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39D96294-16AB-4B8F-9C3C-4FC38CC578CE}"/>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C94CC9A6-3002-4C92-AF91-A19F42DD9FFC}"/>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B8764A6B-1C04-4ECC-AFA3-4F3719EFC963}"/>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FDFE7415-75D1-44C1-8FE2-74EF746433C1}"/>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A7DDB6B8-1811-4FCC-9132-37668E9428D7}"/>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600B0AA2-C13B-4CE0-99EA-6E6C64DFCB39}"/>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202660B-4A28-485B-A453-96D6182B1E4B}"/>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근거 단위와 비용</a:t>
            </a:r>
          </a:p>
        </p:txBody>
      </p:sp>
      <p:sp>
        <p:nvSpPr>
          <p:cNvPr id="2" name="">
            <a:extLst xmlns:a="http://schemas.openxmlformats.org/drawingml/2006/main">
              <a:ext uri="{FF2B5EF4-FFF2-40B4-BE49-F238E27FC236}">
                <a16:creationId xmlns:a16="http://schemas.microsoft.com/office/drawing/2014/main" id="{8FA78604-EF42-4C71-8068-944E04D2545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LinearRAG의 전체 처리 순서</a:t>
            </a:r>
          </a:p>
        </p:txBody>
      </p:sp>
      <p:sp>
        <p:nvSpPr>
          <p:cNvPr id="3" name="">
            <a:extLst xmlns:a="http://schemas.openxmlformats.org/drawingml/2006/main">
              <a:ext uri="{FF2B5EF4-FFF2-40B4-BE49-F238E27FC236}">
                <a16:creationId xmlns:a16="http://schemas.microsoft.com/office/drawing/2014/main" id="{ECAC08C6-55EE-4C3F-8567-002F7204561A}"/>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39</a:t>
            </a:r>
          </a:p>
        </p:txBody>
      </p:sp>
      <p:sp>
        <p:nvSpPr>
          <p:cNvPr id="4" name="">
            <a:extLst xmlns:a="http://schemas.openxmlformats.org/drawingml/2006/main">
              <a:ext uri="{FF2B5EF4-FFF2-40B4-BE49-F238E27FC236}">
                <a16:creationId xmlns:a16="http://schemas.microsoft.com/office/drawing/2014/main" id="{E0E52116-91CF-4976-A69F-EC521EFEB44D}"/>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89DBF0B6-60A4-4BBF-96E6-F58A2192FEE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원문을 문단과 문장으로 나누기</a:t>
            </a:r>
          </a:p>
        </p:txBody>
      </p:sp>
      <p:sp>
        <p:nvSpPr>
          <p:cNvPr id="6" name="">
            <a:extLst xmlns:a="http://schemas.openxmlformats.org/drawingml/2006/main">
              <a:ext uri="{FF2B5EF4-FFF2-40B4-BE49-F238E27FC236}">
                <a16:creationId xmlns:a16="http://schemas.microsoft.com/office/drawing/2014/main" id="{2970776C-966E-40C2-9DEE-63C5F1E974C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등장 개체 찾기</a:t>
            </a:r>
          </a:p>
        </p:txBody>
      </p:sp>
      <p:sp>
        <p:nvSpPr>
          <p:cNvPr id="8" name="">
            <a:extLst xmlns:a="http://schemas.openxmlformats.org/drawingml/2006/main">
              <a:ext uri="{FF2B5EF4-FFF2-40B4-BE49-F238E27FC236}">
                <a16:creationId xmlns:a16="http://schemas.microsoft.com/office/drawing/2014/main" id="{0F6639F8-2DF1-41B2-892B-A3D58C97A47F}"/>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개체·문장·문단 연결</a:t>
            </a:r>
          </a:p>
        </p:txBody>
      </p:sp>
      <p:sp>
        <p:nvSpPr>
          <p:cNvPr id="10" name="">
            <a:extLst xmlns:a="http://schemas.openxmlformats.org/drawingml/2006/main">
              <a:ext uri="{FF2B5EF4-FFF2-40B4-BE49-F238E27FC236}">
                <a16:creationId xmlns:a16="http://schemas.microsoft.com/office/drawing/2014/main" id="{48DFA5FD-3130-4EE7-B5DE-948788296713}"/>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함께 나온 위치와 소속 연결</a:t>
            </a:r>
          </a:p>
        </p:txBody>
      </p:sp>
      <p:sp>
        <p:nvSpPr>
          <p:cNvPr id="12" name="">
            <a:extLst xmlns:a="http://schemas.openxmlformats.org/drawingml/2006/main">
              <a:ext uri="{FF2B5EF4-FFF2-40B4-BE49-F238E27FC236}">
                <a16:creationId xmlns:a16="http://schemas.microsoft.com/office/drawing/2014/main" id="{7EC153B7-1DAD-4EDF-9166-4E397992FE8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관계 이름 없이 그래프 저장</a:t>
            </a:r>
          </a:p>
        </p:txBody>
      </p:sp>
      <p:sp>
        <p:nvSpPr>
          <p:cNvPr id="14" name="">
            <a:extLst xmlns:a="http://schemas.openxmlformats.org/drawingml/2006/main">
              <a:ext uri="{FF2B5EF4-FFF2-40B4-BE49-F238E27FC236}">
                <a16:creationId xmlns:a16="http://schemas.microsoft.com/office/drawing/2014/main" id="{7F53ED69-EF05-4FDC-8535-C9C309CB0E5A}"/>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4CCAA8FF-E1CB-4621-83E1-717309037C42}"/>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속 개체 맞추기</a:t>
            </a:r>
          </a:p>
        </p:txBody>
      </p:sp>
      <p:sp>
        <p:nvSpPr>
          <p:cNvPr id="16" name="">
            <a:extLst xmlns:a="http://schemas.openxmlformats.org/drawingml/2006/main">
              <a:ext uri="{FF2B5EF4-FFF2-40B4-BE49-F238E27FC236}">
                <a16:creationId xmlns:a16="http://schemas.microsoft.com/office/drawing/2014/main" id="{31EAD40A-2211-4A58-BF94-81C0287FC13D}"/>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문장을 찾기</a:t>
            </a:r>
          </a:p>
        </p:txBody>
      </p:sp>
      <p:sp>
        <p:nvSpPr>
          <p:cNvPr id="18" name="">
            <a:extLst xmlns:a="http://schemas.openxmlformats.org/drawingml/2006/main">
              <a:ext uri="{FF2B5EF4-FFF2-40B4-BE49-F238E27FC236}">
                <a16:creationId xmlns:a16="http://schemas.microsoft.com/office/drawing/2014/main" id="{1AF6384D-C4A9-4321-8185-BD8AA7CDDF2D}"/>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문장과 개체로 단서 보강</a:t>
            </a:r>
          </a:p>
        </p:txBody>
      </p:sp>
      <p:sp>
        <p:nvSpPr>
          <p:cNvPr id="20" name="">
            <a:extLst xmlns:a="http://schemas.openxmlformats.org/drawingml/2006/main">
              <a:ext uri="{FF2B5EF4-FFF2-40B4-BE49-F238E27FC236}">
                <a16:creationId xmlns:a16="http://schemas.microsoft.com/office/drawing/2014/main" id="{D2CFACE4-BA2A-45B7-8D65-E0BD191537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그래프 확산으로 문단 정렬</a:t>
            </a:r>
          </a:p>
        </p:txBody>
      </p:sp>
      <p:sp>
        <p:nvSpPr>
          <p:cNvPr id="22" name="">
            <a:extLst xmlns:a="http://schemas.openxmlformats.org/drawingml/2006/main">
              <a:ext uri="{FF2B5EF4-FFF2-40B4-BE49-F238E27FC236}">
                <a16:creationId xmlns:a16="http://schemas.microsoft.com/office/drawing/2014/main" id="{81A9C144-A97A-47A0-86A0-42F02F508F92}"/>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A4EBF470-3FCA-4DB6-99BC-EAF608F0D9A8}"/>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연결할 원문 단위를 더 작은 사실로 바꾸는 방법이 AtomicRAG입니다.</a:t>
            </a:r>
          </a:p>
        </p:txBody>
      </p:sp>
    </p:spTree>
    <p:extLst>
      <p:ext uri="{BB962C8B-B14F-4D97-AF65-F5344CB8AC3E}">
        <p14:creationId xmlns:p14="http://schemas.microsoft.com/office/powerpoint/2010/main" val="804489385"/>
      </p:ext>
    </p:extLst>
  </p:cSld>
</p:sld>
</file>

<file path=ppt/slides/slide4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DB4A51E8-5407-46BC-BD08-DEB2F47F633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근거 단위와 비용</a:t>
            </a:r>
          </a:p>
        </p:txBody>
      </p:sp>
      <p:sp>
        <p:nvSpPr>
          <p:cNvPr id="2" name="title">
            <a:extLst xmlns:a="http://schemas.openxmlformats.org/drawingml/2006/main">
              <a:ext uri="{FF2B5EF4-FFF2-40B4-BE49-F238E27FC236}">
                <a16:creationId xmlns:a16="http://schemas.microsoft.com/office/drawing/2014/main" id="{DF515193-3DB7-4EC4-AC0F-5C46A11B566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AtomicRAG: 문서를 독립적인 작은 사실로 나누기</a:t>
            </a:r>
          </a:p>
        </p:txBody>
      </p:sp>
      <p:sp>
        <p:nvSpPr>
          <p:cNvPr id="3" name="label-0">
            <a:extLst xmlns:a="http://schemas.openxmlformats.org/drawingml/2006/main">
              <a:ext uri="{FF2B5EF4-FFF2-40B4-BE49-F238E27FC236}">
                <a16:creationId xmlns:a16="http://schemas.microsoft.com/office/drawing/2014/main" id="{37D799D8-5E1B-415E-A754-D23D9D529E31}"/>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2375EC24-F0C0-46FD-95A4-1FD16678782C}"/>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혼자 읽어도 뜻이 통하는 작은 사실과 개체</a:t>
            </a:r>
          </a:p>
        </p:txBody>
      </p:sp>
      <p:sp>
        <p:nvSpPr>
          <p:cNvPr id="5" name="label-1">
            <a:extLst xmlns:a="http://schemas.openxmlformats.org/drawingml/2006/main">
              <a:ext uri="{FF2B5EF4-FFF2-40B4-BE49-F238E27FC236}">
                <a16:creationId xmlns:a16="http://schemas.microsoft.com/office/drawing/2014/main" id="{6D2EC660-F1DF-4AE5-8D8A-E7E081649D3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DCCBBB58-92C1-407B-9095-A26965DF884A}"/>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사실이 섞인 문서를 나누고 각 사실에 등장한 개체를 연결합니다.</a:t>
            </a:r>
          </a:p>
        </p:txBody>
      </p:sp>
      <p:sp>
        <p:nvSpPr>
          <p:cNvPr id="7" name="label-2">
            <a:extLst xmlns:a="http://schemas.openxmlformats.org/drawingml/2006/main">
              <a:ext uri="{FF2B5EF4-FFF2-40B4-BE49-F238E27FC236}">
                <a16:creationId xmlns:a16="http://schemas.microsoft.com/office/drawing/2014/main" id="{633F982F-3D4A-45CF-A24D-E333CB9B1ECF}"/>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9134B0BA-4D7E-4895-934E-17B12699DAB3}"/>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질문에 맞는 사실을 찾고 연결을 넓힌 뒤 중복·무관한 내용을 거릅니다.</a:t>
            </a:r>
          </a:p>
        </p:txBody>
      </p:sp>
      <p:sp>
        <p:nvSpPr>
          <p:cNvPr id="9" name="page">
            <a:extLst xmlns:a="http://schemas.openxmlformats.org/drawingml/2006/main">
              <a:ext uri="{FF2B5EF4-FFF2-40B4-BE49-F238E27FC236}">
                <a16:creationId xmlns:a16="http://schemas.microsoft.com/office/drawing/2014/main" id="{AD99D48D-B572-4597-8544-5C23DD9C7A00}"/>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40</a:t>
            </a:r>
          </a:p>
        </p:txBody>
      </p:sp>
      <p:sp>
        <p:nvSpPr>
          <p:cNvPr id="11" name="narrative-bridge">
            <a:extLst xmlns:a="http://schemas.openxmlformats.org/drawingml/2006/main">
              <a:ext uri="{FF2B5EF4-FFF2-40B4-BE49-F238E27FC236}">
                <a16:creationId xmlns:a16="http://schemas.microsoft.com/office/drawing/2014/main" id="{E0D8435A-AF69-4666-BA87-76CD4AA7E5C2}"/>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날씨 입력과 배차 결정을 잇는 데 필요한 사실을 골라 보겠습니다.</a:t>
            </a:r>
          </a:p>
        </p:txBody>
      </p:sp>
    </p:spTree>
    <p:extLst>
      <p:ext uri="{BB962C8B-B14F-4D97-AF65-F5344CB8AC3E}">
        <p14:creationId xmlns:p14="http://schemas.microsoft.com/office/powerpoint/2010/main" val="913705965"/>
      </p:ext>
    </p:extLst>
  </p:cSld>
</p:sld>
</file>

<file path=ppt/slides/slide4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03F6F6CB-35D1-4C1E-A697-9B5EDD4CB13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근거 단위와 비용</a:t>
            </a:r>
          </a:p>
        </p:txBody>
      </p:sp>
      <p:sp>
        <p:nvSpPr>
          <p:cNvPr id="2" name="title">
            <a:extLst xmlns:a="http://schemas.openxmlformats.org/drawingml/2006/main">
              <a:ext uri="{FF2B5EF4-FFF2-40B4-BE49-F238E27FC236}">
                <a16:creationId xmlns:a16="http://schemas.microsoft.com/office/drawing/2014/main" id="{5E774B21-1C08-4779-BD9F-BFBD0A9C8F4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AtomicRAG를 질문에 대입하면</a:t>
            </a:r>
          </a:p>
        </p:txBody>
      </p:sp>
      <p:sp>
        <p:nvSpPr>
          <p:cNvPr id="3" name="label-0">
            <a:extLst xmlns:a="http://schemas.openxmlformats.org/drawingml/2006/main">
              <a:ext uri="{FF2B5EF4-FFF2-40B4-BE49-F238E27FC236}">
                <a16:creationId xmlns:a16="http://schemas.microsoft.com/office/drawing/2014/main" id="{EC517F44-04D0-4CE8-AC59-7F8A2604CB13}"/>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BEDD28FE-D172-44CE-A488-19DE7F976EB9}"/>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 정보가 배차 결정에 어떻게 이어지나요?</a:t>
            </a:r>
          </a:p>
        </p:txBody>
      </p:sp>
      <p:sp>
        <p:nvSpPr>
          <p:cNvPr id="5" name="label-1">
            <a:extLst xmlns:a="http://schemas.openxmlformats.org/drawingml/2006/main">
              <a:ext uri="{FF2B5EF4-FFF2-40B4-BE49-F238E27FC236}">
                <a16:creationId xmlns:a16="http://schemas.microsoft.com/office/drawing/2014/main" id="{F9D43FE4-ED38-430A-8D93-5838CED2A9F4}"/>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CDCB9520-471D-483D-BF68-F6A4D1B3E62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입력 정보, 모델, 배차 결정을 설명하는 필요한 사실만 모읍니다.</a:t>
            </a:r>
          </a:p>
        </p:txBody>
      </p:sp>
      <p:sp>
        <p:nvSpPr>
          <p:cNvPr id="7" name="label-2">
            <a:extLst xmlns:a="http://schemas.openxmlformats.org/drawingml/2006/main">
              <a:ext uri="{FF2B5EF4-FFF2-40B4-BE49-F238E27FC236}">
                <a16:creationId xmlns:a16="http://schemas.microsoft.com/office/drawing/2014/main" id="{5971513D-A408-4B99-B55D-A04C0869D63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E4EF408A-E1AF-41DF-84ED-034105A7F519}"/>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너무 잘게 나누면 조건이 빠집니다. 질문 분해와 필터의 오류도 확인합니다.</a:t>
            </a:r>
          </a:p>
        </p:txBody>
      </p:sp>
      <p:sp>
        <p:nvSpPr>
          <p:cNvPr id="9" name="page">
            <a:extLst xmlns:a="http://schemas.openxmlformats.org/drawingml/2006/main">
              <a:ext uri="{FF2B5EF4-FFF2-40B4-BE49-F238E27FC236}">
                <a16:creationId xmlns:a16="http://schemas.microsoft.com/office/drawing/2014/main" id="{3DADAB0D-8C05-42CC-B05B-63DAB772F91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41</a:t>
            </a:r>
          </a:p>
        </p:txBody>
      </p:sp>
      <p:sp>
        <p:nvSpPr>
          <p:cNvPr id="11" name="narrative-bridge">
            <a:extLst xmlns:a="http://schemas.openxmlformats.org/drawingml/2006/main">
              <a:ext uri="{FF2B5EF4-FFF2-40B4-BE49-F238E27FC236}">
                <a16:creationId xmlns:a16="http://schemas.microsoft.com/office/drawing/2014/main" id="{CC2CF357-34D9-4E76-93FC-09A1E42F1D6A}"/>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사실을 나누고, 찾고, 걸러 내는 단계를 따로 보면 오류를 찾기 쉽습니다.</a:t>
            </a:r>
          </a:p>
        </p:txBody>
      </p:sp>
    </p:spTree>
    <p:extLst>
      <p:ext uri="{BB962C8B-B14F-4D97-AF65-F5344CB8AC3E}">
        <p14:creationId xmlns:p14="http://schemas.microsoft.com/office/powerpoint/2010/main" val="923800693"/>
      </p:ext>
    </p:extLst>
  </p:cSld>
</p:sld>
</file>

<file path=ppt/slides/slide42.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241325EA-A071-4717-9C24-DF05CFF5BD7A}"/>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9F5F3F74-D32C-4518-AA90-9A157ADBA64D}"/>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724A22B4-18F9-42F2-9A14-952A184DD8B0}"/>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1DF4D33A-166C-4988-84B9-50AA1962AF38}"/>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25EB56F9-D5B9-41D5-8BC9-79BAB95AC9E4}"/>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B5D30F34-D79E-4BA1-9C3C-E553EEBE02CA}"/>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7C5B6D2E-3AC0-43E8-A9EB-958A09C1D818}"/>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8803CB63-6937-4FA0-9F08-8456C907FCE3}"/>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2585325-80C3-4273-A61B-65617D1CAD6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근거 단위와 비용</a:t>
            </a:r>
          </a:p>
        </p:txBody>
      </p:sp>
      <p:sp>
        <p:nvSpPr>
          <p:cNvPr id="2" name="">
            <a:extLst xmlns:a="http://schemas.openxmlformats.org/drawingml/2006/main">
              <a:ext uri="{FF2B5EF4-FFF2-40B4-BE49-F238E27FC236}">
                <a16:creationId xmlns:a16="http://schemas.microsoft.com/office/drawing/2014/main" id="{4647E3E3-D834-4839-A33C-73665780ECA2}"/>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AtomicRAG의 전체 처리 순서</a:t>
            </a:r>
          </a:p>
        </p:txBody>
      </p:sp>
      <p:sp>
        <p:nvSpPr>
          <p:cNvPr id="3" name="">
            <a:extLst xmlns:a="http://schemas.openxmlformats.org/drawingml/2006/main">
              <a:ext uri="{FF2B5EF4-FFF2-40B4-BE49-F238E27FC236}">
                <a16:creationId xmlns:a16="http://schemas.microsoft.com/office/drawing/2014/main" id="{0E089FD0-3BC1-4DC5-B702-B0EBF4849F6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42</a:t>
            </a:r>
          </a:p>
        </p:txBody>
      </p:sp>
      <p:sp>
        <p:nvSpPr>
          <p:cNvPr id="4" name="">
            <a:extLst xmlns:a="http://schemas.openxmlformats.org/drawingml/2006/main">
              <a:ext uri="{FF2B5EF4-FFF2-40B4-BE49-F238E27FC236}">
                <a16:creationId xmlns:a16="http://schemas.microsoft.com/office/drawing/2014/main" id="{18F26791-6586-4E18-9CD7-84CE8DCA80EC}"/>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9101A62E-6271-4CD3-9A1E-EF046DDCA1E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독립적인 사실로 나누기</a:t>
            </a:r>
          </a:p>
        </p:txBody>
      </p:sp>
      <p:sp>
        <p:nvSpPr>
          <p:cNvPr id="6" name="">
            <a:extLst xmlns:a="http://schemas.openxmlformats.org/drawingml/2006/main">
              <a:ext uri="{FF2B5EF4-FFF2-40B4-BE49-F238E27FC236}">
                <a16:creationId xmlns:a16="http://schemas.microsoft.com/office/drawing/2014/main" id="{413E7CC1-645B-497B-8BEF-2FDEFDA34664}"/>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각 사실에 나온 개체 찾기</a:t>
            </a:r>
          </a:p>
        </p:txBody>
      </p:sp>
      <p:sp>
        <p:nvSpPr>
          <p:cNvPr id="8" name="">
            <a:extLst xmlns:a="http://schemas.openxmlformats.org/drawingml/2006/main">
              <a:ext uri="{FF2B5EF4-FFF2-40B4-BE49-F238E27FC236}">
                <a16:creationId xmlns:a16="http://schemas.microsoft.com/office/drawing/2014/main" id="{F81E772C-E4E6-419B-8927-43A2DAF7AB88}"/>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사실과 개체 연결</a:t>
            </a:r>
          </a:p>
        </p:txBody>
      </p:sp>
      <p:sp>
        <p:nvSpPr>
          <p:cNvPr id="10" name="">
            <a:extLst xmlns:a="http://schemas.openxmlformats.org/drawingml/2006/main">
              <a:ext uri="{FF2B5EF4-FFF2-40B4-BE49-F238E27FC236}">
                <a16:creationId xmlns:a16="http://schemas.microsoft.com/office/drawing/2014/main" id="{908DB875-D53A-44A4-A188-899E8AADD3B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관련 개체들의 연결 구성</a:t>
            </a:r>
          </a:p>
        </p:txBody>
      </p:sp>
      <p:sp>
        <p:nvSpPr>
          <p:cNvPr id="12" name="">
            <a:extLst xmlns:a="http://schemas.openxmlformats.org/drawingml/2006/main">
              <a:ext uri="{FF2B5EF4-FFF2-40B4-BE49-F238E27FC236}">
                <a16:creationId xmlns:a16="http://schemas.microsoft.com/office/drawing/2014/main" id="{89F9ECAC-50CC-4BC3-AA1B-5982BCA64A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각 사실의 원문 출처 저장</a:t>
            </a:r>
          </a:p>
        </p:txBody>
      </p:sp>
      <p:sp>
        <p:nvSpPr>
          <p:cNvPr id="14" name="">
            <a:extLst xmlns:a="http://schemas.openxmlformats.org/drawingml/2006/main">
              <a:ext uri="{FF2B5EF4-FFF2-40B4-BE49-F238E27FC236}">
                <a16:creationId xmlns:a16="http://schemas.microsoft.com/office/drawing/2014/main" id="{A97D9BAB-C172-4114-BB27-5E6D073C779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E5A116B-4E78-4C0E-A100-934020437BF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필요하면 질문을 작게 나누기</a:t>
            </a:r>
          </a:p>
        </p:txBody>
      </p:sp>
      <p:sp>
        <p:nvSpPr>
          <p:cNvPr id="16" name="">
            <a:extLst xmlns:a="http://schemas.openxmlformats.org/drawingml/2006/main">
              <a:ext uri="{FF2B5EF4-FFF2-40B4-BE49-F238E27FC236}">
                <a16:creationId xmlns:a16="http://schemas.microsoft.com/office/drawing/2014/main" id="{E31902A6-CAAB-459D-9C00-376B6082B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사실과 개체 찾기</a:t>
            </a:r>
          </a:p>
        </p:txBody>
      </p:sp>
      <p:sp>
        <p:nvSpPr>
          <p:cNvPr id="18" name="">
            <a:extLst xmlns:a="http://schemas.openxmlformats.org/drawingml/2006/main">
              <a:ext uri="{FF2B5EF4-FFF2-40B4-BE49-F238E27FC236}">
                <a16:creationId xmlns:a16="http://schemas.microsoft.com/office/drawing/2014/main" id="{12B20774-74E9-4E6B-866C-DEC6F1F64B8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PPR로 관련 사실 범위 넓히기</a:t>
            </a:r>
          </a:p>
        </p:txBody>
      </p:sp>
      <p:sp>
        <p:nvSpPr>
          <p:cNvPr id="20" name="">
            <a:extLst xmlns:a="http://schemas.openxmlformats.org/drawingml/2006/main">
              <a:ext uri="{FF2B5EF4-FFF2-40B4-BE49-F238E27FC236}">
                <a16:creationId xmlns:a16="http://schemas.microsoft.com/office/drawing/2014/main" id="{7602FC9F-8B8A-465F-8073-49785A74CD1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중복·무관한 사실 걸러내기</a:t>
            </a:r>
          </a:p>
        </p:txBody>
      </p:sp>
      <p:sp>
        <p:nvSpPr>
          <p:cNvPr id="22" name="">
            <a:extLst xmlns:a="http://schemas.openxmlformats.org/drawingml/2006/main">
              <a:ext uri="{FF2B5EF4-FFF2-40B4-BE49-F238E27FC236}">
                <a16:creationId xmlns:a16="http://schemas.microsoft.com/office/drawing/2014/main" id="{5BD27641-7488-4700-9C2B-D56729DE079F}"/>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남긴 사실과 원문으로 답변</a:t>
            </a:r>
          </a:p>
        </p:txBody>
      </p:sp>
      <p:sp>
        <p:nvSpPr>
          <p:cNvPr id="24" name="">
            <a:extLst xmlns:a="http://schemas.openxmlformats.org/drawingml/2006/main">
              <a:ext uri="{FF2B5EF4-FFF2-40B4-BE49-F238E27FC236}">
                <a16:creationId xmlns:a16="http://schemas.microsoft.com/office/drawing/2014/main" id="{7372FECA-3831-407A-ABFC-81C3C8AD526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고른 근거를 작은 모델이 읽기 쉽게 구성하는 방향으로 이어갑니다.</a:t>
            </a:r>
          </a:p>
        </p:txBody>
      </p:sp>
    </p:spTree>
    <p:extLst>
      <p:ext uri="{BB962C8B-B14F-4D97-AF65-F5344CB8AC3E}">
        <p14:creationId xmlns:p14="http://schemas.microsoft.com/office/powerpoint/2010/main" val="572326041"/>
      </p:ext>
    </p:extLst>
  </p:cSld>
</p:sld>
</file>

<file path=ppt/slides/slide4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7ED317D-A5DE-4441-AE1C-8DAB017E8675}"/>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근거 단위와 비용</a:t>
            </a:r>
          </a:p>
        </p:txBody>
      </p:sp>
      <p:sp>
        <p:nvSpPr>
          <p:cNvPr id="2" name="title">
            <a:extLst xmlns:a="http://schemas.openxmlformats.org/drawingml/2006/main">
              <a:ext uri="{FF2B5EF4-FFF2-40B4-BE49-F238E27FC236}">
                <a16:creationId xmlns:a16="http://schemas.microsoft.com/office/drawing/2014/main" id="{F8AF2A5C-ECD6-4B10-B6A6-A0EBA585594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MiniRAG: 작은 모델이 읽을 짧은 연결 찾기</a:t>
            </a:r>
          </a:p>
        </p:txBody>
      </p:sp>
      <p:sp>
        <p:nvSpPr>
          <p:cNvPr id="3" name="label-0">
            <a:extLst xmlns:a="http://schemas.openxmlformats.org/drawingml/2006/main">
              <a:ext uri="{FF2B5EF4-FFF2-40B4-BE49-F238E27FC236}">
                <a16:creationId xmlns:a16="http://schemas.microsoft.com/office/drawing/2014/main" id="{6EFDB922-83F0-474D-8AA8-3B261B63927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F64AD2BA-F646-4F94-AF99-46371DA356B3}"/>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개체와 원문 조각의 연결</a:t>
            </a:r>
          </a:p>
        </p:txBody>
      </p:sp>
      <p:sp>
        <p:nvSpPr>
          <p:cNvPr id="5" name="label-1">
            <a:extLst xmlns:a="http://schemas.openxmlformats.org/drawingml/2006/main">
              <a:ext uri="{FF2B5EF4-FFF2-40B4-BE49-F238E27FC236}">
                <a16:creationId xmlns:a16="http://schemas.microsoft.com/office/drawing/2014/main" id="{A992FA21-1516-4CEC-BE2E-736E8B2DEA12}"/>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6E7F6482-C373-44D2-A32C-5BA87907677D}"/>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가벼운 추출로 개체와 원문을 연결합니다.</a:t>
            </a:r>
          </a:p>
        </p:txBody>
      </p:sp>
      <p:sp>
        <p:nvSpPr>
          <p:cNvPr id="7" name="label-2">
            <a:extLst xmlns:a="http://schemas.openxmlformats.org/drawingml/2006/main">
              <a:ext uri="{FF2B5EF4-FFF2-40B4-BE49-F238E27FC236}">
                <a16:creationId xmlns:a16="http://schemas.microsoft.com/office/drawing/2014/main" id="{EFE11871-F7EE-47B9-A17B-DE787A380972}"/>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7D6AAC67-C8A2-4D9C-AF6E-4EB471BFB220}"/>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속 개체와 답의 종류를 보고 짧은 근거 경로를 찾습니다.</a:t>
            </a:r>
          </a:p>
        </p:txBody>
      </p:sp>
      <p:sp>
        <p:nvSpPr>
          <p:cNvPr id="9" name="page">
            <a:extLst xmlns:a="http://schemas.openxmlformats.org/drawingml/2006/main">
              <a:ext uri="{FF2B5EF4-FFF2-40B4-BE49-F238E27FC236}">
                <a16:creationId xmlns:a16="http://schemas.microsoft.com/office/drawing/2014/main" id="{43E08111-FD14-47D9-8987-9BD0E0005AE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43</a:t>
            </a:r>
          </a:p>
        </p:txBody>
      </p:sp>
      <p:sp>
        <p:nvSpPr>
          <p:cNvPr id="11" name="narrative-bridge">
            <a:extLst xmlns:a="http://schemas.openxmlformats.org/drawingml/2006/main">
              <a:ext uri="{FF2B5EF4-FFF2-40B4-BE49-F238E27FC236}">
                <a16:creationId xmlns:a16="http://schemas.microsoft.com/office/drawing/2014/main" id="{5B2D7452-C16C-4046-A283-1057C8040565}"/>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답이 회사인지 소프트웨어인지도 검색 경로를 고르는 단서가 됩니다.</a:t>
            </a:r>
          </a:p>
        </p:txBody>
      </p:sp>
    </p:spTree>
    <p:extLst>
      <p:ext uri="{BB962C8B-B14F-4D97-AF65-F5344CB8AC3E}">
        <p14:creationId xmlns:p14="http://schemas.microsoft.com/office/powerpoint/2010/main" val="432922161"/>
      </p:ext>
    </p:extLst>
  </p:cSld>
</p:sld>
</file>

<file path=ppt/slides/slide4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D614A4E-6E60-497B-917A-B55FA0D9C20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근거 단위와 비용</a:t>
            </a:r>
          </a:p>
        </p:txBody>
      </p:sp>
      <p:sp>
        <p:nvSpPr>
          <p:cNvPr id="2" name="title">
            <a:extLst xmlns:a="http://schemas.openxmlformats.org/drawingml/2006/main">
              <a:ext uri="{FF2B5EF4-FFF2-40B4-BE49-F238E27FC236}">
                <a16:creationId xmlns:a16="http://schemas.microsoft.com/office/drawing/2014/main" id="{D748E486-DB71-4A99-8A9C-6574578641BA}"/>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MiniRAG를 질문에 대입하면</a:t>
            </a:r>
          </a:p>
        </p:txBody>
      </p:sp>
      <p:sp>
        <p:nvSpPr>
          <p:cNvPr id="3" name="label-0">
            <a:extLst xmlns:a="http://schemas.openxmlformats.org/drawingml/2006/main">
              <a:ext uri="{FF2B5EF4-FFF2-40B4-BE49-F238E27FC236}">
                <a16:creationId xmlns:a16="http://schemas.microsoft.com/office/drawing/2014/main" id="{D7E3618E-E301-4D4C-B260-8B84F4A5039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FCAC1BA5-FEAF-44A8-9EC7-6C99B7ECCB9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날씨API에 의존하는 소프트웨어 이름은 무엇인가요?</a:t>
            </a:r>
          </a:p>
        </p:txBody>
      </p:sp>
      <p:sp>
        <p:nvSpPr>
          <p:cNvPr id="5" name="label-1">
            <a:extLst xmlns:a="http://schemas.openxmlformats.org/drawingml/2006/main">
              <a:ext uri="{FF2B5EF4-FFF2-40B4-BE49-F238E27FC236}">
                <a16:creationId xmlns:a16="http://schemas.microsoft.com/office/drawing/2014/main" id="{61115EA1-D4EE-45A7-AB45-8EA2D02911D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993D6AB0-EEAD-46F9-99C8-5794D3FF6EC9}"/>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답이 될 만한 시스템과 주변 원문을 짧게 모읍니다.</a:t>
            </a:r>
          </a:p>
        </p:txBody>
      </p:sp>
      <p:sp>
        <p:nvSpPr>
          <p:cNvPr id="7" name="label-2">
            <a:extLst xmlns:a="http://schemas.openxmlformats.org/drawingml/2006/main">
              <a:ext uri="{FF2B5EF4-FFF2-40B4-BE49-F238E27FC236}">
                <a16:creationId xmlns:a16="http://schemas.microsoft.com/office/drawing/2014/main" id="{A62B1D24-97AE-42EB-A8E7-7FF6D3B40453}"/>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7C411066-6013-41EB-9D16-9F85A4DCB61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작은 모델도 개체와 답의 종류를 잘못 판단할 수 있습니다.</a:t>
            </a:r>
          </a:p>
        </p:txBody>
      </p:sp>
      <p:sp>
        <p:nvSpPr>
          <p:cNvPr id="9" name="page">
            <a:extLst xmlns:a="http://schemas.openxmlformats.org/drawingml/2006/main">
              <a:ext uri="{FF2B5EF4-FFF2-40B4-BE49-F238E27FC236}">
                <a16:creationId xmlns:a16="http://schemas.microsoft.com/office/drawing/2014/main" id="{B9DA1280-A19F-4881-9058-ED9116866B2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44</a:t>
            </a:r>
          </a:p>
        </p:txBody>
      </p:sp>
      <p:sp>
        <p:nvSpPr>
          <p:cNvPr id="11" name="narrative-bridge">
            <a:extLst xmlns:a="http://schemas.openxmlformats.org/drawingml/2006/main">
              <a:ext uri="{FF2B5EF4-FFF2-40B4-BE49-F238E27FC236}">
                <a16:creationId xmlns:a16="http://schemas.microsoft.com/office/drawing/2014/main" id="{378B8E29-EA48-4488-BD75-299C3C6126D4}"/>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짧은 근거에도 답에 필요한 중간 연결은 남아 있어야 합니다.</a:t>
            </a:r>
          </a:p>
        </p:txBody>
      </p:sp>
    </p:spTree>
    <p:extLst>
      <p:ext uri="{BB962C8B-B14F-4D97-AF65-F5344CB8AC3E}">
        <p14:creationId xmlns:p14="http://schemas.microsoft.com/office/powerpoint/2010/main" val="216887876"/>
      </p:ext>
    </p:extLst>
  </p:cSld>
</p:sld>
</file>

<file path=ppt/slides/slide45.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6D97A2AC-98BB-42A2-85B3-40A146CB1FB2}"/>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1A771C4C-8FE0-44B2-B7DD-B7E55DEEB89F}"/>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4CF7E59A-6C52-4849-9AE4-7673486EB05A}"/>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56E4A8ED-E71D-4E56-BAE5-5A8C13008891}"/>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F7321439-B255-46B2-A2D9-B3E3E7D53472}"/>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50F2BE1A-9FD0-48C7-8AED-1B0DA257EFAA}"/>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B55FF23B-6753-4878-9D0C-0C99110A2142}"/>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2A5021E9-08DB-41D4-BFB1-405A7DD26A78}"/>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B784FBD2-E462-4480-A641-25C8C99917B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근거 단위와 비용</a:t>
            </a:r>
          </a:p>
        </p:txBody>
      </p:sp>
      <p:sp>
        <p:nvSpPr>
          <p:cNvPr id="2" name="">
            <a:extLst xmlns:a="http://schemas.openxmlformats.org/drawingml/2006/main">
              <a:ext uri="{FF2B5EF4-FFF2-40B4-BE49-F238E27FC236}">
                <a16:creationId xmlns:a16="http://schemas.microsoft.com/office/drawing/2014/main" id="{0E54D800-5D3E-4407-8B8B-A1821C413C2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MiniRAG의 전체 처리 순서</a:t>
            </a:r>
          </a:p>
        </p:txBody>
      </p:sp>
      <p:sp>
        <p:nvSpPr>
          <p:cNvPr id="3" name="">
            <a:extLst xmlns:a="http://schemas.openxmlformats.org/drawingml/2006/main">
              <a:ext uri="{FF2B5EF4-FFF2-40B4-BE49-F238E27FC236}">
                <a16:creationId xmlns:a16="http://schemas.microsoft.com/office/drawing/2014/main" id="{5560DC70-096A-4013-99E5-6106FD71AE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45</a:t>
            </a:r>
          </a:p>
        </p:txBody>
      </p:sp>
      <p:sp>
        <p:nvSpPr>
          <p:cNvPr id="4" name="">
            <a:extLst xmlns:a="http://schemas.openxmlformats.org/drawingml/2006/main">
              <a:ext uri="{FF2B5EF4-FFF2-40B4-BE49-F238E27FC236}">
                <a16:creationId xmlns:a16="http://schemas.microsoft.com/office/drawing/2014/main" id="{26DDE4C9-B567-4378-8626-4F521149D35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7B7995DD-C3B3-4235-84A8-6387A816E6E5}"/>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원문 조각 준비</a:t>
            </a:r>
          </a:p>
        </p:txBody>
      </p:sp>
      <p:sp>
        <p:nvSpPr>
          <p:cNvPr id="6" name="">
            <a:extLst xmlns:a="http://schemas.openxmlformats.org/drawingml/2006/main">
              <a:ext uri="{FF2B5EF4-FFF2-40B4-BE49-F238E27FC236}">
                <a16:creationId xmlns:a16="http://schemas.microsoft.com/office/drawing/2014/main" id="{EB126013-C648-4751-8CFD-E9D18E3DF626}"/>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가벼운 개체 추출</a:t>
            </a:r>
          </a:p>
        </p:txBody>
      </p:sp>
      <p:sp>
        <p:nvSpPr>
          <p:cNvPr id="8" name="">
            <a:extLst xmlns:a="http://schemas.openxmlformats.org/drawingml/2006/main">
              <a:ext uri="{FF2B5EF4-FFF2-40B4-BE49-F238E27FC236}">
                <a16:creationId xmlns:a16="http://schemas.microsoft.com/office/drawing/2014/main" id="{0B18B186-7A1B-4101-9602-5B07CD7E7954}"/>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개체와 원문을 함께 연결</a:t>
            </a:r>
          </a:p>
        </p:txBody>
      </p:sp>
      <p:sp>
        <p:nvSpPr>
          <p:cNvPr id="10" name="">
            <a:extLst xmlns:a="http://schemas.openxmlformats.org/drawingml/2006/main">
              <a:ext uri="{FF2B5EF4-FFF2-40B4-BE49-F238E27FC236}">
                <a16:creationId xmlns:a16="http://schemas.microsoft.com/office/drawing/2014/main" id="{83A8A865-E269-4645-85ED-F7703140485A}"/>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내용과 연결 구조 저장</a:t>
            </a:r>
          </a:p>
        </p:txBody>
      </p:sp>
      <p:sp>
        <p:nvSpPr>
          <p:cNvPr id="12" name="">
            <a:extLst xmlns:a="http://schemas.openxmlformats.org/drawingml/2006/main">
              <a:ext uri="{FF2B5EF4-FFF2-40B4-BE49-F238E27FC236}">
                <a16:creationId xmlns:a16="http://schemas.microsoft.com/office/drawing/2014/main" id="{5FBDD634-9D47-409B-8442-864C3947E02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작은 모델용 검색 구조 준비</a:t>
            </a:r>
          </a:p>
        </p:txBody>
      </p:sp>
      <p:sp>
        <p:nvSpPr>
          <p:cNvPr id="14" name="">
            <a:extLst xmlns:a="http://schemas.openxmlformats.org/drawingml/2006/main">
              <a:ext uri="{FF2B5EF4-FFF2-40B4-BE49-F238E27FC236}">
                <a16:creationId xmlns:a16="http://schemas.microsoft.com/office/drawing/2014/main" id="{DCBABF9A-1AC9-4DB5-94AC-7AA7C407842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E822FADD-9A96-4458-B0FB-00CA686DB158}"/>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속 개체와 답 종류 파악</a:t>
            </a:r>
          </a:p>
        </p:txBody>
      </p:sp>
      <p:sp>
        <p:nvSpPr>
          <p:cNvPr id="16" name="">
            <a:extLst xmlns:a="http://schemas.openxmlformats.org/drawingml/2006/main">
              <a:ext uri="{FF2B5EF4-FFF2-40B4-BE49-F238E27FC236}">
                <a16:creationId xmlns:a16="http://schemas.microsoft.com/office/drawing/2014/main" id="{7993A553-79DD-4978-BBA2-769DF965DF1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개체·원문 후보 찾기</a:t>
            </a:r>
          </a:p>
        </p:txBody>
      </p:sp>
      <p:sp>
        <p:nvSpPr>
          <p:cNvPr id="18" name="">
            <a:extLst xmlns:a="http://schemas.openxmlformats.org/drawingml/2006/main">
              <a:ext uri="{FF2B5EF4-FFF2-40B4-BE49-F238E27FC236}">
                <a16:creationId xmlns:a16="http://schemas.microsoft.com/office/drawing/2014/main" id="{23BDFD2D-FE4A-4B32-A784-35314577C4E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연결 구조로 경로 탐색</a:t>
            </a:r>
          </a:p>
        </p:txBody>
      </p:sp>
      <p:sp>
        <p:nvSpPr>
          <p:cNvPr id="20" name="">
            <a:extLst xmlns:a="http://schemas.openxmlformats.org/drawingml/2006/main">
              <a:ext uri="{FF2B5EF4-FFF2-40B4-BE49-F238E27FC236}">
                <a16:creationId xmlns:a16="http://schemas.microsoft.com/office/drawing/2014/main" id="{7E5DFF7E-D1BF-48D5-A05D-243E7A6486E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짧은 경로와 원문 선택</a:t>
            </a:r>
          </a:p>
        </p:txBody>
      </p:sp>
      <p:sp>
        <p:nvSpPr>
          <p:cNvPr id="22" name="">
            <a:extLst xmlns:a="http://schemas.openxmlformats.org/drawingml/2006/main">
              <a:ext uri="{FF2B5EF4-FFF2-40B4-BE49-F238E27FC236}">
                <a16:creationId xmlns:a16="http://schemas.microsoft.com/office/drawing/2014/main" id="{DF500CD9-731A-43CB-B7AB-86EDA8867B9B}"/>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근거로 답변 작성</a:t>
            </a:r>
          </a:p>
        </p:txBody>
      </p:sp>
      <p:sp>
        <p:nvSpPr>
          <p:cNvPr id="24" name="">
            <a:extLst xmlns:a="http://schemas.openxmlformats.org/drawingml/2006/main">
              <a:ext uri="{FF2B5EF4-FFF2-40B4-BE49-F238E27FC236}">
                <a16:creationId xmlns:a16="http://schemas.microsoft.com/office/drawing/2014/main" id="{093E9D26-787C-4DF6-BA58-46E566AF4FCD}"/>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지금까지 정한 검색 계산을 학습 모델로 바꾸는 GFM-RAG를 봅니다.</a:t>
            </a:r>
          </a:p>
        </p:txBody>
      </p:sp>
    </p:spTree>
    <p:extLst>
      <p:ext uri="{BB962C8B-B14F-4D97-AF65-F5344CB8AC3E}">
        <p14:creationId xmlns:p14="http://schemas.microsoft.com/office/powerpoint/2010/main" val="500867872"/>
      </p:ext>
    </p:extLst>
  </p:cSld>
</p:sld>
</file>

<file path=ppt/slides/slide4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2C2421F-760A-4292-B531-D57060007BD5}"/>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학습하는 검색</a:t>
            </a:r>
          </a:p>
        </p:txBody>
      </p:sp>
      <p:sp>
        <p:nvSpPr>
          <p:cNvPr id="2" name="title">
            <a:extLst xmlns:a="http://schemas.openxmlformats.org/drawingml/2006/main">
              <a:ext uri="{FF2B5EF4-FFF2-40B4-BE49-F238E27FC236}">
                <a16:creationId xmlns:a16="http://schemas.microsoft.com/office/drawing/2014/main" id="{E1A28D04-9AB0-42F5-9201-4E786818EDA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GFM-RAG: 어디로 검색할지 모델이 학습</a:t>
            </a:r>
          </a:p>
        </p:txBody>
      </p:sp>
      <p:sp>
        <p:nvSpPr>
          <p:cNvPr id="3" name="label-0">
            <a:extLst xmlns:a="http://schemas.openxmlformats.org/drawingml/2006/main">
              <a:ext uri="{FF2B5EF4-FFF2-40B4-BE49-F238E27FC236}">
                <a16:creationId xmlns:a16="http://schemas.microsoft.com/office/drawing/2014/main" id="{DD1EF641-E4C4-4467-8CD0-2B8F011A936F}"/>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B50FC4E3-3C9E-420E-A46F-38CA4C9BCC85}"/>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지식 그래프, 문서 연결, 학습된 검색 모델</a:t>
            </a:r>
          </a:p>
        </p:txBody>
      </p:sp>
      <p:sp>
        <p:nvSpPr>
          <p:cNvPr id="5" name="label-1">
            <a:extLst xmlns:a="http://schemas.openxmlformats.org/drawingml/2006/main">
              <a:ext uri="{FF2B5EF4-FFF2-40B4-BE49-F238E27FC236}">
                <a16:creationId xmlns:a16="http://schemas.microsoft.com/office/drawing/2014/main" id="{618EA59C-A9BB-45BC-97F9-F4FCA0C44956}"/>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1B3CC808-78C0-436E-9C1C-C37AB7DAD5BB}"/>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그래프와 문서 연결을 준비하고 학습된 모델을 불러옵니다.</a:t>
            </a:r>
          </a:p>
        </p:txBody>
      </p:sp>
      <p:sp>
        <p:nvSpPr>
          <p:cNvPr id="7" name="label-2">
            <a:extLst xmlns:a="http://schemas.openxmlformats.org/drawingml/2006/main">
              <a:ext uri="{FF2B5EF4-FFF2-40B4-BE49-F238E27FC236}">
                <a16:creationId xmlns:a16="http://schemas.microsoft.com/office/drawing/2014/main" id="{EC50F53E-0071-4F21-B41C-DD1C3CD65F8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5CB1E8B7-EB80-44AE-A78E-CAF5F928AB5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질문에 맞춰 그래프 정보를 전달하며 관련 개체와 문서를 예측합니다.</a:t>
            </a:r>
          </a:p>
        </p:txBody>
      </p:sp>
      <p:sp>
        <p:nvSpPr>
          <p:cNvPr id="9" name="page">
            <a:extLst xmlns:a="http://schemas.openxmlformats.org/drawingml/2006/main">
              <a:ext uri="{FF2B5EF4-FFF2-40B4-BE49-F238E27FC236}">
                <a16:creationId xmlns:a16="http://schemas.microsoft.com/office/drawing/2014/main" id="{153904F2-8D46-4CF0-882C-2D4FA89A6B2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46</a:t>
            </a:r>
          </a:p>
        </p:txBody>
      </p:sp>
      <p:sp>
        <p:nvSpPr>
          <p:cNvPr id="11" name="narrative-bridge">
            <a:extLst xmlns:a="http://schemas.openxmlformats.org/drawingml/2006/main">
              <a:ext uri="{FF2B5EF4-FFF2-40B4-BE49-F238E27FC236}">
                <a16:creationId xmlns:a16="http://schemas.microsoft.com/office/drawing/2014/main" id="{3A463202-A44A-4D12-B5E1-472FE1C1CC3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모델이 계산한 개체 관련도가 어떤 원문 선택으로 이어지는지 봅니다.</a:t>
            </a:r>
          </a:p>
        </p:txBody>
      </p:sp>
    </p:spTree>
    <p:extLst>
      <p:ext uri="{BB962C8B-B14F-4D97-AF65-F5344CB8AC3E}">
        <p14:creationId xmlns:p14="http://schemas.microsoft.com/office/powerpoint/2010/main" val="933183301"/>
      </p:ext>
    </p:extLst>
  </p:cSld>
</p:sld>
</file>

<file path=ppt/slides/slide4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6C1FF61B-5A09-4D0A-9916-ADD2F9CC659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학습하는 검색</a:t>
            </a:r>
          </a:p>
        </p:txBody>
      </p:sp>
      <p:sp>
        <p:nvSpPr>
          <p:cNvPr id="2" name="title">
            <a:extLst xmlns:a="http://schemas.openxmlformats.org/drawingml/2006/main">
              <a:ext uri="{FF2B5EF4-FFF2-40B4-BE49-F238E27FC236}">
                <a16:creationId xmlns:a16="http://schemas.microsoft.com/office/drawing/2014/main" id="{C66961E0-7461-4E3F-A7C7-C1C74F51028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GFM-RAG를 질문에 대입하면</a:t>
            </a:r>
          </a:p>
        </p:txBody>
      </p:sp>
      <p:sp>
        <p:nvSpPr>
          <p:cNvPr id="3" name="label-0">
            <a:extLst xmlns:a="http://schemas.openxmlformats.org/drawingml/2006/main">
              <a:ext uri="{FF2B5EF4-FFF2-40B4-BE49-F238E27FC236}">
                <a16:creationId xmlns:a16="http://schemas.microsoft.com/office/drawing/2014/main" id="{F89338E7-B645-423A-9EC0-FC2811163795}"/>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447D5C96-D0B3-4C00-B7B8-EE090692A88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문서에 흩어진 답의 근거를 찾아 주세요.</a:t>
            </a:r>
          </a:p>
        </p:txBody>
      </p:sp>
      <p:sp>
        <p:nvSpPr>
          <p:cNvPr id="5" name="label-1">
            <a:extLst xmlns:a="http://schemas.openxmlformats.org/drawingml/2006/main">
              <a:ext uri="{FF2B5EF4-FFF2-40B4-BE49-F238E27FC236}">
                <a16:creationId xmlns:a16="http://schemas.microsoft.com/office/drawing/2014/main" id="{53A34591-9DC7-4E19-9680-C34E6D4C5F6A}"/>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3CCBF9AD-3838-4E33-B8CB-53446419DD88}"/>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모델이 계산한 개체 관련도를 원문 검색에 연결합니다.</a:t>
            </a:r>
          </a:p>
        </p:txBody>
      </p:sp>
      <p:sp>
        <p:nvSpPr>
          <p:cNvPr id="7" name="label-2">
            <a:extLst xmlns:a="http://schemas.openxmlformats.org/drawingml/2006/main">
              <a:ext uri="{FF2B5EF4-FFF2-40B4-BE49-F238E27FC236}">
                <a16:creationId xmlns:a16="http://schemas.microsoft.com/office/drawing/2014/main" id="{D809BB1D-4092-4307-8BE8-5E52C14D9DB9}"/>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F2D484F9-6646-474C-BE37-0AC2D1026830}"/>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학습된 가중치와 그래프 준비가 필요하며 새 데이터에서 성능을 확인해야 합니다.</a:t>
            </a:r>
          </a:p>
        </p:txBody>
      </p:sp>
      <p:sp>
        <p:nvSpPr>
          <p:cNvPr id="9" name="page">
            <a:extLst xmlns:a="http://schemas.openxmlformats.org/drawingml/2006/main">
              <a:ext uri="{FF2B5EF4-FFF2-40B4-BE49-F238E27FC236}">
                <a16:creationId xmlns:a16="http://schemas.microsoft.com/office/drawing/2014/main" id="{673BCFE0-2AB4-4B77-B1D5-ACCB729CB94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47</a:t>
            </a:r>
          </a:p>
        </p:txBody>
      </p:sp>
      <p:sp>
        <p:nvSpPr>
          <p:cNvPr id="11" name="narrative-bridge">
            <a:extLst xmlns:a="http://schemas.openxmlformats.org/drawingml/2006/main">
              <a:ext uri="{FF2B5EF4-FFF2-40B4-BE49-F238E27FC236}">
                <a16:creationId xmlns:a16="http://schemas.microsoft.com/office/drawing/2014/main" id="{82CC75D3-5017-4D43-B2C8-7D7EDF707350}"/>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학습 모델을 불러오는 시점과 질문마다 실행하는 계산을 나눠 봅니다.</a:t>
            </a:r>
          </a:p>
        </p:txBody>
      </p:sp>
    </p:spTree>
    <p:extLst>
      <p:ext uri="{BB962C8B-B14F-4D97-AF65-F5344CB8AC3E}">
        <p14:creationId xmlns:p14="http://schemas.microsoft.com/office/powerpoint/2010/main" val="1248652513"/>
      </p:ext>
    </p:extLst>
  </p:cSld>
</p:sld>
</file>

<file path=ppt/slides/slide48.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62CE9BFA-2229-4707-95F5-77D573CC1384}"/>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7ED195AE-8DC0-4098-A051-10570FB614EE}"/>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15FA227-A586-40CA-96B8-B4304C52CF2A}"/>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B1321892-D09C-4077-B3B6-41F5986226AA}"/>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F3E44F0B-2537-4B1F-80EC-B34388A67A0B}"/>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8099EB17-8E18-4A31-B335-9B93BB917555}"/>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0F991757-0524-4BA9-B6FC-B88A471392E2}"/>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EFEF0B43-7910-4012-9B77-8E128DA4AE37}"/>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1FD4F3-60A7-4DD9-92CA-A6D2EB5C4645}"/>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학습하는 검색</a:t>
            </a:r>
          </a:p>
        </p:txBody>
      </p:sp>
      <p:sp>
        <p:nvSpPr>
          <p:cNvPr id="2" name="">
            <a:extLst xmlns:a="http://schemas.openxmlformats.org/drawingml/2006/main">
              <a:ext uri="{FF2B5EF4-FFF2-40B4-BE49-F238E27FC236}">
                <a16:creationId xmlns:a16="http://schemas.microsoft.com/office/drawing/2014/main" id="{6AD8EDA3-BA8B-4F8E-A026-91FCB9AB265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GFM-RAG의 전체 처리 순서</a:t>
            </a:r>
          </a:p>
        </p:txBody>
      </p:sp>
      <p:sp>
        <p:nvSpPr>
          <p:cNvPr id="3" name="">
            <a:extLst xmlns:a="http://schemas.openxmlformats.org/drawingml/2006/main">
              <a:ext uri="{FF2B5EF4-FFF2-40B4-BE49-F238E27FC236}">
                <a16:creationId xmlns:a16="http://schemas.microsoft.com/office/drawing/2014/main" id="{D62D0378-0412-4926-8A14-BCAA0E375ED8}"/>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48</a:t>
            </a:r>
          </a:p>
        </p:txBody>
      </p:sp>
      <p:sp>
        <p:nvSpPr>
          <p:cNvPr id="4" name="">
            <a:extLst xmlns:a="http://schemas.openxmlformats.org/drawingml/2006/main">
              <a:ext uri="{FF2B5EF4-FFF2-40B4-BE49-F238E27FC236}">
                <a16:creationId xmlns:a16="http://schemas.microsoft.com/office/drawing/2014/main" id="{218A730C-4FC0-4EDB-8B15-B14BA3331466}"/>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0EE4254D-EE0E-4E23-94E8-79092435F85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지식 그래프 준비</a:t>
            </a:r>
          </a:p>
        </p:txBody>
      </p:sp>
      <p:sp>
        <p:nvSpPr>
          <p:cNvPr id="6" name="">
            <a:extLst xmlns:a="http://schemas.openxmlformats.org/drawingml/2006/main">
              <a:ext uri="{FF2B5EF4-FFF2-40B4-BE49-F238E27FC236}">
                <a16:creationId xmlns:a16="http://schemas.microsoft.com/office/drawing/2014/main" id="{C0B1FC36-B00A-4BCE-B49C-477E1659A76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개체·관계·문서 매핑 저장</a:t>
            </a:r>
          </a:p>
        </p:txBody>
      </p:sp>
      <p:sp>
        <p:nvSpPr>
          <p:cNvPr id="8" name="">
            <a:extLst xmlns:a="http://schemas.openxmlformats.org/drawingml/2006/main">
              <a:ext uri="{FF2B5EF4-FFF2-40B4-BE49-F238E27FC236}">
                <a16:creationId xmlns:a16="http://schemas.microsoft.com/office/drawing/2014/main" id="{E46BCD58-4892-4BEF-97E9-2EC2F520D779}"/>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모델이 읽을 형태로 변환</a:t>
            </a:r>
          </a:p>
        </p:txBody>
      </p:sp>
      <p:sp>
        <p:nvSpPr>
          <p:cNvPr id="10" name="">
            <a:extLst xmlns:a="http://schemas.openxmlformats.org/drawingml/2006/main">
              <a:ext uri="{FF2B5EF4-FFF2-40B4-BE49-F238E27FC236}">
                <a16:creationId xmlns:a16="http://schemas.microsoft.com/office/drawing/2014/main" id="{48AAA85D-7339-4B28-B8D0-F9A47AC9C50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학습된 검색 모델 불러오기</a:t>
            </a:r>
          </a:p>
        </p:txBody>
      </p:sp>
      <p:sp>
        <p:nvSpPr>
          <p:cNvPr id="12" name="">
            <a:extLst xmlns:a="http://schemas.openxmlformats.org/drawingml/2006/main">
              <a:ext uri="{FF2B5EF4-FFF2-40B4-BE49-F238E27FC236}">
                <a16:creationId xmlns:a16="http://schemas.microsoft.com/office/drawing/2014/main" id="{516DB87C-984D-4DA6-A9C1-D48F25358B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새 문서 그래프에 적용 준비</a:t>
            </a:r>
          </a:p>
        </p:txBody>
      </p:sp>
      <p:sp>
        <p:nvSpPr>
          <p:cNvPr id="14" name="">
            <a:extLst xmlns:a="http://schemas.openxmlformats.org/drawingml/2006/main">
              <a:ext uri="{FF2B5EF4-FFF2-40B4-BE49-F238E27FC236}">
                <a16:creationId xmlns:a16="http://schemas.microsoft.com/office/drawing/2014/main" id="{ECA18BA2-A64F-4FB9-9665-82311A36E30D}"/>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FFEEC8CF-BB65-4319-B4A8-BDF2580C5B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질문과 개체 연결</a:t>
            </a:r>
          </a:p>
        </p:txBody>
      </p:sp>
      <p:sp>
        <p:nvSpPr>
          <p:cNvPr id="16" name="">
            <a:extLst xmlns:a="http://schemas.openxmlformats.org/drawingml/2006/main">
              <a:ext uri="{FF2B5EF4-FFF2-40B4-BE49-F238E27FC236}">
                <a16:creationId xmlns:a16="http://schemas.microsoft.com/office/drawing/2014/main" id="{AD38EB12-E16D-4015-92BA-1340A7ECF641}"/>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질문을 반영한 GNN 실행</a:t>
            </a:r>
          </a:p>
        </p:txBody>
      </p:sp>
      <p:sp>
        <p:nvSpPr>
          <p:cNvPr id="18" name="">
            <a:extLst xmlns:a="http://schemas.openxmlformats.org/drawingml/2006/main">
              <a:ext uri="{FF2B5EF4-FFF2-40B4-BE49-F238E27FC236}">
                <a16:creationId xmlns:a16="http://schemas.microsoft.com/office/drawing/2014/main" id="{5EA72D75-A032-4466-BCCF-DFAC3916147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이웃 정보로 개체 점수 계산</a:t>
            </a:r>
          </a:p>
        </p:txBody>
      </p:sp>
      <p:sp>
        <p:nvSpPr>
          <p:cNvPr id="20" name="">
            <a:extLst xmlns:a="http://schemas.openxmlformats.org/drawingml/2006/main">
              <a:ext uri="{FF2B5EF4-FFF2-40B4-BE49-F238E27FC236}">
                <a16:creationId xmlns:a16="http://schemas.microsoft.com/office/drawing/2014/main" id="{CB2E3254-BDF1-4578-BFBE-413D337C930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 점수로 문서 정렬</a:t>
            </a:r>
          </a:p>
        </p:txBody>
      </p:sp>
      <p:sp>
        <p:nvSpPr>
          <p:cNvPr id="22" name="">
            <a:extLst xmlns:a="http://schemas.openxmlformats.org/drawingml/2006/main">
              <a:ext uri="{FF2B5EF4-FFF2-40B4-BE49-F238E27FC236}">
                <a16:creationId xmlns:a16="http://schemas.microsoft.com/office/drawing/2014/main" id="{A68E4808-8698-4CF4-A391-0ABA8D7A094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검색 문서로 답변 작성</a:t>
            </a:r>
          </a:p>
        </p:txBody>
      </p:sp>
      <p:sp>
        <p:nvSpPr>
          <p:cNvPr id="24" name="">
            <a:extLst xmlns:a="http://schemas.openxmlformats.org/drawingml/2006/main">
              <a:ext uri="{FF2B5EF4-FFF2-40B4-BE49-F238E27FC236}">
                <a16:creationId xmlns:a16="http://schemas.microsoft.com/office/drawing/2014/main" id="{FABFD892-2E7C-4EF1-8B84-0C89D9B82D2B}"/>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검색 대상도 개체·문서·그룹으로 넓히면 G-reasoner와 비교할 수 있습니다.</a:t>
            </a:r>
          </a:p>
        </p:txBody>
      </p:sp>
    </p:spTree>
    <p:extLst>
      <p:ext uri="{BB962C8B-B14F-4D97-AF65-F5344CB8AC3E}">
        <p14:creationId xmlns:p14="http://schemas.microsoft.com/office/powerpoint/2010/main" val="1033633796"/>
      </p:ext>
    </p:extLst>
  </p:cSld>
</p:sld>
</file>

<file path=ppt/slides/slide4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F6D19226-EE98-472A-82BC-ED33E7430B1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학습하는 검색</a:t>
            </a:r>
          </a:p>
        </p:txBody>
      </p:sp>
      <p:sp>
        <p:nvSpPr>
          <p:cNvPr id="2" name="title">
            <a:extLst xmlns:a="http://schemas.openxmlformats.org/drawingml/2006/main">
              <a:ext uri="{FF2B5EF4-FFF2-40B4-BE49-F238E27FC236}">
                <a16:creationId xmlns:a16="http://schemas.microsoft.com/office/drawing/2014/main" id="{8982EC84-E946-47FB-A29E-0EC3620BEE2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G-reasoner: 여러 지식 구조를 한 그래프로 연결</a:t>
            </a:r>
          </a:p>
        </p:txBody>
      </p:sp>
      <p:sp>
        <p:nvSpPr>
          <p:cNvPr id="3" name="label-0">
            <a:extLst xmlns:a="http://schemas.openxmlformats.org/drawingml/2006/main">
              <a:ext uri="{FF2B5EF4-FFF2-40B4-BE49-F238E27FC236}">
                <a16:creationId xmlns:a16="http://schemas.microsoft.com/office/drawing/2014/main" id="{79D5A2B5-9CB4-40B4-B2AA-DD402B312180}"/>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CCF51FF0-97BD-41F5-A676-FD3780903E8C}"/>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속성, 개체 관계, 문서, 그룹 요약의 연결</a:t>
            </a:r>
          </a:p>
        </p:txBody>
      </p:sp>
      <p:sp>
        <p:nvSpPr>
          <p:cNvPr id="5" name="label-1">
            <a:extLst xmlns:a="http://schemas.openxmlformats.org/drawingml/2006/main">
              <a:ext uri="{FF2B5EF4-FFF2-40B4-BE49-F238E27FC236}">
                <a16:creationId xmlns:a16="http://schemas.microsoft.com/office/drawing/2014/main" id="{D835DB4B-207A-4D90-BADA-13F78B9AFCB8}"/>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545C88EA-5162-4FAD-B404-BD79B153FF24}"/>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네 종류의 정보를 연결한 QuadGraph를 준비합니다.</a:t>
            </a:r>
          </a:p>
        </p:txBody>
      </p:sp>
      <p:sp>
        <p:nvSpPr>
          <p:cNvPr id="7" name="label-2">
            <a:extLst xmlns:a="http://schemas.openxmlformats.org/drawingml/2006/main">
              <a:ext uri="{FF2B5EF4-FFF2-40B4-BE49-F238E27FC236}">
                <a16:creationId xmlns:a16="http://schemas.microsoft.com/office/drawing/2014/main" id="{C69D2F10-A526-4A2C-A5B8-4A4B110060A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68B0FAD9-1A63-4517-91C7-FA293483D9B3}"/>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학습 모델이 질문과 관련된 부분을 찾아 근거를 모읍니다.</a:t>
            </a:r>
          </a:p>
        </p:txBody>
      </p:sp>
      <p:sp>
        <p:nvSpPr>
          <p:cNvPr id="9" name="page">
            <a:extLst xmlns:a="http://schemas.openxmlformats.org/drawingml/2006/main">
              <a:ext uri="{FF2B5EF4-FFF2-40B4-BE49-F238E27FC236}">
                <a16:creationId xmlns:a16="http://schemas.microsoft.com/office/drawing/2014/main" id="{9288A36E-6468-47AD-8A94-BF5F154BC68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49</a:t>
            </a:r>
          </a:p>
        </p:txBody>
      </p:sp>
      <p:sp>
        <p:nvSpPr>
          <p:cNvPr id="11" name="narrative-bridge">
            <a:extLst xmlns:a="http://schemas.openxmlformats.org/drawingml/2006/main">
              <a:ext uri="{FF2B5EF4-FFF2-40B4-BE49-F238E27FC236}">
                <a16:creationId xmlns:a16="http://schemas.microsoft.com/office/drawing/2014/main" id="{47DA9219-2574-4FD2-8D18-9AE56E674E1B}"/>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개별 시스템과 전체 운영을 함께 묻는 질문에 대입해 보겠습니다.</a:t>
            </a:r>
          </a:p>
        </p:txBody>
      </p:sp>
    </p:spTree>
    <p:extLst>
      <p:ext uri="{BB962C8B-B14F-4D97-AF65-F5344CB8AC3E}">
        <p14:creationId xmlns:p14="http://schemas.microsoft.com/office/powerpoint/2010/main" val="1784391214"/>
      </p:ext>
    </p:extLst>
  </p:cSld>
</p:sld>
</file>

<file path=ppt/slides/slide5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634B305-C569-4037-8AD9-BD861C2356B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학습하는 검색</a:t>
            </a:r>
          </a:p>
        </p:txBody>
      </p:sp>
      <p:sp>
        <p:nvSpPr>
          <p:cNvPr id="2" name="title">
            <a:extLst xmlns:a="http://schemas.openxmlformats.org/drawingml/2006/main">
              <a:ext uri="{FF2B5EF4-FFF2-40B4-BE49-F238E27FC236}">
                <a16:creationId xmlns:a16="http://schemas.microsoft.com/office/drawing/2014/main" id="{6BB80596-53DD-4AF6-8DF3-65B541C1000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G-reasoner를 질문에 대입하면</a:t>
            </a:r>
          </a:p>
        </p:txBody>
      </p:sp>
      <p:sp>
        <p:nvSpPr>
          <p:cNvPr id="3" name="label-0">
            <a:extLst xmlns:a="http://schemas.openxmlformats.org/drawingml/2006/main">
              <a:ext uri="{FF2B5EF4-FFF2-40B4-BE49-F238E27FC236}">
                <a16:creationId xmlns:a16="http://schemas.microsoft.com/office/drawing/2014/main" id="{93046B8A-6DC7-4DDD-9668-ACA4903581AE}"/>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28AF11AD-526D-4681-8DCE-1265D218575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특정 시스템의 정보와 전체 운영 흐름을 함께 설명해 주세요.</a:t>
            </a:r>
          </a:p>
        </p:txBody>
      </p:sp>
      <p:sp>
        <p:nvSpPr>
          <p:cNvPr id="5" name="label-1">
            <a:extLst xmlns:a="http://schemas.openxmlformats.org/drawingml/2006/main">
              <a:ext uri="{FF2B5EF4-FFF2-40B4-BE49-F238E27FC236}">
                <a16:creationId xmlns:a16="http://schemas.microsoft.com/office/drawing/2014/main" id="{AA506566-46A9-4238-8710-3A94974442F8}"/>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83C55C02-ED7E-48AB-8EC9-6ED6A9C9AB7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개별 사실과 관련 문서, 큰 그룹의 정보를 함께 연결합니다.</a:t>
            </a:r>
          </a:p>
        </p:txBody>
      </p:sp>
      <p:sp>
        <p:nvSpPr>
          <p:cNvPr id="7" name="label-2">
            <a:extLst xmlns:a="http://schemas.openxmlformats.org/drawingml/2006/main">
              <a:ext uri="{FF2B5EF4-FFF2-40B4-BE49-F238E27FC236}">
                <a16:creationId xmlns:a16="http://schemas.microsoft.com/office/drawing/2014/main" id="{696F3D73-8852-4CAF-9F26-710AEA6B89A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C4ACFDD5-E7AB-436C-B7A9-4B6C82797B9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통합 그래프 구성과 학습 모델이 필요합니다. 웹 데모에는 원 모델이 없습니다.</a:t>
            </a:r>
          </a:p>
        </p:txBody>
      </p:sp>
      <p:sp>
        <p:nvSpPr>
          <p:cNvPr id="9" name="page">
            <a:extLst xmlns:a="http://schemas.openxmlformats.org/drawingml/2006/main">
              <a:ext uri="{FF2B5EF4-FFF2-40B4-BE49-F238E27FC236}">
                <a16:creationId xmlns:a16="http://schemas.microsoft.com/office/drawing/2014/main" id="{426E9DC5-4AD0-4F6A-A2D8-3863022CDD73}"/>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50</a:t>
            </a:r>
          </a:p>
        </p:txBody>
      </p:sp>
      <p:sp>
        <p:nvSpPr>
          <p:cNvPr id="11" name="narrative-bridge">
            <a:extLst xmlns:a="http://schemas.openxmlformats.org/drawingml/2006/main">
              <a:ext uri="{FF2B5EF4-FFF2-40B4-BE49-F238E27FC236}">
                <a16:creationId xmlns:a16="http://schemas.microsoft.com/office/drawing/2014/main" id="{DED54D35-464D-49A4-92FA-4A46DFB71BB4}"/>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서로 다른 지식 표현이 한 검색 구조로 연결되는 과정을 봅니다.</a:t>
            </a:r>
          </a:p>
        </p:txBody>
      </p:sp>
    </p:spTree>
    <p:extLst>
      <p:ext uri="{BB962C8B-B14F-4D97-AF65-F5344CB8AC3E}">
        <p14:creationId xmlns:p14="http://schemas.microsoft.com/office/powerpoint/2010/main" val="879536680"/>
      </p:ext>
    </p:extLst>
  </p:cSld>
</p:sld>
</file>

<file path=ppt/slides/slide5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6B09713D-EB95-4E8D-8A6E-F15B03E048EB}"/>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1295BC1E-388B-4E52-ABAD-8BC667A1E546}"/>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32F99DD-AD49-4B6C-847E-247760019043}"/>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17B762F6-E87B-4AA3-A762-10DF3E00D873}"/>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3D1CCB58-C93A-4979-A98D-CB89E6761348}"/>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72B3423C-3934-41FE-9483-4CE1437DD481}"/>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A20FA154-607F-46AE-8C1D-30E9CB8FB768}"/>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24658B1A-5487-4259-8A73-78A5E63FB56A}"/>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CDDEF45-D327-4327-AE52-5F04B058EC7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학습하는 검색</a:t>
            </a:r>
          </a:p>
        </p:txBody>
      </p:sp>
      <p:sp>
        <p:nvSpPr>
          <p:cNvPr id="2" name="">
            <a:extLst xmlns:a="http://schemas.openxmlformats.org/drawingml/2006/main">
              <a:ext uri="{FF2B5EF4-FFF2-40B4-BE49-F238E27FC236}">
                <a16:creationId xmlns:a16="http://schemas.microsoft.com/office/drawing/2014/main" id="{206F0C85-A2F3-4AAB-A79D-F899C3C3C00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G-reasoner의 전체 처리 순서</a:t>
            </a:r>
          </a:p>
        </p:txBody>
      </p:sp>
      <p:sp>
        <p:nvSpPr>
          <p:cNvPr id="3" name="">
            <a:extLst xmlns:a="http://schemas.openxmlformats.org/drawingml/2006/main">
              <a:ext uri="{FF2B5EF4-FFF2-40B4-BE49-F238E27FC236}">
                <a16:creationId xmlns:a16="http://schemas.microsoft.com/office/drawing/2014/main" id="{40EFFF45-D0A6-45E7-993C-C2CE8F057C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51</a:t>
            </a:r>
          </a:p>
        </p:txBody>
      </p:sp>
      <p:sp>
        <p:nvSpPr>
          <p:cNvPr id="4" name="">
            <a:extLst xmlns:a="http://schemas.openxmlformats.org/drawingml/2006/main">
              <a:ext uri="{FF2B5EF4-FFF2-40B4-BE49-F238E27FC236}">
                <a16:creationId xmlns:a16="http://schemas.microsoft.com/office/drawing/2014/main" id="{ED2E7967-3D59-49E2-AB3B-F7F8DEFBCC9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37C15177-89C3-4BD7-8299-A779ACE3B9F2}"/>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개체 사이 지식 관계 구성</a:t>
            </a:r>
          </a:p>
        </p:txBody>
      </p:sp>
      <p:sp>
        <p:nvSpPr>
          <p:cNvPr id="6" name="">
            <a:extLst xmlns:a="http://schemas.openxmlformats.org/drawingml/2006/main">
              <a:ext uri="{FF2B5EF4-FFF2-40B4-BE49-F238E27FC236}">
                <a16:creationId xmlns:a16="http://schemas.microsoft.com/office/drawing/2014/main" id="{0EAED450-5A2F-481E-AF52-D4158CEA7D7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원문 문서 연결</a:t>
            </a:r>
          </a:p>
        </p:txBody>
      </p:sp>
      <p:sp>
        <p:nvSpPr>
          <p:cNvPr id="8" name="">
            <a:extLst xmlns:a="http://schemas.openxmlformats.org/drawingml/2006/main">
              <a:ext uri="{FF2B5EF4-FFF2-40B4-BE49-F238E27FC236}">
                <a16:creationId xmlns:a16="http://schemas.microsoft.com/office/drawing/2014/main" id="{41DAE82F-E70B-41AD-A502-7647BEB4E10A}"/>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개체의 속성 정보 연결</a:t>
            </a:r>
          </a:p>
        </p:txBody>
      </p:sp>
      <p:sp>
        <p:nvSpPr>
          <p:cNvPr id="10" name="">
            <a:extLst xmlns:a="http://schemas.openxmlformats.org/drawingml/2006/main">
              <a:ext uri="{FF2B5EF4-FFF2-40B4-BE49-F238E27FC236}">
                <a16:creationId xmlns:a16="http://schemas.microsoft.com/office/drawing/2014/main" id="{ADBDE7D7-1446-490D-B04B-29D95FD5DF8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그룹 정보 연결</a:t>
            </a:r>
          </a:p>
        </p:txBody>
      </p:sp>
      <p:sp>
        <p:nvSpPr>
          <p:cNvPr id="12" name="">
            <a:extLst xmlns:a="http://schemas.openxmlformats.org/drawingml/2006/main">
              <a:ext uri="{FF2B5EF4-FFF2-40B4-BE49-F238E27FC236}">
                <a16:creationId xmlns:a16="http://schemas.microsoft.com/office/drawing/2014/main" id="{E8222DFA-1C95-48BB-ADBC-7C5047CE945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네 구조를 QuadGraph로 통합</a:t>
            </a:r>
          </a:p>
        </p:txBody>
      </p:sp>
      <p:sp>
        <p:nvSpPr>
          <p:cNvPr id="14" name="">
            <a:extLst xmlns:a="http://schemas.openxmlformats.org/drawingml/2006/main">
              <a:ext uri="{FF2B5EF4-FFF2-40B4-BE49-F238E27FC236}">
                <a16:creationId xmlns:a16="http://schemas.microsoft.com/office/drawing/2014/main" id="{569C266E-0C10-46C9-8F30-E14E0AF5830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2DEAABD-B17B-449B-BFC6-41E1477818A1}"/>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질문을 벡터로 변환</a:t>
            </a:r>
          </a:p>
        </p:txBody>
      </p:sp>
      <p:sp>
        <p:nvSpPr>
          <p:cNvPr id="16" name="">
            <a:extLst xmlns:a="http://schemas.openxmlformats.org/drawingml/2006/main">
              <a:ext uri="{FF2B5EF4-FFF2-40B4-BE49-F238E27FC236}">
                <a16:creationId xmlns:a16="http://schemas.microsoft.com/office/drawing/2014/main" id="{CC2B116D-CF30-4FE4-8B90-0966FF3BBF7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학습 모델로 그래프 정보 전달</a:t>
            </a:r>
          </a:p>
        </p:txBody>
      </p:sp>
      <p:sp>
        <p:nvSpPr>
          <p:cNvPr id="18" name="">
            <a:extLst xmlns:a="http://schemas.openxmlformats.org/drawingml/2006/main">
              <a:ext uri="{FF2B5EF4-FFF2-40B4-BE49-F238E27FC236}">
                <a16:creationId xmlns:a16="http://schemas.microsoft.com/office/drawing/2014/main" id="{13982F2C-D428-4256-8D43-FA709E1A9DB4}"/>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노드와 문서 예측</a:t>
            </a:r>
          </a:p>
        </p:txBody>
      </p:sp>
      <p:sp>
        <p:nvSpPr>
          <p:cNvPr id="20" name="">
            <a:extLst xmlns:a="http://schemas.openxmlformats.org/drawingml/2006/main">
              <a:ext uri="{FF2B5EF4-FFF2-40B4-BE49-F238E27FC236}">
                <a16:creationId xmlns:a16="http://schemas.microsoft.com/office/drawing/2014/main" id="{A30ABD75-E834-4097-AD9F-C56AAB754EB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답변에 필요한 근거 선택</a:t>
            </a:r>
          </a:p>
        </p:txBody>
      </p:sp>
      <p:sp>
        <p:nvSpPr>
          <p:cNvPr id="22" name="">
            <a:extLst xmlns:a="http://schemas.openxmlformats.org/drawingml/2006/main">
              <a:ext uri="{FF2B5EF4-FFF2-40B4-BE49-F238E27FC236}">
                <a16:creationId xmlns:a16="http://schemas.microsoft.com/office/drawing/2014/main" id="{AA38B5CC-BCE5-421C-B89B-1C27597A9A0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근거로 답변 작성</a:t>
            </a:r>
          </a:p>
        </p:txBody>
      </p:sp>
      <p:sp>
        <p:nvSpPr>
          <p:cNvPr id="24" name="">
            <a:extLst xmlns:a="http://schemas.openxmlformats.org/drawingml/2006/main">
              <a:ext uri="{FF2B5EF4-FFF2-40B4-BE49-F238E27FC236}">
                <a16:creationId xmlns:a16="http://schemas.microsoft.com/office/drawing/2014/main" id="{A1CA9A62-1F46-494D-AD09-3962C79FA09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지식의 범위를 넓혔으니, 이번에는 글·표·그림처럼 정보 형태를 넓힙니다.</a:t>
            </a:r>
          </a:p>
        </p:txBody>
      </p:sp>
    </p:spTree>
    <p:extLst>
      <p:ext uri="{BB962C8B-B14F-4D97-AF65-F5344CB8AC3E}">
        <p14:creationId xmlns:p14="http://schemas.microsoft.com/office/powerpoint/2010/main" val="1662042245"/>
      </p:ext>
    </p:extLst>
  </p:cSld>
</p:sld>
</file>

<file path=ppt/slides/slide5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08B6865A-4F1E-4818-AA98-C7D9F131890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글과 표와 그림</a:t>
            </a:r>
          </a:p>
        </p:txBody>
      </p:sp>
      <p:sp>
        <p:nvSpPr>
          <p:cNvPr id="2" name="title">
            <a:extLst xmlns:a="http://schemas.openxmlformats.org/drawingml/2006/main">
              <a:ext uri="{FF2B5EF4-FFF2-40B4-BE49-F238E27FC236}">
                <a16:creationId xmlns:a16="http://schemas.microsoft.com/office/drawing/2014/main" id="{D2E099AF-158B-4DA5-AB33-28ADF7D17D4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RAG-Anything: 글·표·그림을 함께 검색</a:t>
            </a:r>
          </a:p>
        </p:txBody>
      </p:sp>
      <p:sp>
        <p:nvSpPr>
          <p:cNvPr id="3" name="label-0">
            <a:extLst xmlns:a="http://schemas.openxmlformats.org/drawingml/2006/main">
              <a:ext uri="{FF2B5EF4-FFF2-40B4-BE49-F238E27FC236}">
                <a16:creationId xmlns:a16="http://schemas.microsoft.com/office/drawing/2014/main" id="{CB7FF049-F731-4BB1-A446-BD7BC8B8CA0F}"/>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C1E75628-9D3F-4F75-A99A-DEEE6EF1B0F5}"/>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텍스트, 표, 이미지, 수식과 그 연결</a:t>
            </a:r>
          </a:p>
        </p:txBody>
      </p:sp>
      <p:sp>
        <p:nvSpPr>
          <p:cNvPr id="5" name="label-1">
            <a:extLst xmlns:a="http://schemas.openxmlformats.org/drawingml/2006/main">
              <a:ext uri="{FF2B5EF4-FFF2-40B4-BE49-F238E27FC236}">
                <a16:creationId xmlns:a16="http://schemas.microsoft.com/office/drawing/2014/main" id="{E7045905-13CF-491F-B772-0EBC23F86A05}"/>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638894B9-8B03-4628-B276-DAAA5831FE1B}"/>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문서를 읽어 요소별 내용을 정리하고 서로 연결합니다.</a:t>
            </a:r>
          </a:p>
        </p:txBody>
      </p:sp>
      <p:sp>
        <p:nvSpPr>
          <p:cNvPr id="7" name="label-2">
            <a:extLst xmlns:a="http://schemas.openxmlformats.org/drawingml/2006/main">
              <a:ext uri="{FF2B5EF4-FFF2-40B4-BE49-F238E27FC236}">
                <a16:creationId xmlns:a16="http://schemas.microsoft.com/office/drawing/2014/main" id="{9E4E292A-3873-48B1-BD13-7A300EF9652F}"/>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60337872-84EA-42E2-89FC-838954F802EA}"/>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내용의 유사도와 문서 구조를 함께 보고 관련 요소를 가져옵니다.</a:t>
            </a:r>
          </a:p>
        </p:txBody>
      </p:sp>
      <p:sp>
        <p:nvSpPr>
          <p:cNvPr id="9" name="page">
            <a:extLst xmlns:a="http://schemas.openxmlformats.org/drawingml/2006/main">
              <a:ext uri="{FF2B5EF4-FFF2-40B4-BE49-F238E27FC236}">
                <a16:creationId xmlns:a16="http://schemas.microsoft.com/office/drawing/2014/main" id="{99D15D77-CFEC-4023-9EB4-A55130C5936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52</a:t>
            </a:r>
          </a:p>
        </p:txBody>
      </p:sp>
      <p:sp>
        <p:nvSpPr>
          <p:cNvPr id="11" name="narrative-bridge">
            <a:extLst xmlns:a="http://schemas.openxmlformats.org/drawingml/2006/main">
              <a:ext uri="{FF2B5EF4-FFF2-40B4-BE49-F238E27FC236}">
                <a16:creationId xmlns:a16="http://schemas.microsoft.com/office/drawing/2014/main" id="{BFDE4381-E8B0-4A0B-94E4-3EEF77BB5F5E}"/>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본문 설명과 성능 표가 함께 있어야 답할 수 있는 질문을 보겠습니다.</a:t>
            </a:r>
          </a:p>
        </p:txBody>
      </p:sp>
    </p:spTree>
    <p:extLst>
      <p:ext uri="{BB962C8B-B14F-4D97-AF65-F5344CB8AC3E}">
        <p14:creationId xmlns:p14="http://schemas.microsoft.com/office/powerpoint/2010/main" val="444557704"/>
      </p:ext>
    </p:extLst>
  </p:cSld>
</p:sld>
</file>

<file path=ppt/slides/slide5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5C7F0AA-6BA9-43F9-98EA-47FDD31ED0C9}"/>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글과 표와 그림</a:t>
            </a:r>
          </a:p>
        </p:txBody>
      </p:sp>
      <p:sp>
        <p:nvSpPr>
          <p:cNvPr id="2" name="title">
            <a:extLst xmlns:a="http://schemas.openxmlformats.org/drawingml/2006/main">
              <a:ext uri="{FF2B5EF4-FFF2-40B4-BE49-F238E27FC236}">
                <a16:creationId xmlns:a16="http://schemas.microsoft.com/office/drawing/2014/main" id="{BBBA0A3C-0678-439E-8E45-AA83FA0C12F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RAG-Anything를 질문에 대입하면</a:t>
            </a:r>
          </a:p>
        </p:txBody>
      </p:sp>
      <p:sp>
        <p:nvSpPr>
          <p:cNvPr id="3" name="label-0">
            <a:extLst xmlns:a="http://schemas.openxmlformats.org/drawingml/2006/main">
              <a:ext uri="{FF2B5EF4-FFF2-40B4-BE49-F238E27FC236}">
                <a16:creationId xmlns:a16="http://schemas.microsoft.com/office/drawing/2014/main" id="{388B11A4-E9FF-4B07-8DD7-178B0E34DDF1}"/>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AB3E89A8-DE7E-42C5-8C32-B4450427CDEE}"/>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운영 설명과 성능 표를 함께 보면 어떤 결론을 낼 수 있나요?</a:t>
            </a:r>
          </a:p>
        </p:txBody>
      </p:sp>
      <p:sp>
        <p:nvSpPr>
          <p:cNvPr id="5" name="label-1">
            <a:extLst xmlns:a="http://schemas.openxmlformats.org/drawingml/2006/main">
              <a:ext uri="{FF2B5EF4-FFF2-40B4-BE49-F238E27FC236}">
                <a16:creationId xmlns:a16="http://schemas.microsoft.com/office/drawing/2014/main" id="{2B11ECC9-8EA2-4DBA-BDF0-DF367CAE172A}"/>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A34E6124-9974-4182-86F7-039979501FC4}"/>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본문 설명에 표의 수치와 필요한 이미지 근거를 함께 붙입니다.</a:t>
            </a:r>
          </a:p>
        </p:txBody>
      </p:sp>
      <p:sp>
        <p:nvSpPr>
          <p:cNvPr id="7" name="label-2">
            <a:extLst xmlns:a="http://schemas.openxmlformats.org/drawingml/2006/main">
              <a:ext uri="{FF2B5EF4-FFF2-40B4-BE49-F238E27FC236}">
                <a16:creationId xmlns:a16="http://schemas.microsoft.com/office/drawing/2014/main" id="{320A7AF2-2E18-495E-88C6-E28318210EDA}"/>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32A2E203-F22A-4263-BE31-D2F2E10B24A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문서 파싱, 표의 행·열 해석, 그림 인식 오류를 확인해야 합니다.</a:t>
            </a:r>
          </a:p>
        </p:txBody>
      </p:sp>
      <p:sp>
        <p:nvSpPr>
          <p:cNvPr id="9" name="page">
            <a:extLst xmlns:a="http://schemas.openxmlformats.org/drawingml/2006/main">
              <a:ext uri="{FF2B5EF4-FFF2-40B4-BE49-F238E27FC236}">
                <a16:creationId xmlns:a16="http://schemas.microsoft.com/office/drawing/2014/main" id="{B01865EF-3C4D-4706-866D-6E58A2F87500}"/>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53</a:t>
            </a:r>
          </a:p>
        </p:txBody>
      </p:sp>
      <p:sp>
        <p:nvSpPr>
          <p:cNvPr id="11" name="narrative-bridge">
            <a:extLst xmlns:a="http://schemas.openxmlformats.org/drawingml/2006/main">
              <a:ext uri="{FF2B5EF4-FFF2-40B4-BE49-F238E27FC236}">
                <a16:creationId xmlns:a16="http://schemas.microsoft.com/office/drawing/2014/main" id="{5577A4BE-0F02-430D-A662-A59CE75FF9F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표와 그림을 준비할 때의 오류가 검색과 답변에도 이어질 수 있습니다.</a:t>
            </a:r>
          </a:p>
        </p:txBody>
      </p:sp>
    </p:spTree>
    <p:extLst>
      <p:ext uri="{BB962C8B-B14F-4D97-AF65-F5344CB8AC3E}">
        <p14:creationId xmlns:p14="http://schemas.microsoft.com/office/powerpoint/2010/main" val="904063031"/>
      </p:ext>
    </p:extLst>
  </p:cSld>
</p:sld>
</file>

<file path=ppt/slides/slide54.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31A11A7-9EF4-4ABB-AA38-F9787411C603}"/>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2E00CB7D-A4FC-4F89-B948-A191F4997E17}"/>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3A599800-D63A-4713-AB56-183FB315E463}"/>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4DB89124-59BC-401E-A212-807C7A2212AA}"/>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5557DA7A-DF7D-4A83-A5C9-69A850FDAC12}"/>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258DC817-0D20-4A4B-91EE-7061B3E6BD61}"/>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71ED8B92-D57B-44F5-AAD5-48799FAC81E4}"/>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2DB24857-90B8-4104-960D-41395FD4D622}"/>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E096587-04B4-4119-84AD-8893CA7AE0C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글과 표와 그림</a:t>
            </a:r>
          </a:p>
        </p:txBody>
      </p:sp>
      <p:sp>
        <p:nvSpPr>
          <p:cNvPr id="2" name="">
            <a:extLst xmlns:a="http://schemas.openxmlformats.org/drawingml/2006/main">
              <a:ext uri="{FF2B5EF4-FFF2-40B4-BE49-F238E27FC236}">
                <a16:creationId xmlns:a16="http://schemas.microsoft.com/office/drawing/2014/main" id="{11AF616D-3DFB-459D-9A2A-8C7F5C1D35CB}"/>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RAG-Anything의 전체 처리 순서</a:t>
            </a:r>
          </a:p>
        </p:txBody>
      </p:sp>
      <p:sp>
        <p:nvSpPr>
          <p:cNvPr id="3" name="">
            <a:extLst xmlns:a="http://schemas.openxmlformats.org/drawingml/2006/main">
              <a:ext uri="{FF2B5EF4-FFF2-40B4-BE49-F238E27FC236}">
                <a16:creationId xmlns:a16="http://schemas.microsoft.com/office/drawing/2014/main" id="{53BDFA6F-B22A-4E42-B8B1-B1197872FB05}"/>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54</a:t>
            </a:r>
          </a:p>
        </p:txBody>
      </p:sp>
      <p:sp>
        <p:nvSpPr>
          <p:cNvPr id="4" name="">
            <a:extLst xmlns:a="http://schemas.openxmlformats.org/drawingml/2006/main">
              <a:ext uri="{FF2B5EF4-FFF2-40B4-BE49-F238E27FC236}">
                <a16:creationId xmlns:a16="http://schemas.microsoft.com/office/drawing/2014/main" id="{B3BDA045-50DB-4D18-93F4-C74D80522FD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8977D500-E48D-42E4-9FD7-EC9FADD2797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글·표·그림 읽기</a:t>
            </a:r>
          </a:p>
        </p:txBody>
      </p:sp>
      <p:sp>
        <p:nvSpPr>
          <p:cNvPr id="6" name="">
            <a:extLst xmlns:a="http://schemas.openxmlformats.org/drawingml/2006/main">
              <a:ext uri="{FF2B5EF4-FFF2-40B4-BE49-F238E27FC236}">
                <a16:creationId xmlns:a16="http://schemas.microsoft.com/office/drawing/2014/main" id="{B795D30A-8663-4388-B5ED-8D74A8D288B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요소별 종류 구분</a:t>
            </a:r>
          </a:p>
        </p:txBody>
      </p:sp>
      <p:sp>
        <p:nvSpPr>
          <p:cNvPr id="8" name="">
            <a:extLst xmlns:a="http://schemas.openxmlformats.org/drawingml/2006/main">
              <a:ext uri="{FF2B5EF4-FFF2-40B4-BE49-F238E27FC236}">
                <a16:creationId xmlns:a16="http://schemas.microsoft.com/office/drawing/2014/main" id="{E55DD656-CF04-4C71-8FF7-E4EA97F6421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각 요소의 내용을 설명·정리</a:t>
            </a:r>
          </a:p>
        </p:txBody>
      </p:sp>
      <p:sp>
        <p:nvSpPr>
          <p:cNvPr id="10" name="">
            <a:extLst xmlns:a="http://schemas.openxmlformats.org/drawingml/2006/main">
              <a:ext uri="{FF2B5EF4-FFF2-40B4-BE49-F238E27FC236}">
                <a16:creationId xmlns:a16="http://schemas.microsoft.com/office/drawing/2014/main" id="{7E455D21-A3B1-4F24-BB43-66EC6F7875BF}"/>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서로 다른 요소를 연결</a:t>
            </a:r>
          </a:p>
        </p:txBody>
      </p:sp>
      <p:sp>
        <p:nvSpPr>
          <p:cNvPr id="12" name="">
            <a:extLst xmlns:a="http://schemas.openxmlformats.org/drawingml/2006/main">
              <a:ext uri="{FF2B5EF4-FFF2-40B4-BE49-F238E27FC236}">
                <a16:creationId xmlns:a16="http://schemas.microsoft.com/office/drawing/2014/main" id="{1E02069B-2D00-4AD0-B2F3-6CF365E8C0ED}"/>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검색용 그래프와 벡터 저장</a:t>
            </a:r>
          </a:p>
        </p:txBody>
      </p:sp>
      <p:sp>
        <p:nvSpPr>
          <p:cNvPr id="14" name="">
            <a:extLst xmlns:a="http://schemas.openxmlformats.org/drawingml/2006/main">
              <a:ext uri="{FF2B5EF4-FFF2-40B4-BE49-F238E27FC236}">
                <a16:creationId xmlns:a16="http://schemas.microsoft.com/office/drawing/2014/main" id="{9EDD1180-F477-49CE-B91F-2C09F818A67E}"/>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600D1A80-43F5-4A82-BB06-C4364C996F30}"/>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질문의 내용과 형태 파악</a:t>
            </a:r>
          </a:p>
        </p:txBody>
      </p:sp>
      <p:sp>
        <p:nvSpPr>
          <p:cNvPr id="16" name="">
            <a:extLst xmlns:a="http://schemas.openxmlformats.org/drawingml/2006/main">
              <a:ext uri="{FF2B5EF4-FFF2-40B4-BE49-F238E27FC236}">
                <a16:creationId xmlns:a16="http://schemas.microsoft.com/office/drawing/2014/main" id="{04DFC006-1C36-443C-9499-BEE686FDE08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개체와 관계 검색</a:t>
            </a:r>
          </a:p>
        </p:txBody>
      </p:sp>
      <p:sp>
        <p:nvSpPr>
          <p:cNvPr id="18" name="">
            <a:extLst xmlns:a="http://schemas.openxmlformats.org/drawingml/2006/main">
              <a:ext uri="{FF2B5EF4-FFF2-40B4-BE49-F238E27FC236}">
                <a16:creationId xmlns:a16="http://schemas.microsoft.com/office/drawing/2014/main" id="{86497906-D263-46E4-BA8B-FAB0BA74A8C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글·표·그림 가져오기</a:t>
            </a:r>
          </a:p>
        </p:txBody>
      </p:sp>
      <p:sp>
        <p:nvSpPr>
          <p:cNvPr id="20" name="">
            <a:extLst xmlns:a="http://schemas.openxmlformats.org/drawingml/2006/main">
              <a:ext uri="{FF2B5EF4-FFF2-40B4-BE49-F238E27FC236}">
                <a16:creationId xmlns:a16="http://schemas.microsoft.com/office/drawing/2014/main" id="{35B8AC4B-2C7C-4D8F-8055-D55A7B3CA01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서로 맞는 근거끼리 모으기</a:t>
            </a:r>
          </a:p>
        </p:txBody>
      </p:sp>
      <p:sp>
        <p:nvSpPr>
          <p:cNvPr id="22" name="">
            <a:extLst xmlns:a="http://schemas.openxmlformats.org/drawingml/2006/main">
              <a:ext uri="{FF2B5EF4-FFF2-40B4-BE49-F238E27FC236}">
                <a16:creationId xmlns:a16="http://schemas.microsoft.com/office/drawing/2014/main" id="{7C1B3806-BE30-4B97-A276-D83577936F6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언어·시각 모델로 답변 작성</a:t>
            </a:r>
          </a:p>
        </p:txBody>
      </p:sp>
      <p:sp>
        <p:nvSpPr>
          <p:cNvPr id="24" name="">
            <a:extLst xmlns:a="http://schemas.openxmlformats.org/drawingml/2006/main">
              <a:ext uri="{FF2B5EF4-FFF2-40B4-BE49-F238E27FC236}">
                <a16:creationId xmlns:a16="http://schemas.microsoft.com/office/drawing/2014/main" id="{9BF8B059-B253-4068-9EB4-E9F2AF853204}"/>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방법을 모두 봤으니, 어떤 질문에서 도입할 가치가 있는지 평가합니다.</a:t>
            </a:r>
          </a:p>
        </p:txBody>
      </p:sp>
    </p:spTree>
    <p:extLst>
      <p:ext uri="{BB962C8B-B14F-4D97-AF65-F5344CB8AC3E}">
        <p14:creationId xmlns:p14="http://schemas.microsoft.com/office/powerpoint/2010/main" val="1175252784"/>
      </p:ext>
    </p:extLst>
  </p:cSld>
</p:sld>
</file>

<file path=ppt/slides/slide5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497DE0C-2488-4E8A-A809-0D764F381B08}"/>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평가와 실습 정리</a:t>
            </a:r>
          </a:p>
        </p:txBody>
      </p:sp>
      <p:sp>
        <p:nvSpPr>
          <p:cNvPr id="2" name="title">
            <a:extLst xmlns:a="http://schemas.openxmlformats.org/drawingml/2006/main">
              <a:ext uri="{FF2B5EF4-FFF2-40B4-BE49-F238E27FC236}">
                <a16:creationId xmlns:a16="http://schemas.microsoft.com/office/drawing/2014/main" id="{FA56140E-F44D-4F92-B486-45C851C48D90}"/>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그래프가 도움이 되는 질문과 도입 비용</a:t>
            </a:r>
          </a:p>
        </p:txBody>
      </p:sp>
      <p:sp>
        <p:nvSpPr>
          <p:cNvPr id="3" name="label-0">
            <a:extLst xmlns:a="http://schemas.openxmlformats.org/drawingml/2006/main">
              <a:ext uri="{FF2B5EF4-FFF2-40B4-BE49-F238E27FC236}">
                <a16:creationId xmlns:a16="http://schemas.microsoft.com/office/drawing/2014/main" id="{463EFA1A-9EA8-4D6C-AB9C-0FEB4691C1A6}"/>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FD9EBAAE-9DF4-4EB1-A7BC-579436FF2FA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질문 유형과 비교할 검색 시스템</a:t>
            </a:r>
          </a:p>
        </p:txBody>
      </p:sp>
      <p:sp>
        <p:nvSpPr>
          <p:cNvPr id="5" name="label-1">
            <a:extLst xmlns:a="http://schemas.openxmlformats.org/drawingml/2006/main">
              <a:ext uri="{FF2B5EF4-FFF2-40B4-BE49-F238E27FC236}">
                <a16:creationId xmlns:a16="http://schemas.microsoft.com/office/drawing/2014/main" id="{847C71A9-BB41-49BD-92B7-CBAF90D09F8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C4ADB005-9977-407C-9823-AA1AB3A1D0A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같은 데이터와 조건으로 검색·답변 결과를 비교할 준비를 합니다.</a:t>
            </a:r>
          </a:p>
        </p:txBody>
      </p:sp>
      <p:sp>
        <p:nvSpPr>
          <p:cNvPr id="7" name="label-2">
            <a:extLst xmlns:a="http://schemas.openxmlformats.org/drawingml/2006/main">
              <a:ext uri="{FF2B5EF4-FFF2-40B4-BE49-F238E27FC236}">
                <a16:creationId xmlns:a16="http://schemas.microsoft.com/office/drawing/2014/main" id="{0BAC61E1-48C9-47DA-8FF4-3CB650B58BBE}"/>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4BA80BFE-5764-4A75-9934-2A72E008FE7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유형별 품질과 비용을 비교해 그래프 도입 가치를 판단합니다.</a:t>
            </a:r>
          </a:p>
        </p:txBody>
      </p:sp>
      <p:sp>
        <p:nvSpPr>
          <p:cNvPr id="9" name="page">
            <a:extLst xmlns:a="http://schemas.openxmlformats.org/drawingml/2006/main">
              <a:ext uri="{FF2B5EF4-FFF2-40B4-BE49-F238E27FC236}">
                <a16:creationId xmlns:a16="http://schemas.microsoft.com/office/drawing/2014/main" id="{E2076B91-B874-4A67-B938-96BDCE7068FA}"/>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55</a:t>
            </a:r>
          </a:p>
        </p:txBody>
      </p:sp>
      <p:sp>
        <p:nvSpPr>
          <p:cNvPr id="11" name="narrative-bridge">
            <a:extLst xmlns:a="http://schemas.openxmlformats.org/drawingml/2006/main">
              <a:ext uri="{FF2B5EF4-FFF2-40B4-BE49-F238E27FC236}">
                <a16:creationId xmlns:a16="http://schemas.microsoft.com/office/drawing/2014/main" id="{C519419D-0498-4F14-84DB-E2789FC1E6AD}"/>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같은 물류 질문도 단일 사실·문서 연결·전체 요약으로 나눠 봅니다.</a:t>
            </a:r>
          </a:p>
        </p:txBody>
      </p:sp>
    </p:spTree>
    <p:extLst>
      <p:ext uri="{BB962C8B-B14F-4D97-AF65-F5344CB8AC3E}">
        <p14:creationId xmlns:p14="http://schemas.microsoft.com/office/powerpoint/2010/main" val="168354379"/>
      </p:ext>
    </p:extLst>
  </p:cSld>
</p:sld>
</file>

<file path=ppt/slides/slide5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9DB37596-8979-4277-92DE-B6F54C8687A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02 / 평가와 실습 정리</a:t>
            </a:r>
          </a:p>
        </p:txBody>
      </p:sp>
      <p:sp>
        <p:nvSpPr>
          <p:cNvPr id="2" name="title">
            <a:extLst xmlns:a="http://schemas.openxmlformats.org/drawingml/2006/main">
              <a:ext uri="{FF2B5EF4-FFF2-40B4-BE49-F238E27FC236}">
                <a16:creationId xmlns:a16="http://schemas.microsoft.com/office/drawing/2014/main" id="{7DD7B5C1-52D1-4AA7-8308-FB28EEA6B03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평가 질문에 대입하면</a:t>
            </a:r>
          </a:p>
        </p:txBody>
      </p:sp>
      <p:sp>
        <p:nvSpPr>
          <p:cNvPr id="3" name="label-0">
            <a:extLst xmlns:a="http://schemas.openxmlformats.org/drawingml/2006/main">
              <a:ext uri="{FF2B5EF4-FFF2-40B4-BE49-F238E27FC236}">
                <a16:creationId xmlns:a16="http://schemas.microsoft.com/office/drawing/2014/main" id="{5E88FA54-951F-46A4-A1A8-87958C0CF3D2}"/>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FC18C0FD-D4AF-4B3A-9A5B-41BD0DBE96FB}"/>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질문에서 기본 RAG보다 그래프가 나을까요?</a:t>
            </a:r>
          </a:p>
        </p:txBody>
      </p:sp>
      <p:sp>
        <p:nvSpPr>
          <p:cNvPr id="5" name="label-1">
            <a:extLst xmlns:a="http://schemas.openxmlformats.org/drawingml/2006/main">
              <a:ext uri="{FF2B5EF4-FFF2-40B4-BE49-F238E27FC236}">
                <a16:creationId xmlns:a16="http://schemas.microsoft.com/office/drawing/2014/main" id="{2E4CCC99-B933-4B6A-9B06-14498FBA782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824D8F95-2216-4EFD-A1B3-074D20E9AAC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단일 사실, 여러 문서 연결, 전체 요약을 나눠 비교합니다.</a:t>
            </a:r>
          </a:p>
        </p:txBody>
      </p:sp>
      <p:sp>
        <p:nvSpPr>
          <p:cNvPr id="7" name="label-2">
            <a:extLst xmlns:a="http://schemas.openxmlformats.org/drawingml/2006/main">
              <a:ext uri="{FF2B5EF4-FFF2-40B4-BE49-F238E27FC236}">
                <a16:creationId xmlns:a16="http://schemas.microsoft.com/office/drawing/2014/main" id="{725DDFC4-CFFF-44D9-89F5-F573DEFFBAE2}"/>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E410F2A7-1C37-40D8-B77B-2D6754E875C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평가 연구입니다. 자동으로 방법을 고르는 검색 알고리즘을 뜻하지 않습니다.</a:t>
            </a:r>
          </a:p>
        </p:txBody>
      </p:sp>
      <p:sp>
        <p:nvSpPr>
          <p:cNvPr id="9" name="page">
            <a:extLst xmlns:a="http://schemas.openxmlformats.org/drawingml/2006/main">
              <a:ext uri="{FF2B5EF4-FFF2-40B4-BE49-F238E27FC236}">
                <a16:creationId xmlns:a16="http://schemas.microsoft.com/office/drawing/2014/main" id="{C6FBAFF2-919B-48EA-A774-6E65E054FF5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56</a:t>
            </a:r>
          </a:p>
        </p:txBody>
      </p:sp>
      <p:sp>
        <p:nvSpPr>
          <p:cNvPr id="11" name="narrative-bridge">
            <a:extLst xmlns:a="http://schemas.openxmlformats.org/drawingml/2006/main">
              <a:ext uri="{FF2B5EF4-FFF2-40B4-BE49-F238E27FC236}">
                <a16:creationId xmlns:a16="http://schemas.microsoft.com/office/drawing/2014/main" id="{2B641F4A-4143-4EEB-9266-F5C6CBDC483C}"/>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질문 유형별로 같은 조건의 비교를 준비하는 순서를 확인합니다.</a:t>
            </a:r>
          </a:p>
        </p:txBody>
      </p:sp>
    </p:spTree>
    <p:extLst>
      <p:ext uri="{BB962C8B-B14F-4D97-AF65-F5344CB8AC3E}">
        <p14:creationId xmlns:p14="http://schemas.microsoft.com/office/powerpoint/2010/main" val="1633190844"/>
      </p:ext>
    </p:extLst>
  </p:cSld>
</p:sld>
</file>

<file path=ppt/slides/slide57.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62E36C45-C387-4763-A87B-CE9028456F79}"/>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377DB4A0-A14D-4071-BD41-B78B85E7B541}"/>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BAAA2ADA-4633-40B0-9A1A-285F5B4B4A90}"/>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8C277350-14F0-4162-985F-2476E2BED188}"/>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8227975C-D478-4086-8BC0-73227E422E0A}"/>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08ADC368-42C2-49D7-9AA8-3063EDF37D97}"/>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EC8033DA-EB5D-401A-A684-41E45E23F8A9}"/>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1E270E9C-82BC-4776-9752-626404DEF1B8}"/>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0EF54B4C-E447-4565-B7DD-28EFBDD22A44}"/>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02 / 평가와 실습 정리</a:t>
            </a:r>
          </a:p>
        </p:txBody>
      </p:sp>
      <p:sp>
        <p:nvSpPr>
          <p:cNvPr id="2" name="">
            <a:extLst xmlns:a="http://schemas.openxmlformats.org/drawingml/2006/main">
              <a:ext uri="{FF2B5EF4-FFF2-40B4-BE49-F238E27FC236}">
                <a16:creationId xmlns:a16="http://schemas.microsoft.com/office/drawing/2014/main" id="{6A551841-0C65-4FFA-B555-F48A5088890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그래프 도입 가치를 비교하는 평가 순서</a:t>
            </a:r>
          </a:p>
        </p:txBody>
      </p:sp>
      <p:sp>
        <p:nvSpPr>
          <p:cNvPr id="3" name="">
            <a:extLst xmlns:a="http://schemas.openxmlformats.org/drawingml/2006/main">
              <a:ext uri="{FF2B5EF4-FFF2-40B4-BE49-F238E27FC236}">
                <a16:creationId xmlns:a16="http://schemas.microsoft.com/office/drawing/2014/main" id="{C4BD04C0-CA3B-470F-9281-CF689D50716F}"/>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57</a:t>
            </a:r>
          </a:p>
        </p:txBody>
      </p:sp>
      <p:sp>
        <p:nvSpPr>
          <p:cNvPr id="4" name="">
            <a:extLst xmlns:a="http://schemas.openxmlformats.org/drawingml/2006/main">
              <a:ext uri="{FF2B5EF4-FFF2-40B4-BE49-F238E27FC236}">
                <a16:creationId xmlns:a16="http://schemas.microsoft.com/office/drawing/2014/main" id="{B21E88FF-A907-4026-B006-4416D3E26AE3}"/>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7A3C85B2-5D39-456A-8625-02F8CA07A6D3}"/>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평가할 문서 집합 준비</a:t>
            </a:r>
          </a:p>
        </p:txBody>
      </p:sp>
      <p:sp>
        <p:nvSpPr>
          <p:cNvPr id="6" name="">
            <a:extLst xmlns:a="http://schemas.openxmlformats.org/drawingml/2006/main">
              <a:ext uri="{FF2B5EF4-FFF2-40B4-BE49-F238E27FC236}">
                <a16:creationId xmlns:a16="http://schemas.microsoft.com/office/drawing/2014/main" id="{78FD7C24-62C6-4A56-A8A8-A7FC71F1361D}"/>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질문을 유형별로 구성</a:t>
            </a:r>
          </a:p>
        </p:txBody>
      </p:sp>
      <p:sp>
        <p:nvSpPr>
          <p:cNvPr id="8" name="">
            <a:extLst xmlns:a="http://schemas.openxmlformats.org/drawingml/2006/main">
              <a:ext uri="{FF2B5EF4-FFF2-40B4-BE49-F238E27FC236}">
                <a16:creationId xmlns:a16="http://schemas.microsoft.com/office/drawing/2014/main" id="{24F0E313-C10B-4AE8-9F34-4043D13CC52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조건의 검색기 준비</a:t>
            </a:r>
          </a:p>
        </p:txBody>
      </p:sp>
      <p:sp>
        <p:nvSpPr>
          <p:cNvPr id="10" name="">
            <a:extLst xmlns:a="http://schemas.openxmlformats.org/drawingml/2006/main">
              <a:ext uri="{FF2B5EF4-FFF2-40B4-BE49-F238E27FC236}">
                <a16:creationId xmlns:a16="http://schemas.microsoft.com/office/drawing/2014/main" id="{74BBDF4C-9D78-4EE4-B2B6-06A94D079FA4}"/>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품질·시간·비용 측정 준비</a:t>
            </a:r>
          </a:p>
        </p:txBody>
      </p:sp>
      <p:sp>
        <p:nvSpPr>
          <p:cNvPr id="12" name="">
            <a:extLst xmlns:a="http://schemas.openxmlformats.org/drawingml/2006/main">
              <a:ext uri="{FF2B5EF4-FFF2-40B4-BE49-F238E27FC236}">
                <a16:creationId xmlns:a16="http://schemas.microsoft.com/office/drawing/2014/main" id="{43E33B9E-898A-4678-A618-6F2C8854D8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그래프의 이득을 비교할 설계</a:t>
            </a:r>
          </a:p>
        </p:txBody>
      </p:sp>
      <p:sp>
        <p:nvSpPr>
          <p:cNvPr id="14" name="">
            <a:extLst xmlns:a="http://schemas.openxmlformats.org/drawingml/2006/main">
              <a:ext uri="{FF2B5EF4-FFF2-40B4-BE49-F238E27FC236}">
                <a16:creationId xmlns:a16="http://schemas.microsoft.com/office/drawing/2014/main" id="{C2975E61-4BBE-4D1E-BFDB-2AC0E9589920}"/>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1BF548E-C0FB-4CE5-BB90-AA1C76B7137D}"/>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평가 질문 선택</a:t>
            </a:r>
          </a:p>
        </p:txBody>
      </p:sp>
      <p:sp>
        <p:nvSpPr>
          <p:cNvPr id="16" name="">
            <a:extLst xmlns:a="http://schemas.openxmlformats.org/drawingml/2006/main">
              <a:ext uri="{FF2B5EF4-FFF2-40B4-BE49-F238E27FC236}">
                <a16:creationId xmlns:a16="http://schemas.microsoft.com/office/drawing/2014/main" id="{349B25D1-D828-4DD0-8A42-01F9C6A2D2AE}"/>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각 검색 시스템 실행</a:t>
            </a:r>
          </a:p>
        </p:txBody>
      </p:sp>
      <p:sp>
        <p:nvSpPr>
          <p:cNvPr id="18" name="">
            <a:extLst xmlns:a="http://schemas.openxmlformats.org/drawingml/2006/main">
              <a:ext uri="{FF2B5EF4-FFF2-40B4-BE49-F238E27FC236}">
                <a16:creationId xmlns:a16="http://schemas.microsoft.com/office/drawing/2014/main" id="{5F07CF09-A3BE-4C9B-BD45-25BDEA09B64A}"/>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찾아온 근거가 맞는지 평가</a:t>
            </a:r>
          </a:p>
        </p:txBody>
      </p:sp>
      <p:sp>
        <p:nvSpPr>
          <p:cNvPr id="20" name="">
            <a:extLst xmlns:a="http://schemas.openxmlformats.org/drawingml/2006/main">
              <a:ext uri="{FF2B5EF4-FFF2-40B4-BE49-F238E27FC236}">
                <a16:creationId xmlns:a16="http://schemas.microsoft.com/office/drawing/2014/main" id="{18428463-683D-4212-89F5-4AA21C90E6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답변 품질과 비용 비교</a:t>
            </a:r>
          </a:p>
        </p:txBody>
      </p:sp>
      <p:sp>
        <p:nvSpPr>
          <p:cNvPr id="22" name="">
            <a:extLst xmlns:a="http://schemas.openxmlformats.org/drawingml/2006/main">
              <a:ext uri="{FF2B5EF4-FFF2-40B4-BE49-F238E27FC236}">
                <a16:creationId xmlns:a16="http://schemas.microsoft.com/office/drawing/2014/main" id="{19EA944F-63B5-4D33-9028-D02682CF205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유형별로 도입 가치를 분석</a:t>
            </a:r>
          </a:p>
        </p:txBody>
      </p:sp>
      <p:sp>
        <p:nvSpPr>
          <p:cNvPr id="24" name="">
            <a:extLst xmlns:a="http://schemas.openxmlformats.org/drawingml/2006/main">
              <a:ext uri="{FF2B5EF4-FFF2-40B4-BE49-F238E27FC236}">
                <a16:creationId xmlns:a16="http://schemas.microsoft.com/office/drawing/2014/main" id="{3A0157F2-02DF-4B83-9082-D6C716B8C08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350" b="0">
                <a:solidFill>
                  <a:srgbClr val="A4DDCA"/>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350" b="0">
                <a:solidFill>
                  <a:srgbClr val="A4DDCA"/>
                </a:solidFill>
                <a:latin typeface="Noto Sans KR"/>
                <a:ea typeface="Noto Sans KR"/>
                <a:cs typeface="Noto Sans KR"/>
              </a:defRPr>
            </a:pPr>
            <a:r>
              <a:rPr sz="1350" b="0">
                <a:solidFill>
                  <a:srgbClr val="A4DDCA"/>
                </a:solidFill>
                <a:latin typeface="Noto Sans KR"/>
                <a:ea typeface="Noto Sans KR"/>
                <a:cs typeface="Noto Sans KR"/>
              </a:rPr>
              <a:t>이 평가 관점을 실습에서 직접 비교할 질문 목록으로 바꿔 보겠습니다.</a:t>
            </a:r>
          </a:p>
        </p:txBody>
      </p:sp>
    </p:spTree>
    <p:extLst>
      <p:ext uri="{BB962C8B-B14F-4D97-AF65-F5344CB8AC3E}">
        <p14:creationId xmlns:p14="http://schemas.microsoft.com/office/powerpoint/2010/main" val="1976514976"/>
      </p:ext>
    </p:extLst>
  </p:cSld>
</p:sld>
</file>

<file path=ppt/slides/slide5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5DC2735E-8F19-41E0-BEF9-8231CC455CF9}"/>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03 / 평가와 실습 정리</a:t>
            </a:r>
          </a:p>
        </p:txBody>
      </p:sp>
      <p:sp>
        <p:nvSpPr>
          <p:cNvPr id="2" name="title">
            <a:extLst xmlns:a="http://schemas.openxmlformats.org/drawingml/2006/main">
              <a:ext uri="{FF2B5EF4-FFF2-40B4-BE49-F238E27FC236}">
                <a16:creationId xmlns:a16="http://schemas.microsoft.com/office/drawing/2014/main" id="{1361C29B-7B4B-46BF-82AC-11E73805C60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같은 질문으로 검색 결과를 비교합니다</a:t>
            </a:r>
          </a:p>
        </p:txBody>
      </p:sp>
      <p:graphicFrame>
        <p:nvGraphicFramePr>
          <p:cNvPr id="3" name="">
            <a:extLst xmlns:a="http://schemas.openxmlformats.org/drawingml/2006/main">
              <a:ext uri="{FF2B5EF4-FFF2-40B4-BE49-F238E27FC236}">
                <a16:creationId xmlns:a16="http://schemas.microsoft.com/office/drawing/2014/main" id="{A942F369-597E-4AB9-B470-E36C339119C0}"/>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질문</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비교할 검색</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확인할 것</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모델 버전은 무엇인가요?</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기본 검색과 그래프 검색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정답이 있는 원문을 찾았나요?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어떤 회사가 날씨 기반 배차를 하나요?</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기본 검색과 연결망 검색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중간 연결의 근거를 모두 찾았나요?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전체 운영의 공통 위험은 무엇인가요?</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기본 검색과 그룹·요약 검색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중요한 주제가 빠지지 않았나요?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본문과 성능 표를 함께 설명해 주세요</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텍스트 검색과 여러 형태의 검색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조건과 수치를 함께 읽었나요?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0E9A1570-38B8-4A6F-A4C8-9D29844A49A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58</a:t>
            </a:r>
          </a:p>
        </p:txBody>
      </p:sp>
      <p:sp>
        <p:nvSpPr>
          <p:cNvPr id="6" name="narrative-bridge">
            <a:extLst xmlns:a="http://schemas.openxmlformats.org/drawingml/2006/main">
              <a:ext uri="{FF2B5EF4-FFF2-40B4-BE49-F238E27FC236}">
                <a16:creationId xmlns:a16="http://schemas.microsoft.com/office/drawing/2014/main" id="{F7EF8D97-27B8-4103-8378-FBCC69E4869E}"/>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비교 결과를 해석하려면, 웹 실습이 실제 실행하는 범위도 알아야 합니다.</a:t>
            </a:r>
          </a:p>
        </p:txBody>
      </p:sp>
    </p:spTree>
    <p:extLst>
      <p:ext uri="{BB962C8B-B14F-4D97-AF65-F5344CB8AC3E}">
        <p14:creationId xmlns:p14="http://schemas.microsoft.com/office/powerpoint/2010/main" val="1156599072"/>
      </p:ext>
    </p:extLst>
  </p:cSld>
</p:sld>
</file>

<file path=ppt/slides/slide5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85DCC1F6-57AA-4034-A6BC-A0711FBD957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03 / 평가와 실습 정리</a:t>
            </a:r>
          </a:p>
        </p:txBody>
      </p:sp>
      <p:sp>
        <p:nvSpPr>
          <p:cNvPr id="2" name="title">
            <a:extLst xmlns:a="http://schemas.openxmlformats.org/drawingml/2006/main">
              <a:ext uri="{FF2B5EF4-FFF2-40B4-BE49-F238E27FC236}">
                <a16:creationId xmlns:a16="http://schemas.microsoft.com/office/drawing/2014/main" id="{64A9A980-7F77-433F-B2F5-CABCF837323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실습 결과를 해석할 때 주의할 점</a:t>
            </a:r>
          </a:p>
        </p:txBody>
      </p:sp>
      <p:sp>
        <p:nvSpPr>
          <p:cNvPr id="3" name="label-0">
            <a:extLst xmlns:a="http://schemas.openxmlformats.org/drawingml/2006/main">
              <a:ext uri="{FF2B5EF4-FFF2-40B4-BE49-F238E27FC236}">
                <a16:creationId xmlns:a16="http://schemas.microsoft.com/office/drawing/2014/main" id="{0D6359A2-E547-466B-BADB-46A0C44B5666}"/>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온톨로지 실습</a:t>
            </a:r>
          </a:p>
        </p:txBody>
      </p:sp>
      <p:sp>
        <p:nvSpPr>
          <p:cNvPr id="4" name="body-0">
            <a:extLst xmlns:a="http://schemas.openxmlformats.org/drawingml/2006/main">
              <a:ext uri="{FF2B5EF4-FFF2-40B4-BE49-F238E27FC236}">
                <a16:creationId xmlns:a16="http://schemas.microsoft.com/office/drawing/2014/main" id="{FDB77B1F-6F37-448D-A72F-6D86725C793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실제 규칙 엔진으로 추론하고 SHACL로 입력을 검사합니다.</a:t>
            </a:r>
          </a:p>
        </p:txBody>
      </p:sp>
      <p:sp>
        <p:nvSpPr>
          <p:cNvPr id="5" name="label-1">
            <a:extLst xmlns:a="http://schemas.openxmlformats.org/drawingml/2006/main">
              <a:ext uri="{FF2B5EF4-FFF2-40B4-BE49-F238E27FC236}">
                <a16:creationId xmlns:a16="http://schemas.microsoft.com/office/drawing/2014/main" id="{79A3A89E-5C1C-47A3-92E0-53A74ADF6522}"/>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GraphRAG 실습</a:t>
            </a:r>
          </a:p>
        </p:txBody>
      </p:sp>
      <p:sp>
        <p:nvSpPr>
          <p:cNvPr id="6" name="body-1">
            <a:extLst xmlns:a="http://schemas.openxmlformats.org/drawingml/2006/main">
              <a:ext uri="{FF2B5EF4-FFF2-40B4-BE49-F238E27FC236}">
                <a16:creationId xmlns:a16="http://schemas.microsoft.com/office/drawing/2014/main" id="{194A8558-0668-49E8-979B-000092CF5C2A}"/>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검색 아이디어를 보여 주는 작은 예제입니다. 논문 전체를 재현하지 않습니다.</a:t>
            </a:r>
          </a:p>
        </p:txBody>
      </p:sp>
      <p:sp>
        <p:nvSpPr>
          <p:cNvPr id="7" name="label-2">
            <a:extLst xmlns:a="http://schemas.openxmlformats.org/drawingml/2006/main">
              <a:ext uri="{FF2B5EF4-FFF2-40B4-BE49-F238E27FC236}">
                <a16:creationId xmlns:a16="http://schemas.microsoft.com/office/drawing/2014/main" id="{A79FBB8C-BB19-4060-A6CA-EDECD10AEED9}"/>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확인할 기록</a:t>
            </a:r>
          </a:p>
        </p:txBody>
      </p:sp>
      <p:sp>
        <p:nvSpPr>
          <p:cNvPr id="8" name="body-2">
            <a:extLst xmlns:a="http://schemas.openxmlformats.org/drawingml/2006/main">
              <a:ext uri="{FF2B5EF4-FFF2-40B4-BE49-F238E27FC236}">
                <a16:creationId xmlns:a16="http://schemas.microsoft.com/office/drawing/2014/main" id="{B0A4040E-4F7E-4152-8277-BC4A599AC28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추출한 대상, 검색 점수, 선택한 원문, 답변에 준 근거를 봅니다.</a:t>
            </a:r>
          </a:p>
        </p:txBody>
      </p:sp>
      <p:sp>
        <p:nvSpPr>
          <p:cNvPr id="9" name="page">
            <a:extLst xmlns:a="http://schemas.openxmlformats.org/drawingml/2006/main">
              <a:ext uri="{FF2B5EF4-FFF2-40B4-BE49-F238E27FC236}">
                <a16:creationId xmlns:a16="http://schemas.microsoft.com/office/drawing/2014/main" id="{7C6CAA49-D17E-409C-B293-8373C76B7E2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59</a:t>
            </a:r>
          </a:p>
        </p:txBody>
      </p:sp>
      <p:sp>
        <p:nvSpPr>
          <p:cNvPr id="11" name="narrative-bridge">
            <a:extLst xmlns:a="http://schemas.openxmlformats.org/drawingml/2006/main">
              <a:ext uri="{FF2B5EF4-FFF2-40B4-BE49-F238E27FC236}">
                <a16:creationId xmlns:a16="http://schemas.microsoft.com/office/drawing/2014/main" id="{BC09AAE6-9520-4AC9-AC82-0109AC9C57E7}"/>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마지막으로 오늘의 결론과 다시 확인할 자료를 정리하겠습니다.</a:t>
            </a:r>
          </a:p>
        </p:txBody>
      </p:sp>
    </p:spTree>
    <p:extLst>
      <p:ext uri="{BB962C8B-B14F-4D97-AF65-F5344CB8AC3E}">
        <p14:creationId xmlns:p14="http://schemas.microsoft.com/office/powerpoint/2010/main" val="2107524631"/>
      </p:ext>
    </p:extLst>
  </p:cSld>
</p:sld>
</file>

<file path=ppt/slides/slide6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B3F30FB4-4D11-471B-AC0A-7B3A8860E11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03 / 평가와 실습 정리</a:t>
            </a:r>
          </a:p>
        </p:txBody>
      </p:sp>
      <p:sp>
        <p:nvSpPr>
          <p:cNvPr id="2" name="title">
            <a:extLst xmlns:a="http://schemas.openxmlformats.org/drawingml/2006/main">
              <a:ext uri="{FF2B5EF4-FFF2-40B4-BE49-F238E27FC236}">
                <a16:creationId xmlns:a16="http://schemas.microsoft.com/office/drawing/2014/main" id="{3A964DE4-CF52-4C41-A2A2-B8B2A7B2293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오늘의 결론과 참고 자료</a:t>
            </a:r>
          </a:p>
        </p:txBody>
      </p:sp>
      <p:sp>
        <p:nvSpPr>
          <p:cNvPr id="3" name="label-0">
            <a:extLst xmlns:a="http://schemas.openxmlformats.org/drawingml/2006/main">
              <a:ext uri="{FF2B5EF4-FFF2-40B4-BE49-F238E27FC236}">
                <a16:creationId xmlns:a16="http://schemas.microsoft.com/office/drawing/2014/main" id="{CA0642AF-1481-439C-8626-17FC6CF2B278}"/>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온톨로지의 업무 관점</a:t>
            </a:r>
          </a:p>
        </p:txBody>
      </p:sp>
      <p:sp>
        <p:nvSpPr>
          <p:cNvPr id="4" name="body-0">
            <a:extLst xmlns:a="http://schemas.openxmlformats.org/drawingml/2006/main">
              <a:ext uri="{FF2B5EF4-FFF2-40B4-BE49-F238E27FC236}">
                <a16:creationId xmlns:a16="http://schemas.microsoft.com/office/drawing/2014/main" id="{790094DA-A8AC-45F4-9A09-598717E19587}"/>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「AI Agent 시대, 기업은 왜 온톨로지가 필요한가」</a:t>
            </a:r>
          </a:p>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업무 질문과 용어의 의미를 정하는 관점</a:t>
            </a:r>
          </a:p>
        </p:txBody>
      </p:sp>
      <p:sp>
        <p:nvSpPr>
          <p:cNvPr id="5" name="label-1">
            <a:extLst xmlns:a="http://schemas.openxmlformats.org/drawingml/2006/main">
              <a:ext uri="{FF2B5EF4-FFF2-40B4-BE49-F238E27FC236}">
                <a16:creationId xmlns:a16="http://schemas.microsoft.com/office/drawing/2014/main" id="{8011DAE1-E194-42E8-968E-AE79B3366426}"/>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GraphRAG의 연구 흐름</a:t>
            </a:r>
          </a:p>
        </p:txBody>
      </p:sp>
      <p:sp>
        <p:nvSpPr>
          <p:cNvPr id="6" name="body-1">
            <a:extLst xmlns:a="http://schemas.openxmlformats.org/drawingml/2006/main">
              <a:ext uri="{FF2B5EF4-FFF2-40B4-BE49-F238E27FC236}">
                <a16:creationId xmlns:a16="http://schemas.microsoft.com/office/drawing/2014/main" id="{812291CB-2B55-477F-A1A5-1A81588C4445}"/>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「GraphRAG의 개념과 최신연구동향」</a:t>
            </a:r>
          </a:p>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각 방법의 문제의식과 비교 기준</a:t>
            </a:r>
          </a:p>
        </p:txBody>
      </p:sp>
      <p:sp>
        <p:nvSpPr>
          <p:cNvPr id="7" name="label-2">
            <a:extLst xmlns:a="http://schemas.openxmlformats.org/drawingml/2006/main">
              <a:ext uri="{FF2B5EF4-FFF2-40B4-BE49-F238E27FC236}">
                <a16:creationId xmlns:a16="http://schemas.microsoft.com/office/drawing/2014/main" id="{7A92B6ED-0EBB-46C2-87B8-251B7F95157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기술을 확인할 원문</a:t>
            </a:r>
          </a:p>
        </p:txBody>
      </p:sp>
      <p:sp>
        <p:nvSpPr>
          <p:cNvPr id="8" name="body-2">
            <a:extLst xmlns:a="http://schemas.openxmlformats.org/drawingml/2006/main">
              <a:ext uri="{FF2B5EF4-FFF2-40B4-BE49-F238E27FC236}">
                <a16:creationId xmlns:a16="http://schemas.microsoft.com/office/drawing/2014/main" id="{5F9A8453-C64E-49A0-9297-EA502080EB22}"/>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W3C 표준 문서와 각 논문·공식 구현</a:t>
            </a:r>
          </a:p>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출처 링크는 발표자 노트에 있습니다.</a:t>
            </a:r>
          </a:p>
        </p:txBody>
      </p:sp>
      <p:sp>
        <p:nvSpPr>
          <p:cNvPr id="9" name="page">
            <a:extLst xmlns:a="http://schemas.openxmlformats.org/drawingml/2006/main">
              <a:ext uri="{FF2B5EF4-FFF2-40B4-BE49-F238E27FC236}">
                <a16:creationId xmlns:a16="http://schemas.microsoft.com/office/drawing/2014/main" id="{A8C1FFD3-BE46-4156-8E9F-9FCD5B56DFA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60</a:t>
            </a:r>
          </a:p>
        </p:txBody>
      </p:sp>
      <p:sp>
        <p:nvSpPr>
          <p:cNvPr id="11" name="narrative-bridge">
            <a:extLst xmlns:a="http://schemas.openxmlformats.org/drawingml/2006/main">
              <a:ext uri="{FF2B5EF4-FFF2-40B4-BE49-F238E27FC236}">
                <a16:creationId xmlns:a16="http://schemas.microsoft.com/office/drawing/2014/main" id="{0984F4AD-9D4C-4585-91F8-C747640DB99B}"/>
              </a:ext>
            </a:extLst>
          </p:cNvPr>
          <p:cNvSpPr>
            <a:spLocks xmlns:a="http://schemas.openxmlformats.org/drawingml/2006/main" noGrp="1"/>
          </p:cNvSpPr>
          <p:nvPr/>
        </p:nvSpPr>
        <p:spPr>
          <a:xfrm xmlns:a="http://schemas.openxmlformats.org/drawingml/2006/main">
            <a:off x="609600" y="6096000"/>
            <a:ext cx="10972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350">
                <a:solidFill>
                  <a:srgbClr val="A4DDCA"/>
                </a:solidFill>
                <a:latin typeface="Noto Sans KR"/>
                <a:ea typeface="Noto Sans KR"/>
                <a:cs typeface="Noto Sans KR"/>
              </a:defRPr>
            </a:defPPr>
            <a:lvl1pPr>
              <a:buNone/>
              <a:defRPr sz="1350">
                <a:solidFill>
                  <a:srgbClr val="A4DDCA"/>
                </a:solidFill>
                <a:latin typeface="Noto Sans KR"/>
                <a:ea typeface="Noto Sans KR"/>
                <a:cs typeface="Noto Sans KR"/>
              </a:defRPr>
            </a:lvl1pPr>
            <a:lvl2pPr>
              <a:buNone/>
              <a:defRPr sz="1350">
                <a:solidFill>
                  <a:srgbClr val="A4DDCA"/>
                </a:solidFill>
                <a:latin typeface="Noto Sans KR"/>
                <a:ea typeface="Noto Sans KR"/>
                <a:cs typeface="Noto Sans KR"/>
              </a:defRPr>
            </a:lvl2pPr>
            <a:lvl3pPr>
              <a:buNone/>
              <a:defRPr sz="1350">
                <a:solidFill>
                  <a:srgbClr val="A4DDCA"/>
                </a:solidFill>
                <a:latin typeface="Noto Sans KR"/>
                <a:ea typeface="Noto Sans KR"/>
                <a:cs typeface="Noto Sans KR"/>
              </a:defRPr>
            </a:lvl3pPr>
            <a:lvl4pPr>
              <a:buNone/>
              <a:defRPr sz="1350">
                <a:solidFill>
                  <a:srgbClr val="A4DDCA"/>
                </a:solidFill>
                <a:latin typeface="Noto Sans KR"/>
                <a:ea typeface="Noto Sans KR"/>
                <a:cs typeface="Noto Sans KR"/>
              </a:defRPr>
            </a:lvl4pPr>
            <a:lvl5pPr>
              <a:buNone/>
              <a:defRPr sz="1350">
                <a:solidFill>
                  <a:srgbClr val="A4DDCA"/>
                </a:solidFill>
                <a:latin typeface="Noto Sans KR"/>
                <a:ea typeface="Noto Sans KR"/>
                <a:cs typeface="Noto Sans KR"/>
              </a:defRPr>
            </a:lvl5pPr>
            <a:lvl6pPr>
              <a:buNone/>
              <a:defRPr sz="1350">
                <a:solidFill>
                  <a:srgbClr val="A4DDCA"/>
                </a:solidFill>
                <a:latin typeface="Noto Sans KR"/>
                <a:ea typeface="Noto Sans KR"/>
                <a:cs typeface="Noto Sans KR"/>
              </a:defRPr>
            </a:lvl6pPr>
            <a:lvl7pPr>
              <a:buNone/>
              <a:defRPr sz="1350">
                <a:solidFill>
                  <a:srgbClr val="A4DDCA"/>
                </a:solidFill>
                <a:latin typeface="Noto Sans KR"/>
                <a:ea typeface="Noto Sans KR"/>
                <a:cs typeface="Noto Sans KR"/>
              </a:defRPr>
            </a:lvl7pPr>
            <a:lvl8pPr>
              <a:buNone/>
              <a:defRPr sz="1350">
                <a:solidFill>
                  <a:srgbClr val="A4DDCA"/>
                </a:solidFill>
                <a:latin typeface="Noto Sans KR"/>
                <a:ea typeface="Noto Sans KR"/>
                <a:cs typeface="Noto Sans KR"/>
              </a:defRPr>
            </a:lvl8pPr>
            <a:lvl9pPr>
              <a:buNone/>
              <a:defRPr sz="1350">
                <a:solidFill>
                  <a:srgbClr val="A4DDCA"/>
                </a:solidFill>
                <a:latin typeface="Noto Sans KR"/>
                <a:ea typeface="Noto Sans KR"/>
                <a:cs typeface="Noto Sans KR"/>
              </a:defRPr>
            </a:lvl9pPr>
          </a:lstStyle>
          <a:p xmlns:a="http://schemas.openxmlformats.org/drawingml/2006/main">
            <a:pPr>
              <a:buNone/>
              <a:defRPr sz="1350">
                <a:solidFill>
                  <a:srgbClr val="A4DDCA"/>
                </a:solidFill>
                <a:latin typeface="Noto Sans KR"/>
                <a:ea typeface="Noto Sans KR"/>
                <a:cs typeface="Noto Sans KR"/>
              </a:defRPr>
            </a:pPr>
            <a:r>
              <a:rPr sz="1350">
                <a:solidFill>
                  <a:srgbClr val="A4DDCA"/>
                </a:solidFill>
                <a:latin typeface="Noto Sans KR"/>
                <a:ea typeface="Noto Sans KR"/>
                <a:cs typeface="Noto Sans KR"/>
              </a:rPr>
              <a:t>업무 의미를 정리하고, 질문에 맞는 근거를 찾고, 원문으로 확인합니다.</a:t>
            </a:r>
          </a:p>
        </p:txBody>
      </p:sp>
    </p:spTree>
    <p:extLst>
      <p:ext uri="{BB962C8B-B14F-4D97-AF65-F5344CB8AC3E}">
        <p14:creationId xmlns:p14="http://schemas.microsoft.com/office/powerpoint/2010/main" val="4524636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2026-10-27T05:11:04.2630000Z</dcterms:created>
  <dcterms:modified xsi:type="dcterms:W3CDTF">2026-10-27T05:11:04.2630000Z</dcterms:modified>
</coreProperties>
</file>