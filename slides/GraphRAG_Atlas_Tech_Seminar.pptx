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Masters/slideMaster3.xml" ContentType="application/vnd.openxmlformats-officedocument.presentationml.slideMaster+xml"/>
  <Override PartName="/ppt/slideMasters/theme/theme4.xml" ContentType="application/vnd.openxmlformats-officedocument.theme+xml"/>
  <Override PartName="/ppt/slideMasters/slideMaster4.xml" ContentType="application/vnd.openxmlformats-officedocument.presentationml.slideMaster+xml"/>
  <Override PartName="/ppt/slideMasters/theme/theme5.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notesMasters/notesMaster1.xml" ContentType="application/vnd.openxmlformats-officedocument.presentationml.notesMaster+xml"/>
  <Override PartName="/ppt/notesMasters/theme/theme6.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143b1291bd7468c" /><Relationship Type="http://schemas.openxmlformats.org/officeDocument/2006/relationships/extended-properties" Target="/docProps/app.xml" Id="R7a9e9d937c4d4fad" /><Relationship Type="http://schemas.openxmlformats.org/officeDocument/2006/relationships/officeDocument" Target="/ppt/presentation.xml" Id="R733bb116404b4fa7" /></Relationships>
</file>

<file path=ppt/presentation.xml><?xml version="1.0" encoding="utf-8"?>
<p:presentation xmlns:p="http://schemas.openxmlformats.org/presentationml/2006/main">
  <p:sldMasterIdLst>
    <p:sldMasterId xmlns:r="http://schemas.openxmlformats.org/officeDocument/2006/relationships" id="2147483648" r:id="R9b8ca33b89324518"/>
    <p:sldMasterId xmlns:r="http://schemas.openxmlformats.org/officeDocument/2006/relationships" id="2147483655" r:id="R1c7c2fd4bbb441fb"/>
    <p:sldMasterId xmlns:r="http://schemas.openxmlformats.org/officeDocument/2006/relationships" id="2147483662" r:id="R8c1b613fa0284be4"/>
    <p:sldMasterId xmlns:r="http://schemas.openxmlformats.org/officeDocument/2006/relationships" id="2147483669" r:id="Rd8a0f0664adb4deb"/>
  </p:sldMasterIdLst>
  <p:notesMasterIdLst>
    <p:notesMasterId xmlns:r="http://schemas.openxmlformats.org/officeDocument/2006/relationships" r:id="R40f9f0cac02645d3"/>
  </p:notesMasterIdLst>
  <p:sldIdLst>
    <p:sldId xmlns:r="http://schemas.openxmlformats.org/officeDocument/2006/relationships" id="256" r:id="Ref90248a86d9415d"/>
    <p:sldId xmlns:r="http://schemas.openxmlformats.org/officeDocument/2006/relationships" id="257" r:id="R15b3a1d41cf943ea"/>
    <p:sldId xmlns:r="http://schemas.openxmlformats.org/officeDocument/2006/relationships" id="258" r:id="R34d146a248af4d9b"/>
    <p:sldId xmlns:r="http://schemas.openxmlformats.org/officeDocument/2006/relationships" id="259" r:id="R26074a56b678459f"/>
    <p:sldId xmlns:r="http://schemas.openxmlformats.org/officeDocument/2006/relationships" id="260" r:id="R57c9de76ab8c4466"/>
    <p:sldId xmlns:r="http://schemas.openxmlformats.org/officeDocument/2006/relationships" id="261" r:id="R24a36a7a0fb045c2"/>
    <p:sldId xmlns:r="http://schemas.openxmlformats.org/officeDocument/2006/relationships" id="262" r:id="R607e4d01ed0e4deb"/>
    <p:sldId xmlns:r="http://schemas.openxmlformats.org/officeDocument/2006/relationships" id="263" r:id="R575b2762b5f1414f"/>
    <p:sldId xmlns:r="http://schemas.openxmlformats.org/officeDocument/2006/relationships" id="264" r:id="R6ee948bdacd044ac"/>
    <p:sldId xmlns:r="http://schemas.openxmlformats.org/officeDocument/2006/relationships" id="265" r:id="Rabbae989a01349e9"/>
    <p:sldId xmlns:r="http://schemas.openxmlformats.org/officeDocument/2006/relationships" id="266" r:id="Rc13da706dcd14bdb"/>
    <p:sldId xmlns:r="http://schemas.openxmlformats.org/officeDocument/2006/relationships" id="267" r:id="R4f80444f36cf41af"/>
    <p:sldId xmlns:r="http://schemas.openxmlformats.org/officeDocument/2006/relationships" id="268" r:id="R3a828c05998140f4"/>
    <p:sldId xmlns:r="http://schemas.openxmlformats.org/officeDocument/2006/relationships" id="269" r:id="R754fed04a81d4b2f"/>
    <p:sldId xmlns:r="http://schemas.openxmlformats.org/officeDocument/2006/relationships" id="270" r:id="Rd013aa41aa314fbb"/>
    <p:sldId xmlns:r="http://schemas.openxmlformats.org/officeDocument/2006/relationships" id="271" r:id="R4a4c0cb2db1b4d7f"/>
    <p:sldId xmlns:r="http://schemas.openxmlformats.org/officeDocument/2006/relationships" id="272" r:id="R43e5128163d94575"/>
    <p:sldId xmlns:r="http://schemas.openxmlformats.org/officeDocument/2006/relationships" id="273" r:id="Rc36e6e97edee4342"/>
    <p:sldId xmlns:r="http://schemas.openxmlformats.org/officeDocument/2006/relationships" id="274" r:id="R36591a14cf614596"/>
    <p:sldId xmlns:r="http://schemas.openxmlformats.org/officeDocument/2006/relationships" id="275" r:id="R09b49c9e1b4f40fa"/>
    <p:sldId xmlns:r="http://schemas.openxmlformats.org/officeDocument/2006/relationships" id="276" r:id="R3dd918ba59aa4531"/>
    <p:sldId xmlns:r="http://schemas.openxmlformats.org/officeDocument/2006/relationships" id="277" r:id="R4b95fb92eaf04a1b"/>
    <p:sldId xmlns:r="http://schemas.openxmlformats.org/officeDocument/2006/relationships" id="278" r:id="R2cdbd678c64a4570"/>
    <p:sldId xmlns:r="http://schemas.openxmlformats.org/officeDocument/2006/relationships" id="279" r:id="R3d05799daf804493"/>
    <p:sldId xmlns:r="http://schemas.openxmlformats.org/officeDocument/2006/relationships" id="280" r:id="Re376b8755c114566"/>
    <p:sldId xmlns:r="http://schemas.openxmlformats.org/officeDocument/2006/relationships" id="281" r:id="Rcbab69b6dd924d12"/>
    <p:sldId xmlns:r="http://schemas.openxmlformats.org/officeDocument/2006/relationships" id="282" r:id="R5debf7569bf64778"/>
    <p:sldId xmlns:r="http://schemas.openxmlformats.org/officeDocument/2006/relationships" id="283" r:id="Ra80ba124afc5457b"/>
    <p:sldId xmlns:r="http://schemas.openxmlformats.org/officeDocument/2006/relationships" id="284" r:id="Rd1bfc61bcb374e42"/>
    <p:sldId xmlns:r="http://schemas.openxmlformats.org/officeDocument/2006/relationships" id="285" r:id="Rb45aaf8b971749d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1f2b1e1f32f45a8" /><Relationship Type="http://schemas.openxmlformats.org/officeDocument/2006/relationships/slideMaster" Target="/ppt/slideMasters/slideMaster1.xml" Id="R9b8ca33b89324518" /><Relationship Type="http://schemas.openxmlformats.org/officeDocument/2006/relationships/slideMaster" Target="/ppt/slideMasters/slideMaster2.xml" Id="R1c7c2fd4bbb441fb" /><Relationship Type="http://schemas.openxmlformats.org/officeDocument/2006/relationships/slideMaster" Target="/ppt/slideMasters/slideMaster3.xml" Id="R8c1b613fa0284be4" /><Relationship Type="http://schemas.openxmlformats.org/officeDocument/2006/relationships/slideMaster" Target="/ppt/slideMasters/slideMaster4.xml" Id="Rd8a0f0664adb4deb" /><Relationship Type="http://schemas.openxmlformats.org/officeDocument/2006/relationships/notesMaster" Target="/ppt/notesMasters/notesMaster1.xml" Id="R40f9f0cac02645d3" /><Relationship Type="http://schemas.openxmlformats.org/officeDocument/2006/relationships/presProps" Target="/ppt/presProps.xml" Id="R4550ba6871e24dee" /><Relationship Type="http://schemas.openxmlformats.org/officeDocument/2006/relationships/tableStyles" Target="/ppt/tableStyles.xml" Id="R344f93dd178e4f3d" /><Relationship Type="http://schemas.openxmlformats.org/officeDocument/2006/relationships/slide" Target="/ppt/slides/slide1.xml" Id="Ref90248a86d9415d" /><Relationship Type="http://schemas.openxmlformats.org/officeDocument/2006/relationships/slide" Target="/ppt/slides/slide2.xml" Id="R15b3a1d41cf943ea" /><Relationship Type="http://schemas.openxmlformats.org/officeDocument/2006/relationships/slide" Target="/ppt/slides/slide3.xml" Id="R34d146a248af4d9b" /><Relationship Type="http://schemas.openxmlformats.org/officeDocument/2006/relationships/slide" Target="/ppt/slides/slide4.xml" Id="R26074a56b678459f" /><Relationship Type="http://schemas.openxmlformats.org/officeDocument/2006/relationships/slide" Target="/ppt/slides/slide5.xml" Id="R57c9de76ab8c4466" /><Relationship Type="http://schemas.openxmlformats.org/officeDocument/2006/relationships/slide" Target="/ppt/slides/slide6.xml" Id="R24a36a7a0fb045c2" /><Relationship Type="http://schemas.openxmlformats.org/officeDocument/2006/relationships/slide" Target="/ppt/slides/slide7.xml" Id="R607e4d01ed0e4deb" /><Relationship Type="http://schemas.openxmlformats.org/officeDocument/2006/relationships/slide" Target="/ppt/slides/slide8.xml" Id="R575b2762b5f1414f" /><Relationship Type="http://schemas.openxmlformats.org/officeDocument/2006/relationships/slide" Target="/ppt/slides/slide9.xml" Id="R6ee948bdacd044ac" /><Relationship Type="http://schemas.openxmlformats.org/officeDocument/2006/relationships/slide" Target="/ppt/slides/slide10.xml" Id="Rabbae989a01349e9" /><Relationship Type="http://schemas.openxmlformats.org/officeDocument/2006/relationships/slide" Target="/ppt/slides/slide11.xml" Id="Rc13da706dcd14bdb" /><Relationship Type="http://schemas.openxmlformats.org/officeDocument/2006/relationships/slide" Target="/ppt/slides/slide12.xml" Id="R4f80444f36cf41af" /><Relationship Type="http://schemas.openxmlformats.org/officeDocument/2006/relationships/slide" Target="/ppt/slides/slide13.xml" Id="R3a828c05998140f4" /><Relationship Type="http://schemas.openxmlformats.org/officeDocument/2006/relationships/slide" Target="/ppt/slides/slide14.xml" Id="R754fed04a81d4b2f" /><Relationship Type="http://schemas.openxmlformats.org/officeDocument/2006/relationships/slide" Target="/ppt/slides/slide15.xml" Id="Rd013aa41aa314fbb" /><Relationship Type="http://schemas.openxmlformats.org/officeDocument/2006/relationships/slide" Target="/ppt/slides/slide16.xml" Id="R4a4c0cb2db1b4d7f" /><Relationship Type="http://schemas.openxmlformats.org/officeDocument/2006/relationships/slide" Target="/ppt/slides/slide17.xml" Id="R43e5128163d94575" /><Relationship Type="http://schemas.openxmlformats.org/officeDocument/2006/relationships/slide" Target="/ppt/slides/slide18.xml" Id="Rc36e6e97edee4342" /><Relationship Type="http://schemas.openxmlformats.org/officeDocument/2006/relationships/slide" Target="/ppt/slides/slide19.xml" Id="R36591a14cf614596" /><Relationship Type="http://schemas.openxmlformats.org/officeDocument/2006/relationships/slide" Target="/ppt/slides/slide20.xml" Id="R09b49c9e1b4f40fa" /><Relationship Type="http://schemas.openxmlformats.org/officeDocument/2006/relationships/slide" Target="/ppt/slides/slide21.xml" Id="R3dd918ba59aa4531" /><Relationship Type="http://schemas.openxmlformats.org/officeDocument/2006/relationships/slide" Target="/ppt/slides/slide22.xml" Id="R4b95fb92eaf04a1b" /><Relationship Type="http://schemas.openxmlformats.org/officeDocument/2006/relationships/slide" Target="/ppt/slides/slide23.xml" Id="R2cdbd678c64a4570" /><Relationship Type="http://schemas.openxmlformats.org/officeDocument/2006/relationships/slide" Target="/ppt/slides/slide24.xml" Id="R3d05799daf804493" /><Relationship Type="http://schemas.openxmlformats.org/officeDocument/2006/relationships/slide" Target="/ppt/slides/slide25.xml" Id="Re376b8755c114566" /><Relationship Type="http://schemas.openxmlformats.org/officeDocument/2006/relationships/slide" Target="/ppt/slides/slide26.xml" Id="Rcbab69b6dd924d12" /><Relationship Type="http://schemas.openxmlformats.org/officeDocument/2006/relationships/slide" Target="/ppt/slides/slide27.xml" Id="R5debf7569bf64778" /><Relationship Type="http://schemas.openxmlformats.org/officeDocument/2006/relationships/slide" Target="/ppt/slides/slide28.xml" Id="Ra80ba124afc5457b" /><Relationship Type="http://schemas.openxmlformats.org/officeDocument/2006/relationships/slide" Target="/ppt/slides/slide29.xml" Id="Rd1bfc61bcb374e42" /><Relationship Type="http://schemas.openxmlformats.org/officeDocument/2006/relationships/slide" Target="/ppt/slides/slide30.xml" Id="Rb45aaf8b971749d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6.xml" Id="Rd6674362eda14f7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6.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6eb72a4bb224ca4" /><Relationship Type="http://schemas.openxmlformats.org/officeDocument/2006/relationships/notesMaster" Target="/ppt/notesMasters/notesMaster1.xml" Id="Ra89a9611b11b4a14"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b60a1dc2a44be9" /><Relationship Type="http://schemas.openxmlformats.org/officeDocument/2006/relationships/notesMaster" Target="/ppt/notesMasters/notesMaster1.xml" Id="Ra11436a1d65c468b" /></Relationships>
</file>

<file path=ppt/notesSlides/_rels/notesSlide3.xml.rels>&#65279;<?xml version="1.0" encoding="utf-8"?><Relationships xmlns="http://schemas.openxmlformats.org/package/2006/relationships"><Relationship Type="http://schemas.openxmlformats.org/officeDocument/2006/relationships/slide" Target="/ppt/slides/slide3.xml" Id="R53f4f16ec97540af" /><Relationship Type="http://schemas.openxmlformats.org/officeDocument/2006/relationships/notesMaster" Target="/ppt/notesMasters/notesMaster1.xml" Id="R96ca2af5e7dc4f31" /></Relationships>
</file>

<file path=ppt/notesSlides/_rels/notesSlide4.xml.rels>&#65279;<?xml version="1.0" encoding="utf-8"?><Relationships xmlns="http://schemas.openxmlformats.org/package/2006/relationships"><Relationship Type="http://schemas.openxmlformats.org/officeDocument/2006/relationships/slide" Target="/ppt/slides/slide4.xml" Id="R65041b958e824276" /><Relationship Type="http://schemas.openxmlformats.org/officeDocument/2006/relationships/notesMaster" Target="/ppt/notesMasters/notesMaster1.xml" Id="R2b57d5e644924cd2" /></Relationships>
</file>

<file path=ppt/notesSlides/_rels/notesSlide5.xml.rels>&#65279;<?xml version="1.0" encoding="utf-8"?><Relationships xmlns="http://schemas.openxmlformats.org/package/2006/relationships"><Relationship Type="http://schemas.openxmlformats.org/officeDocument/2006/relationships/slide" Target="/ppt/slides/slide5.xml" Id="R34048f83e631436e" /><Relationship Type="http://schemas.openxmlformats.org/officeDocument/2006/relationships/notesMaster" Target="/ppt/notesMasters/notesMaster1.xml" Id="R02ec7fa622154596" /></Relationships>
</file>

<file path=ppt/notesSlides/_rels/notesSlide6.xml.rels>&#65279;<?xml version="1.0" encoding="utf-8"?><Relationships xmlns="http://schemas.openxmlformats.org/package/2006/relationships"><Relationship Type="http://schemas.openxmlformats.org/officeDocument/2006/relationships/slide" Target="/ppt/slides/slide6.xml" Id="R3cd5352cdfbb4c49" /><Relationship Type="http://schemas.openxmlformats.org/officeDocument/2006/relationships/notesMaster" Target="/ppt/notesMasters/notesMaster1.xml" Id="R7b932ffe815d486c" /></Relationships>
</file>

<file path=ppt/notesSlides/_rels/notesSlide7.xml.rels>&#65279;<?xml version="1.0" encoding="utf-8"?><Relationships xmlns="http://schemas.openxmlformats.org/package/2006/relationships"><Relationship Type="http://schemas.openxmlformats.org/officeDocument/2006/relationships/slide" Target="/ppt/slides/slide7.xml" Id="Rbba9fd2fd76143fe" /><Relationship Type="http://schemas.openxmlformats.org/officeDocument/2006/relationships/notesMaster" Target="/ppt/notesMasters/notesMaster1.xml" Id="R1e80e54b31104bbc" /></Relationships>
</file>

<file path=ppt/notesSlides/_rels/notesSlide8.xml.rels>&#65279;<?xml version="1.0" encoding="utf-8"?><Relationships xmlns="http://schemas.openxmlformats.org/package/2006/relationships"><Relationship Type="http://schemas.openxmlformats.org/officeDocument/2006/relationships/slide" Target="/ppt/slides/slide8.xml" Id="R59e309c4bcac4492" /><Relationship Type="http://schemas.openxmlformats.org/officeDocument/2006/relationships/notesMaster" Target="/ppt/notesMasters/notesMaster1.xml" Id="R2ee536fcaf234f39" /></Relationships>
</file>

<file path=ppt/notesSlides/_rels/notesSlide9.xml.rels>&#65279;<?xml version="1.0" encoding="utf-8"?><Relationships xmlns="http://schemas.openxmlformats.org/package/2006/relationships"><Relationship Type="http://schemas.openxmlformats.org/officeDocument/2006/relationships/slide" Target="/ppt/slides/slide9.xml" Id="Rfdeb3c21f3594bfb" /><Relationship Type="http://schemas.openxmlformats.org/officeDocument/2006/relationships/notesMaster" Target="/ppt/notesMasters/notesMaster1.xml" Id="R2553713be501467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ba9a11c70954436" /><Relationship Type="http://schemas.openxmlformats.org/officeDocument/2006/relationships/notesMaster" Target="/ppt/notesMasters/notesMaster1.xml" Id="R9e434be298854fd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0097d1eca6c4eb5" /><Relationship Type="http://schemas.openxmlformats.org/officeDocument/2006/relationships/notesMaster" Target="/ppt/notesMasters/notesMaster1.xml" Id="Rdce88153f734443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fe9df05fb944611" /><Relationship Type="http://schemas.openxmlformats.org/officeDocument/2006/relationships/notesMaster" Target="/ppt/notesMasters/notesMaster1.xml" Id="R6cadcb7b7d02498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08fea1eabb64810" /><Relationship Type="http://schemas.openxmlformats.org/officeDocument/2006/relationships/notesMaster" Target="/ppt/notesMasters/notesMaster1.xml" Id="Recb2dc810e97423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7b49381021e4fe5" /><Relationship Type="http://schemas.openxmlformats.org/officeDocument/2006/relationships/notesMaster" Target="/ppt/notesMasters/notesMaster1.xml" Id="R58836f2dbefe4e6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ff2e508b87e428c" /><Relationship Type="http://schemas.openxmlformats.org/officeDocument/2006/relationships/notesMaster" Target="/ppt/notesMasters/notesMaster1.xml" Id="Rc77bd6b4f98846d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aa26ce4e82a4a98" /><Relationship Type="http://schemas.openxmlformats.org/officeDocument/2006/relationships/notesMaster" Target="/ppt/notesMasters/notesMaster1.xml" Id="R3d0f685a71e545e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6f4744f03944c5b" /><Relationship Type="http://schemas.openxmlformats.org/officeDocument/2006/relationships/notesMaster" Target="/ppt/notesMasters/notesMaster1.xml" Id="R153a078b66a74f8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d2bcce68d9e4edd" /><Relationship Type="http://schemas.openxmlformats.org/officeDocument/2006/relationships/notesMaster" Target="/ppt/notesMasters/notesMaster1.xml" Id="R08f443c2be8648e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b43372ebfff4747" /><Relationship Type="http://schemas.openxmlformats.org/officeDocument/2006/relationships/notesMaster" Target="/ppt/notesMasters/notesMaster1.xml" Id="R5ca1b474d8b14d4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925f4ce04cb41a1" /><Relationship Type="http://schemas.openxmlformats.org/officeDocument/2006/relationships/notesMaster" Target="/ppt/notesMasters/notesMaster1.xml" Id="Rbb4c377462af47a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408fddc6b3b48a5" /><Relationship Type="http://schemas.openxmlformats.org/officeDocument/2006/relationships/notesMaster" Target="/ppt/notesMasters/notesMaster1.xml" Id="R3e02e26bf42e4ec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e8bec1b9c944c93" /><Relationship Type="http://schemas.openxmlformats.org/officeDocument/2006/relationships/notesMaster" Target="/ppt/notesMasters/notesMaster1.xml" Id="Rd1d013d26cf5422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2e984a7ea344850" /><Relationship Type="http://schemas.openxmlformats.org/officeDocument/2006/relationships/notesMaster" Target="/ppt/notesMasters/notesMaster1.xml" Id="R65c6e98f7aeb4fa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7c91ee806a04449" /><Relationship Type="http://schemas.openxmlformats.org/officeDocument/2006/relationships/notesMaster" Target="/ppt/notesMasters/notesMaster1.xml" Id="Rd7100f8814f1455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5c41949333b470f" /><Relationship Type="http://schemas.openxmlformats.org/officeDocument/2006/relationships/notesMaster" Target="/ppt/notesMasters/notesMaster1.xml" Id="Rda2f0182af174ea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e0b369ab2a84878" /><Relationship Type="http://schemas.openxmlformats.org/officeDocument/2006/relationships/notesMaster" Target="/ppt/notesMasters/notesMaster1.xml" Id="R8914d84cdd52462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8d31274d85f476f" /><Relationship Type="http://schemas.openxmlformats.org/officeDocument/2006/relationships/notesMaster" Target="/ppt/notesMasters/notesMaster1.xml" Id="R8dff05b50493471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0d6a003730749bf" /><Relationship Type="http://schemas.openxmlformats.org/officeDocument/2006/relationships/notesMaster" Target="/ppt/notesMasters/notesMaster1.xml" Id="Re50f796d71b7421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90373d4b85e4ab9" /><Relationship Type="http://schemas.openxmlformats.org/officeDocument/2006/relationships/notesMaster" Target="/ppt/notesMasters/notesMaster1.xml" Id="Rd55cd40c6b5b431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4bd911669584f42" /><Relationship Type="http://schemas.openxmlformats.org/officeDocument/2006/relationships/notesMaster" Target="/ppt/notesMasters/notesMaster1.xml" Id="R09e1ab5a20b64bd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오늘은 온톨로지와 GraphRAG를 하나의 업무 예제로 연결해 보겠습니다. 시스템 사이의 관계를 어떻게 정의하고, 그 관계를 이용해 답변 근거를 어떻게 찾는지 살펴볼게요. 개념을 설명한 뒤 실습에서 규칙과 데이터를 직접 바꿔 보겠습니다.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오늘은 ‘날씨 정보가 끊기면 어떤 시스템부터 확인해야 할까?’라는 질문 하나를 따라가 보겠습니다. 먼저 시스템들이 어떻게 연결돼 있는지 정리하고, 그 연결을 이용해 답을 찾는 과정을 볼 거예요.</a:t>
            </a:r>
          </a:p>
          <a:p xmlns:a="http://schemas.openxmlformats.org/drawingml/2006/main">
            <a:r>
              <a:t/>
            </a:r>
          </a:p>
          <a:p xmlns:a="http://schemas.openxmlformats.org/drawingml/2006/main">
            <a:r>
              <a:t>온톨로지는 대상과 관계의 뜻을 정하는 역할을 합니다. 실습에서는 규칙이나 데이터를 바꾸면서 조회 결과가 왜 달라지는지 확인하겠습니다. 이어서 GraphRAG가 어떤 구조를 만들고, 그 구조에서 답변 근거를 어떻게 찾는지 비교할게요.</a:t>
            </a:r>
          </a:p>
          <a:p xmlns:a="http://schemas.openxmlformats.org/drawingml/2006/main">
            <a:r>
              <a:t/>
            </a:r>
          </a:p>
          <a:p xmlns:a="http://schemas.openxmlformats.org/drawingml/2006/main">
            <a:r>
              <a:t>그럼 먼저 예제로 쓸 물류사의 시스템 구성을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물류사가 차량을 배정할 때 도착 예정 시간을 참고한다고 생각해 볼게요. 배차시스템은 도착예측모델을 쓰고, 이 모델은 날씨API에서 정보를 받아옵니다.</a:t>
            </a:r>
          </a:p>
          <a:p xmlns:a="http://schemas.openxmlformats.org/drawingml/2006/main">
            <a:r>
              <a:t/>
            </a:r>
          </a:p>
          <a:p xmlns:a="http://schemas.openxmlformats.org/drawingml/2006/main">
            <a:r>
              <a:t>날씨API가 멈추면 직접 연결된 모델부터 점검하겠죠. 그런데 모델의 결과를 쓰는 배차시스템도 확인할 필요가 있습니다. 우리가 찾으려는 것은 이렇게 간접적으로 연결된 점검 대상과, 그 연결을 설명하는 문서입니다. 의존한다고 반드시 장애가 난다는 뜻은 아니에요.</a:t>
            </a:r>
          </a:p>
          <a:p xmlns:a="http://schemas.openxmlformats.org/drawingml/2006/main">
            <a:r>
              <a:t/>
            </a:r>
          </a:p>
          <a:p xmlns:a="http://schemas.openxmlformats.org/drawingml/2006/main">
            <a:r>
              <a:t>이 연결을 컴퓨터가 일관되게 다루려면 대상과 관계를 어떻게 적을지 정해야 합니다. 정보를 정리하는 방식부터 비교해 보겠습니다.</a:t>
            </a:r>
          </a:p>
          <a:p xmlns:a="http://schemas.openxmlformats.org/drawingml/2006/main">
            <a:r>
              <a:t/>
            </a:r>
          </a:p>
          <a:p xmlns:a="http://schemas.openxmlformats.org/drawingml/2006/main">
            <a:r>
              <a:t>출처</a:t>
            </a:r>
          </a:p>
          <a:p xmlns:a="http://schemas.openxmlformats.org/drawingml/2006/main">
            <a:r>
              <a:t>https://wikidocs.net/335877</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정보를 정리한다고 해서 모두 온톨로지인 것은 아닙니다. DB 스키마는 테이블과 컬럼을 정하고, 키와 JOIN으로 데이터를 연결합니다. 분류체계는 예측모델이 소프트웨어의 한 종류라는 식으로 종류를 나눕니다.</a:t>
            </a:r>
          </a:p>
          <a:p xmlns:a="http://schemas.openxmlformats.org/drawingml/2006/main">
            <a:r>
              <a:t/>
            </a:r>
          </a:p>
          <a:p xmlns:a="http://schemas.openxmlformats.org/drawingml/2006/main">
            <a:r>
              <a:t>온톨로지는 여기에 관계의 의미와 규칙을 명시합니다. ‘의존한다’가 무슨 뜻인지, 어떤 연결에서 새로운 사실을 얻을 수 있는지 정하는 거예요. 지식 그래프에는 그 정의에 맞춰 실제 시스템과 모델을 연결한 사실이 담깁니다. 이 방식들은 함께 사용할 수 있습니다.</a:t>
            </a:r>
          </a:p>
          <a:p xmlns:a="http://schemas.openxmlformats.org/drawingml/2006/main">
            <a:r>
              <a:t/>
            </a:r>
          </a:p>
          <a:p xmlns:a="http://schemas.openxmlformats.org/drawingml/2006/main">
            <a:r>
              <a:t>이제 온톨로지에 들어갈 재료를 종류, 실제 대상, 관계, 값으로 나눠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‘예측모델’은 대상의 종류이고, 우리 회사가 쓰는 ‘도착예측모델’은 실제 대상 하나입니다. 온톨로지에서는 종류를 클래스, 실제 대상을 개체라고 부릅니다.</a:t>
            </a:r>
          </a:p>
          <a:p xmlns:a="http://schemas.openxmlformats.org/drawingml/2006/main">
            <a:r>
              <a:t/>
            </a:r>
          </a:p>
          <a:p xmlns:a="http://schemas.openxmlformats.org/drawingml/2006/main">
            <a:r>
              <a:t>배차시스템과 도착예측모델 사이에는 ‘의존한다’는 관계를 붙일 수 있습니다. 예제에서는 이 관계의 이름을 dependsOn으로 적겠습니다. 문서 본문이나 처리 시간처럼 글자와 숫자로 표현하는 정보는 값으로 붙입니다. 다른 대상을 가리키는 연결과 문자열이나 숫자를 붙이는 것은 구분해야 해요.</a:t>
            </a:r>
          </a:p>
          <a:p xmlns:a="http://schemas.openxmlformats.org/drawingml/2006/main">
            <a:r>
              <a:t/>
            </a:r>
          </a:p>
          <a:p xmlns:a="http://schemas.openxmlformats.org/drawingml/2006/main">
            <a:r>
              <a:t>이 재료를 적고 다루는 표준들이 RDF, OWL, SHACL, SPARQL입니다. 이름보다 역할부터 익혀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RDF는 사실을 세 요소로 표현하는 방식입니다. ‘배차시스템이, 의존한다, 도착예측모델에’처럼 주어와 관계, 대상을 한 묶음으로 적습니다. 이 묶음이 트리플이고, Turtle은 트리플을 사람이 읽기 편하게 적는 문법입니다.</a:t>
            </a:r>
          </a:p>
          <a:p xmlns:a="http://schemas.openxmlformats.org/drawingml/2006/main">
            <a:r>
              <a:t/>
            </a:r>
          </a:p>
          <a:p xmlns:a="http://schemas.openxmlformats.org/drawingml/2006/main">
            <a:r>
              <a:t>RDFS와 OWL은 종류와 관계의 의미를 정의합니다. 예를 들어 예측모델이 소프트웨어에 속한다거나, 사용한다의 반대 관계가 무엇인지 정할 수 있어요. 이번에는 OWL RL의 규칙을 적용해 새로운 사실을 얻겠습니다.</a:t>
            </a:r>
          </a:p>
          <a:p xmlns:a="http://schemas.openxmlformats.org/drawingml/2006/main">
            <a:r>
              <a:t/>
            </a:r>
          </a:p>
          <a:p xmlns:a="http://schemas.openxmlformats.org/drawingml/2006/main">
            <a:r>
              <a:t>SHACL은 필요한 데이터가 제대로 입력됐는지 검사하고, SPARQL은 그래프에서 원하는 정보를 조회합니다. 이제 정의에 해당하는 부분과 실제 데이터에 해당하는 부분을 나눠 볼게요.</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먼저 모든 데이터에 적용할 정의가 필요합니다. 예측모델은 소프트웨어의 한 종류라고 정하고, 사용한다의 반대 관계도 정합니다. 이번 예제의 의존 관계는 여러 연결을 이어서 해석하도록 정의하겠습니다.</a:t>
            </a:r>
          </a:p>
          <a:p xmlns:a="http://schemas.openxmlformats.org/drawingml/2006/main">
            <a:r>
              <a:t/>
            </a:r>
          </a:p>
          <a:p xmlns:a="http://schemas.openxmlformats.org/drawingml/2006/main">
            <a:r>
              <a:t>그 정의와 별개로 실제 데이터가 들어갑니다. 물류사가 배차시스템을 사용하고, 배차시스템은 모델에 의존하고, 모델은 날씨API에 의존한다는 사실들이죠. 이렇게 정의와 실제 사실을 함께 읽어야 규칙을 적용할 수 있습니다.</a:t>
            </a:r>
          </a:p>
          <a:p xmlns:a="http://schemas.openxmlformats.org/drawingml/2006/main">
            <a:r>
              <a:t/>
            </a:r>
          </a:p>
          <a:p xmlns:a="http://schemas.openxmlformats.org/drawingml/2006/main">
            <a:r>
              <a:t>정의와 규칙에 관한 지식을 TBox, 실제 개체에 관한 사실을 ABox라고 부릅니다. 꼭 파일을 둘로 나눠야 한다는 뜻은 아니에요. 다음에는 이 둘을 합치면 무엇을 새로 알게 되는지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도착예측모델이 예측모델이라는 사실을 입력했다고 해 볼게요. 여기에 ‘예측모델은 소프트웨어의 한 종류다’라는 정의를 적용하면, 도착예측모델도 소프트웨어라는 결론이 나옵니다.</a:t>
            </a:r>
          </a:p>
          <a:p xmlns:a="http://schemas.openxmlformats.org/drawingml/2006/main">
            <a:r>
              <a:t/>
            </a:r>
          </a:p>
          <a:p xmlns:a="http://schemas.openxmlformats.org/drawingml/2006/main">
            <a:r>
              <a:t>관계의 방향을 바꾸는 경우도 있습니다. 물류사가 배차시스템을 사용한다면, 배차시스템은 물류사에 의해 사용된다고 조회할 수 있죠. uses라는 사실에 반대 관계의 정의를 적용해서 usedBy로도 찾을 수 있게 되는 겁니다.</a:t>
            </a:r>
          </a:p>
          <a:p xmlns:a="http://schemas.openxmlformats.org/drawingml/2006/main">
            <a:r>
              <a:t/>
            </a:r>
          </a:p>
          <a:p xmlns:a="http://schemas.openxmlformats.org/drawingml/2006/main">
            <a:r>
              <a:t>이것은 LLM이 그럴듯하게 추측하는 과정이 아닙니다. 입력한 사실과 정해 둔 규칙에서 따라오는 사실을 추가하는 과정이에요. 다음에는 두 단계로 이어진 의존 관계를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배차시스템은 모델에 의존하고, 모델은 날씨API에 의존합니다. 여기서 의존 관계를 전이 관계로 정의했다면 두 연결을 이어서 읽을 수 있어요. 배차시스템도 날씨API에 간접적으로 의존한다는 사실이 추가됩니다.</a:t>
            </a:r>
          </a:p>
          <a:p xmlns:a="http://schemas.openxmlformats.org/drawingml/2006/main">
            <a:r>
              <a:t/>
            </a:r>
          </a:p>
          <a:p xmlns:a="http://schemas.openxmlformats.org/drawingml/2006/main">
            <a:r>
              <a:t>그래서 날씨API에 의존하는 대상을 조회하면, 추론 전에는 모델만 나오고 추론 후에는 배차시스템까지 나옵니다. 실습에서는 이 차이를 직접 확인하겠습니다.</a:t>
            </a:r>
          </a:p>
          <a:p xmlns:a="http://schemas.openxmlformats.org/drawingml/2006/main">
            <a:r>
              <a:t/>
            </a:r>
          </a:p>
          <a:p xmlns:a="http://schemas.openxmlformats.org/drawingml/2006/main">
            <a:r>
              <a:t>다만 모든 관계에 이 규칙을 적용하면 안 됩니다. 친구의 친구가 반드시 내 친구는 아니잖아요. 업무에서 그 관계가 어떤 뜻인지 먼저 정해야 합니다. 다음에는 관계를 이용해 대상의 종류를 알아내는 예를 볼게요.</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domain과 range는 관계 양쪽에 있는 대상의 종류를 해석하는 규칙입니다. 예제에서는 uses의 주어를 회사로, 목적어를 소프트웨어로 해석하도록 정합니다.</a:t>
            </a:r>
          </a:p>
          <a:p xmlns:a="http://schemas.openxmlformats.org/drawingml/2006/main">
            <a:r>
              <a:t/>
            </a:r>
          </a:p>
          <a:p xmlns:a="http://schemas.openxmlformats.org/drawingml/2006/main">
            <a:r>
              <a:t>아직 종류를 적지 않은 조직과 도구를 uses로 연결해 보겠습니다. 규칙을 적용하면 조직에는 Company, 도구에는 SoftwareSystem이라는 종류가 붙습니다. 관계 하나를 보고 대상의 종류에 관한 사실을 얻은 거예요.</a:t>
            </a:r>
          </a:p>
          <a:p xmlns:a="http://schemas.openxmlformats.org/drawingml/2006/main">
            <a:r>
              <a:t/>
            </a:r>
          </a:p>
          <a:p xmlns:a="http://schemas.openxmlformats.org/drawingml/2006/main">
            <a:r>
              <a:t>여기서 주의할 점은 입력을 거절하는 검사가 아니라는 겁니다. 관계를 잘못 넣으면 의도하지 않은 종류가 붙을 수도 있어요. 반드시 있어야 할 정보가 빠졌는지 확인하려면 별도의 입력 검사가 필요합니다. 그 역할이 SHACL입니다.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회사에 uses 관계를 적지 않았다고 해 볼게요. OWL은 이것을 아직 모르는 정보로 볼 수 있습니다. 적혀 있지 않다고 해서 그 회사가 아무 시스템도 사용하지 않는다고 단정하지 않아요. 이것을 열린 세계 가정이라고 합니다.</a:t>
            </a:r>
          </a:p>
          <a:p xmlns:a="http://schemas.openxmlformats.org/drawingml/2006/main">
            <a:r>
              <a:t/>
            </a:r>
          </a:p>
          <a:p xmlns:a="http://schemas.openxmlformats.org/drawingml/2006/main">
            <a:r>
              <a:t>하지만 업무 입력 규칙은 다르게 정할 수 있죠. ‘회사에는 사용 시스템을 적어도 하나 기록해야 한다’고 정했다면, SHACL은 현재 데이터에 그 값이 없는 것을 위반으로 알려줍니다. 빠진 기록을 찾는 겁니다.</a:t>
            </a:r>
          </a:p>
          <a:p xmlns:a="http://schemas.openxmlformats.org/drawingml/2006/main">
            <a:r>
              <a:t/>
            </a:r>
          </a:p>
          <a:p xmlns:a="http://schemas.openxmlformats.org/drawingml/2006/main">
            <a:r>
              <a:t>추론으로 대상의 종류가 추가되면 검사 대상이나 결과도 달라질 수 있습니다. 실습에서는 추론 전후를 함께 확인할게요. 이어서 검사 보고서를 읽는 방법을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회사 개체는 남겨 두고 uses 관계만 지우면, 필수 정보가 빠졌다는 보고서가 나옵니다. 이때 focusNode는 문제가 있는 대상, resultPath는 검사한 관계를 뜻합니다. 이 예에서는 물류사와 uses가 나오겠죠.</a:t>
            </a:r>
          </a:p>
          <a:p xmlns:a="http://schemas.openxmlformats.org/drawingml/2006/main">
            <a:r>
              <a:t/>
            </a:r>
          </a:p>
          <a:p xmlns:a="http://schemas.openxmlformats.org/drawingml/2006/main">
            <a:r>
              <a:t>minCount는 값이 최소 몇 개 있어야 하는지 정한 조건입니다. 하나 이상이어야 하는데 아무것도 없어서 실패한 거예요. 빠진 사용 관계를 복구하면 이 문제를 해결할 수 있습니다.</a:t>
            </a:r>
          </a:p>
          <a:p xmlns:a="http://schemas.openxmlformats.org/drawingml/2006/main">
            <a:r>
              <a:t/>
            </a:r>
          </a:p>
          <a:p xmlns:a="http://schemas.openxmlformats.org/drawingml/2006/main">
            <a:r>
              <a:t>실제 시스템 개체 대신 이름 문자열을 넣는 것도 다른 문제입니다. 이름을 글자로 적는 것과 시스템 개체를 가리키는 것은 다르거든요. 이제 입력을 확인했으니, 처음 질문으로 돌아가 관련 시스템과 설명 문서를 찾아보겠습니다.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이제 ‘날씨API에 의존하는 시스템은 무엇인가’를 조회해 보겠습니다. 추론을 켜면 직접 연결된 도착예측모델과 간접적으로 연결된 배차시스템이 나옵니다. 그중 배차시스템을 예로 들어 원문까지 찾아볼게요.</a:t>
            </a:r>
          </a:p>
          <a:p xmlns:a="http://schemas.openxmlformats.org/drawingml/2006/main">
            <a:r>
              <a:t/>
            </a:r>
          </a:p>
          <a:p xmlns:a="http://schemas.openxmlformats.org/drawingml/2006/main">
            <a:r>
              <a:t>예제 데이터에는 ‘운영문서가 배차시스템을 설명한다’는 연결을 미리 넣어 두었습니다. describes가 바로 이 연결의 이름입니다. 문서에서 설명 대상 시스템을 가리키는 방향이에요. 같은 문서의 text에는 실제 본문이 들어 있습니다.</a:t>
            </a:r>
          </a:p>
          <a:p xmlns:a="http://schemas.openxmlformats.org/drawingml/2006/main">
            <a:r>
              <a:t/>
            </a:r>
          </a:p>
          <a:p xmlns:a="http://schemas.openxmlformats.org/drawingml/2006/main">
            <a:r>
              <a:t>프로그램은 SPARQL로 시스템을 찾은 다음, 그 시스템을 describes로 가리키는 문서를 찾습니다. 그리고 그 문서의 text를 읽어 조회 결과에 함께 보여 줍니다. 모델에 대해서도 같은 방식으로 모델문서를 붙입니다. 실제 구현에서는 이 문서 연결을 Python 코드가 처리합니다.</a:t>
            </a:r>
          </a:p>
          <a:p xmlns:a="http://schemas.openxmlformats.org/drawingml/2006/main">
            <a:r>
              <a:t/>
            </a:r>
          </a:p>
          <a:p xmlns:a="http://schemas.openxmlformats.org/drawingml/2006/main">
            <a:r>
              <a:t>이 연결은 LLM이나 추론이 자동으로 만든 것이 아니라 예제에 넣어 둔 사실입니다. 문서 본문은 대상을 설명하는 근거이고, 어떤 규칙으로 새 사실이 생겼는지는 별도로 확인합니다. 실습에서 추론을 끄고 켜며 둘의 차이를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이제 Ontology workshop을 열어 보겠습니다. 먼저 소프트웨어 목록을 조회하는 예제를 실행한 뒤, 추론을 끄고 다시 실행해 주세요. 목록이 세 개에서 두 개로 줄어드는지, 빠진 대상의 종류는 어떤 규칙에서 나왔는지 확인하면 됩니다.</a:t>
            </a:r>
          </a:p>
          <a:p xmlns:a="http://schemas.openxmlformats.org/drawingml/2006/main">
            <a:r>
              <a:t/>
            </a:r>
          </a:p>
          <a:p xmlns:a="http://schemas.openxmlformats.org/drawingml/2006/main">
            <a:r>
              <a:t>의존 경로 예제에서는 직접 연결된 모델만 나오는지, 간접 연결된 배차시스템도 나오는지 비교합니다. 반대 관계 예제에서는 원본에 usedBy를 적지 않았는데도 물류사를 찾을 수 있는지 확인해 주세요.</a:t>
            </a:r>
          </a:p>
          <a:p xmlns:a="http://schemas.openxmlformats.org/drawingml/2006/main">
            <a:r>
              <a:t/>
            </a:r>
          </a:p>
          <a:p xmlns:a="http://schemas.openxmlformats.org/drawingml/2006/main">
            <a:r>
              <a:t>입력 검사 예제에서는 필수 관계를 지우거나 개체를 문자열로 바꿔 보겠습니다. 보고서가 어떤 대상의 어떤 관계를 문제로 지적하는지 읽어 주세요. domain과 range 예제에서는 관계를 입력했을 때 대상의 종류가 어떻게 추가되는지 보면 됩니다. 바꾼 내용은 복원 버튼으로 되돌릴 수 있어요.</a:t>
            </a:r>
          </a:p>
          <a:p xmlns:a="http://schemas.openxmlformats.org/drawingml/2006/main">
            <a:r>
              <a:t/>
            </a:r>
          </a:p>
          <a:p xmlns:a="http://schemas.openxmlformats.org/drawingml/2006/main">
            <a:r>
              <a:t>실습의 핵심은 결과가 바뀌었다는 사실보다, 어떤 정의나 데이터 때문에 바뀌었는지 설명하는 것입니다. 다음에는 이런 정의를 실제 업무에서 어떻게 관리할지 짚어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실습에서는 규칙을 끄거나 관계를 지워 봤지만, 실무에서는 새로운 시스템이 들어오거나 업무 용어가 바뀌면서 같은 변화가 생깁니다. 그래서 온톨로지도 만들고 끝내는 것이 아니라 계속 관리해야 합니다.</a:t>
            </a:r>
          </a:p>
          <a:p xmlns:a="http://schemas.openxmlformats.org/drawingml/2006/main">
            <a:r>
              <a:t/>
            </a:r>
          </a:p>
          <a:p xmlns:a="http://schemas.openxmlformats.org/drawingml/2006/main">
            <a:r>
              <a:t>처음부터 모든 업무를 표현하려고 하기보다, 해결할 질문을 작게 정하는 편이 좋습니다. 그 질문에 필요한 사용과 의존 관계의 뜻을 담당자와 맞추고, 누가 정의를 수정할지 정합니다. 수정한 뒤에는 대표 질문과 입력 검사를 다시 실행해 결과가 의도대로인지 확인합니다.</a:t>
            </a:r>
          </a:p>
          <a:p xmlns:a="http://schemas.openxmlformats.org/drawingml/2006/main">
            <a:r>
              <a:t/>
            </a:r>
          </a:p>
          <a:p xmlns:a="http://schemas.openxmlformats.org/drawingml/2006/main">
            <a:r>
              <a:t>LLM으로 관계를 추출하더라도 출처와 검수 여부를 남겨야 해요. 이제 관계를 정의하고 관리하는 방법을 봤으니, 이 연결을 활용해 답변 근거를 찾는 GraphRAG로 넘어가겠습니다.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지금까지는 어떤 사실이 있고, 규칙을 적용하면 무엇을 더 알 수 있는지 봤습니다. 이제 질문에 답하기 위해 그중 어떤 정보를 가져올지 생각해 보겠습니다.</a:t>
            </a:r>
          </a:p>
          <a:p xmlns:a="http://schemas.openxmlformats.org/drawingml/2006/main">
            <a:r>
              <a:t/>
            </a:r>
          </a:p>
          <a:p xmlns:a="http://schemas.openxmlformats.org/drawingml/2006/main">
            <a:r>
              <a:t>온톨로지의 규칙 추론은 ‘예측모델이니 소프트웨어에도 속한다’는 새 사실을 얻는 일입니다. GraphRAG 검색은 질문과 관련된 개체와 연결, 원문을 고르는 일이고요. 마지막으로 LLM은 가져온 근거를 읽고 답변과 인용을 작성합니다.</a:t>
            </a:r>
          </a:p>
          <a:p xmlns:a="http://schemas.openxmlformats.org/drawingml/2006/main">
            <a:r>
              <a:t/>
            </a:r>
          </a:p>
          <a:p xmlns:a="http://schemas.openxmlformats.org/drawingml/2006/main">
            <a:r>
              <a:t>이 과정을 구분해서 보면 오류가 규칙에서 생겼는지, 검색에서 생겼는지 찾기 쉽습니다. 그리고 GraphRAG가 반드시 OWL을 사용하는 것은 아닙니다. 문서 요약이나 개체 연결처럼 다른 구조도 활용할 수 있어요. 다음부터는 각 방법이 무엇을 저장하고 어떻게 검색하는지 비교하겠습니다.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a:p xmlns:a="http://schemas.openxmlformats.org/drawingml/2006/main">
            <a:r>
              <a:t>https://arxiv.org/abs/2401.18059</a:t>
            </a:r>
          </a:p>
          <a:p xmlns:a="http://schemas.openxmlformats.org/drawingml/2006/main">
            <a:r>
              <a:t>https://arxiv.org/abs/2405.14831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여러 방법이 나오지만 이름을 모두 외우실 필요는 없습니다. 문서를 넣을 때 무엇을 미리 만들어 두는지, 질문이 들어오면 그 구조에서 무엇을 찾는지에 집중해 주세요. 이것이 인덱싱과 검색의 차이입니다.</a:t>
            </a:r>
          </a:p>
          <a:p xmlns:a="http://schemas.openxmlformats.org/drawingml/2006/main">
            <a:r>
              <a:t/>
            </a:r>
          </a:p>
          <a:p xmlns:a="http://schemas.openxmlformats.org/drawingml/2006/main">
            <a:r>
              <a:t>검색한 결과 중 원문을 답변 모델에 주는지, 요약을 주는지, 작은 사실을 주는지도 비교하겠습니다. 결과가 틀렸다면 준비한 구조, 검색한 근거, 최종 답변 중 어디에서 문제가 생겼는지 나눠 볼 수 있습니다.</a:t>
            </a:r>
          </a:p>
          <a:p xmlns:a="http://schemas.openxmlformats.org/drawingml/2006/main">
            <a:r>
              <a:t/>
            </a:r>
          </a:p>
          <a:p xmlns:a="http://schemas.openxmlformats.org/drawingml/2006/main">
            <a:r>
              <a:t>각 장에서는 인덱싱과 검색 흐름을 함께 보면서 핵심 차이를 하나씩 짚겠습니다. 먼저 문서를 묶어 여러 층의 요약을 만드는 RAPTOR입니다.</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https://arxiv.org/abs/2404.16130</a:t>
            </a:r>
          </a:p>
          <a:p xmlns:a="http://schemas.openxmlformats.org/drawingml/2006/main">
            <a:r>
              <a:t>https://arxiv.org/abs/2410.05779</a:t>
            </a:r>
          </a:p>
          <a:p xmlns:a="http://schemas.openxmlformats.org/drawingml/2006/main">
            <a:r>
              <a:t>https://arxiv.org/abs/2405.14831</a:t>
            </a:r>
          </a:p>
          <a:p xmlns:a="http://schemas.openxmlformats.org/drawingml/2006/main">
            <a:r>
              <a:t>https://arxiv.org/abs/2502.14802</a:t>
            </a:r>
          </a:p>
          <a:p xmlns:a="http://schemas.openxmlformats.org/drawingml/2006/main">
            <a:r>
              <a:t>https://arxiv.org/abs/2502.09891</a:t>
            </a:r>
          </a:p>
          <a:p xmlns:a="http://schemas.openxmlformats.org/drawingml/2006/main">
            <a:r>
              <a:t>https://arxiv.org/abs/2510.10114</a:t>
            </a:r>
          </a:p>
          <a:p xmlns:a="http://schemas.openxmlformats.org/drawingml/2006/main">
            <a:r>
              <a:t>https://arxiv.org/abs/2604.20844</a:t>
            </a:r>
          </a:p>
          <a:p xmlns:a="http://schemas.openxmlformats.org/drawingml/2006/main">
            <a:r>
              <a:t>https://arxiv.org/abs/2501.06713</a:t>
            </a:r>
          </a:p>
          <a:p xmlns:a="http://schemas.openxmlformats.org/drawingml/2006/main">
            <a:r>
              <a:t>https://arxiv.org/abs/2502.01113</a:t>
            </a:r>
          </a:p>
          <a:p xmlns:a="http://schemas.openxmlformats.org/drawingml/2006/main">
            <a:r>
              <a:t>https://arxiv.org/abs/2509.24276</a:t>
            </a:r>
          </a:p>
          <a:p xmlns:a="http://schemas.openxmlformats.org/drawingml/2006/main">
            <a:r>
              <a:t>https://arxiv.org/abs/2510.12323</a:t>
            </a:r>
          </a:p>
          <a:p xmlns:a="http://schemas.openxmlformats.org/drawingml/2006/main">
            <a:r>
              <a:t>https://arxiv.org/abs/2506.05690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RAPTOR의 핵심은 원문만 저장하지 않고, 문서를 묶은 요약도 여러 층으로 저장한다는 점입니다. 세부 내용과 전체 내용을 서로 다른 크기로 볼 수 있게 만드는 거예요.</a:t>
            </a:r>
          </a:p>
          <a:p xmlns:a="http://schemas.openxmlformats.org/drawingml/2006/main">
            <a:r>
              <a:t/>
            </a:r>
          </a:p>
          <a:p xmlns:a="http://schemas.openxmlformats.org/drawingml/2006/main">
            <a:r>
              <a:t>인덱싱할 때는 문서를 조각으로 나누고 벡터로 바꿉니다. 비슷한 조각을 묶어 요약하고, 그 요약들을 다시 묶어 요약합니다. 이렇게 원문 조각부터 더 넓은 내용을 담은 요약까지 함께 준비합니다.</a:t>
            </a:r>
          </a:p>
          <a:p xmlns:a="http://schemas.openxmlformats.org/drawingml/2006/main">
            <a:r>
              <a:t/>
            </a:r>
          </a:p>
          <a:p xmlns:a="http://schemas.openxmlformats.org/drawingml/2006/main">
            <a:r>
              <a:t>질문이 오면 벡터를 이용해 관련 원문과 요약을 찾고, 선택한 근거를 읽어 답변합니다. 넓은 질문에는 요약이, 세부 질문에는 원문이 도움이 될 수 있겠죠. RAPTOR는 개체 관계를 추출하는 방식과는 다른 계층 검색의 비교 대상입니다.</a:t>
            </a:r>
          </a:p>
          <a:p xmlns:a="http://schemas.openxmlformats.org/drawingml/2006/main">
            <a:r>
              <a:t/>
            </a:r>
          </a:p>
          <a:p xmlns:a="http://schemas.openxmlformats.org/drawingml/2006/main">
            <a:r>
              <a:t>다음 Microsoft GraphRAG는 문서 조각 대신 연결된 개체들의 그룹을 중심으로 요약합니다. 무엇을 묶는지 비교해 보세요.</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https://github.com/parthsarthi03/raptor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Microsoft GraphRAG는 문서에서 개체와 관계를 추출해 그래프를 만들고, 연결된 개체들을 그룹으로 묶습니다. 이 그룹을 커뮤니티라고 부릅니다. 각 커뮤니티의 내용을 요약한 보고서도 미리 만들어 둡니다.</a:t>
            </a:r>
          </a:p>
          <a:p xmlns:a="http://schemas.openxmlformats.org/drawingml/2006/main">
            <a:r>
              <a:t/>
            </a:r>
          </a:p>
          <a:p xmlns:a="http://schemas.openxmlformats.org/drawingml/2006/main">
            <a:r>
              <a:t>여기서 전체 문서를 종합하는 Global Search는 커뮤니티 보고서를 읽어 부분 답변을 만들고, 그 결과를 합쳐 최종 답변을 작성합니다. 예를 들어 여러 장애 기록의 공통 원인을 묻는 질문에 이런 방식이 후보가 됩니다. 특정 개체 주변을 찾는 Local Search와는 구분해서 보시면 됩니다.</a:t>
            </a:r>
          </a:p>
          <a:p xmlns:a="http://schemas.openxmlformats.org/drawingml/2006/main">
            <a:r>
              <a:t/>
            </a:r>
          </a:p>
          <a:p xmlns:a="http://schemas.openxmlformats.org/drawingml/2006/main">
            <a:r>
              <a:t>핵심은 질문마다 모든 원문을 읽는 대신, 연결 구조와 미리 만든 요약을 활용한다는 점입니다. 대신 그래프와 보고서를 만드는 비용이 듭니다. 다음 ArchRAG에서는 관련 그룹을 어떻게 더 좁혀 찾는지 보겠습니다.</a:t>
            </a:r>
          </a:p>
          <a:p xmlns:a="http://schemas.openxmlformats.org/drawingml/2006/main">
            <a:r>
              <a:t/>
            </a:r>
          </a:p>
          <a:p xmlns:a="http://schemas.openxmlformats.org/drawingml/2006/main">
            <a:r>
              <a:t>출처</a:t>
            </a:r>
          </a:p>
          <a:p xmlns:a="http://schemas.openxmlformats.org/drawingml/2006/main">
            <a:r>
              <a:t>https://arxiv.org/abs/2404.16130</a:t>
            </a:r>
          </a:p>
          <a:p xmlns:a="http://schemas.openxmlformats.org/drawingml/2006/main">
            <a:r>
              <a:t>https://github.com/microsoft/graphrag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ArchRAG도 그룹과 계층을 활용하지만, 연결 구조와 의미 정보를 함께 고려해 그룹을 구성한다는 점에 주목해 주세요. 연결이 있다는 사실뿐 아니라 설명이 얼마나 비슷한지도 활용하는 겁니다.</a:t>
            </a:r>
          </a:p>
          <a:p xmlns:a="http://schemas.openxmlformats.org/drawingml/2006/main">
            <a:r>
              <a:t/>
            </a:r>
          </a:p>
          <a:p xmlns:a="http://schemas.openxmlformats.org/drawingml/2006/main">
            <a:r>
              <a:t>문서를 개체 그래프로 만들고, 개체의 설명과 특징을 벡터로 표현합니다. 이를 바탕으로 그룹을 구성하고 여러 층의 요약과 검색 구조를 준비합니다.</a:t>
            </a:r>
          </a:p>
          <a:p xmlns:a="http://schemas.openxmlformats.org/drawingml/2006/main">
            <a:r>
              <a:t/>
            </a:r>
          </a:p>
          <a:p xmlns:a="http://schemas.openxmlformats.org/drawingml/2006/main">
            <a:r>
              <a:t>질문이 오면 관련 그룹을 계층 구조에서 탐색하면서 후보를 좁힙니다. 골라낸 요약과 원문을 답변 근거로 사용하죠. 모든 그룹을 같은 비중으로 읽기보다 관련된 범위를 효율적으로 찾으려는 방향입니다.</a:t>
            </a:r>
          </a:p>
          <a:p xmlns:a="http://schemas.openxmlformats.org/drawingml/2006/main">
            <a:r>
              <a:t/>
            </a:r>
          </a:p>
          <a:p xmlns:a="http://schemas.openxmlformats.org/drawingml/2006/main">
            <a:r>
              <a:t>여기까지는 넓은 내용을 묶는 구조를 봤습니다. 이제 구체적인 개체와 관계를 검색하는 LightRAG로 넘어가겠습니다.</a:t>
            </a:r>
          </a:p>
          <a:p xmlns:a="http://schemas.openxmlformats.org/drawingml/2006/main">
            <a:r>
              <a:t/>
            </a:r>
          </a:p>
          <a:p xmlns:a="http://schemas.openxmlformats.org/drawingml/2006/main">
            <a:r>
              <a:t>출처</a:t>
            </a:r>
          </a:p>
          <a:p xmlns:a="http://schemas.openxmlformats.org/drawingml/2006/main">
            <a:r>
              <a:t>https://arxiv.org/abs/2502.09891</a:t>
            </a:r>
          </a:p>
          <a:p xmlns:a="http://schemas.openxmlformats.org/drawingml/2006/main">
            <a:r>
              <a:t>https://github.com/sam234990/ArchRAG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LightRAG의 핵심은 개체를 찾는 단서와 관계를 찾는 단서를 나눠 활용한다는 점입니다. 문서를 조각으로 나눈 뒤 개체와 관계를 추출하고, 중복된 설명을 합쳐 그래프와 벡터, 원문 위치를 저장합니다.</a:t>
            </a:r>
          </a:p>
          <a:p xmlns:a="http://schemas.openxmlformats.org/drawingml/2006/main">
            <a:r>
              <a:t/>
            </a:r>
          </a:p>
          <a:p xmlns:a="http://schemas.openxmlformats.org/drawingml/2006/main">
            <a:r>
              <a:t>검색할 때는 질문에서 구체적인 대상과 넓은 주제에 해당하는 키워드를 뽑습니다. 대상 키워드로 개체를 찾고, 주제 키워드로 관계를 찾은 뒤, 관련 연결과 원문을 모아 답변을 만듭니다. 사용하는 검색 모드에 따라 두 경로를 함께 활용할 수 있어요.</a:t>
            </a:r>
          </a:p>
          <a:p xmlns:a="http://schemas.openxmlformats.org/drawingml/2006/main">
            <a:r>
              <a:t/>
            </a:r>
          </a:p>
          <a:p xmlns:a="http://schemas.openxmlformats.org/drawingml/2006/main">
            <a:r>
              <a:t>예를 들어 배차시스템이라는 이름과 장애 의존성이라는 주제를 함께 활용하는 식입니다. 다음 HippoRAG에서는 찾은 개체 주변으로 관련도 점수를 퍼뜨려, 질문에 직접 나오지 않은 연결까지 찾는 방식을 보겠습니다.</a:t>
            </a:r>
          </a:p>
          <a:p xmlns:a="http://schemas.openxmlformats.org/drawingml/2006/main">
            <a:r>
              <a:t/>
            </a:r>
          </a:p>
          <a:p xmlns:a="http://schemas.openxmlformats.org/drawingml/2006/main">
            <a:r>
              <a:t>출처</a:t>
            </a:r>
          </a:p>
          <a:p xmlns:a="http://schemas.openxmlformats.org/drawingml/2006/main">
            <a:r>
              <a:t>https://arxiv.org/abs/2410.05779</a:t>
            </a:r>
          </a:p>
          <a:p xmlns:a="http://schemas.openxmlformats.org/drawingml/2006/main">
            <a:r>
              <a:t>https://github.com/HKUDS/LightRAG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HippoRAG는 질문에서 찾은 단서를 출발점으로 삼아 그래프에 관련도 점수를 퍼뜨립니다. 이때 사용하는 것이 PPR, 즉 Personalized PageRank입니다. 출발점으로 자주 돌아오면서 연결을 따라가는 과정을 생각하면 됩니다.</a:t>
            </a:r>
          </a:p>
          <a:p xmlns:a="http://schemas.openxmlformats.org/drawingml/2006/main">
            <a:r>
              <a:t/>
            </a:r>
          </a:p>
          <a:p xmlns:a="http://schemas.openxmlformats.org/drawingml/2006/main">
            <a:r>
              <a:t>미리 문서에서 개체와 관계를 추출하고, 같은 의미의 개체들을 연결합니다. 각 개체가 어느 원문 문단에 등장했는지도 저장해 둡니다.</a:t>
            </a:r>
          </a:p>
          <a:p xmlns:a="http://schemas.openxmlformats.org/drawingml/2006/main">
            <a:r>
              <a:t/>
            </a:r>
          </a:p>
          <a:p xmlns:a="http://schemas.openxmlformats.org/drawingml/2006/main">
            <a:r>
              <a:t>질문이 들어오면 질문 속 개체를 그래프와 맞추고, 그 개체에서 시작하는 PPR 점수를 계산합니다. 개체 점수를 원문 문단의 관련도에 반영해 상위 문단을 가져오고 답변합니다. LLM이 연결 하나마다 다음 이동을 선택하는 방식은 아니에요.</a:t>
            </a:r>
          </a:p>
          <a:p xmlns:a="http://schemas.openxmlformats.org/drawingml/2006/main">
            <a:r>
              <a:t/>
            </a:r>
          </a:p>
          <a:p xmlns:a="http://schemas.openxmlformats.org/drawingml/2006/main">
            <a:r>
              <a:t>핵심은 직접 일치한 개체뿐 아니라 그 주변의 연결도 검색에 활용한다는 점입니다. 다음 HippoRAG 2는 여기에 원문 문맥을 더 직접적으로 연결합니다.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HippoRAG 2는 개념 사이의 연결과 원문 문단의 정보를 함께 활용합니다. 개체 이름만 맞추면 놓칠 수 있는 문맥을 검색에 반영하려는 방향입니다.</a:t>
            </a:r>
          </a:p>
          <a:p xmlns:a="http://schemas.openxmlformats.org/drawingml/2006/main">
            <a:r>
              <a:t/>
            </a:r>
          </a:p>
          <a:p xmlns:a="http://schemas.openxmlformats.org/drawingml/2006/main">
            <a:r>
              <a:t>인덱싱할 때 개념 표현과 관계를 추출하고, 비슷한 표현들을 연결합니다. 여기에 원문 문단도 그래프에 연결하고 검색에 쓸 벡터를 준비합니다.</a:t>
            </a:r>
          </a:p>
          <a:p xmlns:a="http://schemas.openxmlformats.org/drawingml/2006/main">
            <a:r>
              <a:t/>
            </a:r>
          </a:p>
          <a:p xmlns:a="http://schemas.openxmlformats.org/drawingml/2006/main">
            <a:r>
              <a:t>질문이 오면 관련 관계 후보를 찾고, LLM으로 관련성을 걸러냅니다. 남은 관계와 원문 정보를 바탕으로 출발점을 정한 뒤 PPR을 적용하고, 상위 원문을 답변 모델에 전달합니다. 후보를 거르는 과정과 그래프 점수 계산이 서로 다른 역할을 한다는 점을 보시면 됩니다.</a:t>
            </a:r>
          </a:p>
          <a:p xmlns:a="http://schemas.openxmlformats.org/drawingml/2006/main">
            <a:r>
              <a:t/>
            </a:r>
          </a:p>
          <a:p xmlns:a="http://schemas.openxmlformats.org/drawingml/2006/main">
            <a:r>
              <a:t>다음 LinearRAG는 관계 이름을 추출하는 부담을 줄이고, 개체가 등장한 위치를 활용하는 방향입니다.</a:t>
            </a:r>
          </a:p>
          <a:p xmlns:a="http://schemas.openxmlformats.org/drawingml/2006/main">
            <a:r>
              <a:t/>
            </a:r>
          </a:p>
          <a:p xmlns:a="http://schemas.openxmlformats.org/drawingml/2006/main">
            <a:r>
              <a:t>출처</a:t>
            </a:r>
          </a:p>
          <a:p xmlns:a="http://schemas.openxmlformats.org/drawingml/2006/main">
            <a:r>
              <a:t>https://arxiv.org/abs/2502.14802</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LinearRAG는 ‘의존한다’ 같은 관계 이름을 모두 추출하기보다, 어떤 개체가 어느 문장과 문단에 나왔는지 활용합니다. 개체의 출현 위치가 검색을 이어 주는 단서가 되는 거예요.</a:t>
            </a:r>
          </a:p>
          <a:p xmlns:a="http://schemas.openxmlformats.org/drawingml/2006/main">
            <a:r>
              <a:t/>
            </a:r>
          </a:p>
          <a:p xmlns:a="http://schemas.openxmlformats.org/drawingml/2006/main">
            <a:r>
              <a:t>문서를 문장과 문단으로 나누고 개체를 찾습니다. 그런 다음 개체와 문장, 문단의 연결을 저장합니다. 이름이 붙은 관계 트리플을 만드는 방식과 이 부분이 다릅니다.</a:t>
            </a:r>
          </a:p>
          <a:p xmlns:a="http://schemas.openxmlformats.org/drawingml/2006/main">
            <a:r>
              <a:t/>
            </a:r>
          </a:p>
          <a:p xmlns:a="http://schemas.openxmlformats.org/drawingml/2006/main">
            <a:r>
              <a:t>검색할 때는 질문 속 개체와 비슷한 문장을 찾습니다. 여기서 얻은 단서를 보강하고 그래프를 통해 관련도를 확산시켜 문단을 정렬합니다. 상위 원문을 가져와 답변하므로, 단순히 개체 이름만 일치시키고 끝나는 검색은 아닙니다.</a:t>
            </a:r>
          </a:p>
          <a:p xmlns:a="http://schemas.openxmlformats.org/drawingml/2006/main">
            <a:r>
              <a:t/>
            </a:r>
          </a:p>
          <a:p xmlns:a="http://schemas.openxmlformats.org/drawingml/2006/main">
            <a:r>
              <a:t>이번에는 검색할 정보의 크기를 바꿔 보겠습니다. AtomicRAG는 긴 문단을 작은 사실로 나눕니다.</a:t>
            </a:r>
          </a:p>
          <a:p xmlns:a="http://schemas.openxmlformats.org/drawingml/2006/main">
            <a:r>
              <a:t/>
            </a:r>
          </a:p>
          <a:p xmlns:a="http://schemas.openxmlformats.org/drawingml/2006/main">
            <a:r>
              <a:t>출처</a:t>
            </a:r>
          </a:p>
          <a:p xmlns:a="http://schemas.openxmlformats.org/drawingml/2006/main">
            <a:r>
              <a:t>https://arxiv.org/abs/2510.10114</a:t>
            </a:r>
          </a:p>
          <a:p xmlns:a="http://schemas.openxmlformats.org/drawingml/2006/main">
            <a:r>
              <a:t>https://github.com/DEEP-PolyU/LinearRAG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AtomicRAG는 문서에서 독립적으로 이해할 수 있는 작은 사실을 검색 단위로 만듭니다. 긴 문단에 여러 내용이 섞여 있을 때 필요한 사실을 더 구체적으로 고르려는 접근입니다.</a:t>
            </a:r>
          </a:p>
          <a:p xmlns:a="http://schemas.openxmlformats.org/drawingml/2006/main">
            <a:r>
              <a:t/>
            </a:r>
          </a:p>
          <a:p xmlns:a="http://schemas.openxmlformats.org/drawingml/2006/main">
            <a:r>
              <a:t>인덱싱에서는 문서를 작은 사실로 나누고, 각 사실에 등장하는 개체와 연결합니다. 어떤 원문에서 나온 사실인지도 함께 저장해야 나중에 내용을 확인할 수 있습니다.</a:t>
            </a:r>
          </a:p>
          <a:p xmlns:a="http://schemas.openxmlformats.org/drawingml/2006/main">
            <a:r>
              <a:t/>
            </a:r>
          </a:p>
          <a:p xmlns:a="http://schemas.openxmlformats.org/drawingml/2006/main">
            <a:r>
              <a:t>질문이 오면 관련 사실과 개체를 찾고, 필요하면 질문을 나누거나 그래프의 관련도 확산으로 후보를 넓힙니다. 그중 중복되거나 무관한 사실을 걸러 답변 근거로 사용합니다. 작은 사실로 나누는 과정에서 원문의 조건이나 맥락을 잃지 않았는지도 확인해야 해요.</a:t>
            </a:r>
          </a:p>
          <a:p xmlns:a="http://schemas.openxmlformats.org/drawingml/2006/main">
            <a:r>
              <a:t/>
            </a:r>
          </a:p>
          <a:p xmlns:a="http://schemas.openxmlformats.org/drawingml/2006/main">
            <a:r>
              <a:t>다음 MiniRAG는 작은 언어 모델이 활용할 근거를 어떻게 찾을지에 초점을 맞춥니다.</a:t>
            </a:r>
          </a:p>
          <a:p xmlns:a="http://schemas.openxmlformats.org/drawingml/2006/main">
            <a:r>
              <a:t/>
            </a:r>
          </a:p>
          <a:p xmlns:a="http://schemas.openxmlformats.org/drawingml/2006/main">
            <a:r>
              <a:t>출처</a:t>
            </a:r>
          </a:p>
          <a:p xmlns:a="http://schemas.openxmlformats.org/drawingml/2006/main">
            <a:r>
              <a:t>https://arxiv.org/abs/2604.20844</a:t>
            </a:r>
          </a:p>
          <a:p xmlns:a="http://schemas.openxmlformats.org/drawingml/2006/main">
            <a:r>
              <a:t>https://github.com/7HHHHH/AtomicRAG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MiniRAG는 작은 언어 모델을 활용하는 상황을 고려해 검색 구조를 설계합니다. 핵심은 개체만 따로 두는 것이 아니라, 개체와 원문 조각을 함께 연결해 검색한다는 점입니다.</a:t>
            </a:r>
          </a:p>
          <a:p xmlns:a="http://schemas.openxmlformats.org/drawingml/2006/main">
            <a:r>
              <a:t/>
            </a:r>
          </a:p>
          <a:p xmlns:a="http://schemas.openxmlformats.org/drawingml/2006/main">
            <a:r>
              <a:t>문서를 조각으로 나누고 개체를 추출한 뒤, 개체와 원문 사이의 연결을 저장합니다. 검색할 때는 질문 속 개체와 어떤 종류의 답을 원하는지 파악합니다. 예를 들어 시스템을 묻는지, 담당 조직을 묻는지 보는 거예요.</a:t>
            </a:r>
          </a:p>
          <a:p xmlns:a="http://schemas.openxmlformats.org/drawingml/2006/main">
            <a:r>
              <a:t/>
            </a:r>
          </a:p>
          <a:p xmlns:a="http://schemas.openxmlformats.org/drawingml/2006/main">
            <a:r>
              <a:t>이 단서로 후보를 찾고 연결 경로를 탐색해 관련 원문을 고릅니다. 작은 모델이 읽을 근거를 구성하는 과정이라고 보시면 됩니다. 항상 성능이 더 좋거나 비용이 더 적다는 뜻은 아니므로 실제 질문으로 비교해야 합니다.</a:t>
            </a:r>
          </a:p>
          <a:p xmlns:a="http://schemas.openxmlformats.org/drawingml/2006/main">
            <a:r>
              <a:t/>
            </a:r>
          </a:p>
          <a:p xmlns:a="http://schemas.openxmlformats.org/drawingml/2006/main">
            <a:r>
              <a:t>이제부터는 관련도를 계산하는 방법 자체를 학습하는 접근을 보겠습니다. 먼저 GFM-RAG입니다.</a:t>
            </a:r>
          </a:p>
          <a:p xmlns:a="http://schemas.openxmlformats.org/drawingml/2006/main">
            <a:r>
              <a:t/>
            </a:r>
          </a:p>
          <a:p xmlns:a="http://schemas.openxmlformats.org/drawingml/2006/main">
            <a:r>
              <a:t>출처</a:t>
            </a:r>
          </a:p>
          <a:p xmlns:a="http://schemas.openxmlformats.org/drawingml/2006/main">
            <a:r>
              <a:t>https://arxiv.org/abs/2501.06713</a:t>
            </a:r>
          </a:p>
          <a:p xmlns:a="http://schemas.openxmlformats.org/drawingml/2006/main">
            <a:r>
              <a:t>https://github.com/HKUDS/MiniRAG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GFM-RAG는 그래프에서 어떤 개체와 문서가 질문에 중요한지 학습 모델로 점수를 계산합니다. 앞서 본 PPR처럼 정해진 확산 규칙만 사용하는 방식과 비교해 볼 수 있습니다.</a:t>
            </a:r>
          </a:p>
          <a:p xmlns:a="http://schemas.openxmlformats.org/drawingml/2006/main">
            <a:r>
              <a:t/>
            </a:r>
          </a:p>
          <a:p xmlns:a="http://schemas.openxmlformats.org/drawingml/2006/main">
            <a:r>
              <a:t>문서에서 지식 그래프를 만들고, 개체와 관계, 원문 문서가 어떻게 연결되는지 저장합니다. 그래프를 모델이 읽을 형태로 바꾸고, 학습된 검색 모델을 적용할 준비를 합니다. 이 그림의 준비 과정과 모델을 학습하는 과정은 구분해서 보시면 됩니다.</a:t>
            </a:r>
          </a:p>
          <a:p xmlns:a="http://schemas.openxmlformats.org/drawingml/2006/main">
            <a:r>
              <a:t/>
            </a:r>
          </a:p>
          <a:p xmlns:a="http://schemas.openxmlformats.org/drawingml/2006/main">
            <a:r>
              <a:t>질문이 오면 관련 개체를 연결하고, 질문 정보를 반영한 GNN을 실행합니다. GNN은 이웃의 정보를 주고받으며 개체 점수를 계산하고, 이 점수를 문서 순위에 반영합니다. 최종 답변은 검색한 문서를 읽고 작성합니다.</a:t>
            </a:r>
          </a:p>
          <a:p xmlns:a="http://schemas.openxmlformats.org/drawingml/2006/main">
            <a:r>
              <a:t/>
            </a:r>
          </a:p>
          <a:p xmlns:a="http://schemas.openxmlformats.org/drawingml/2006/main">
            <a:r>
              <a:t>다음 G-reasoner는 개체 관계에 더해 속성과 문서, 그룹 정보까지 연결하는 구조를 보겠습니다.</a:t>
            </a:r>
          </a:p>
          <a:p xmlns:a="http://schemas.openxmlformats.org/drawingml/2006/main">
            <a:r>
              <a:t/>
            </a:r>
          </a:p>
          <a:p xmlns:a="http://schemas.openxmlformats.org/drawingml/2006/main">
            <a:r>
              <a:t>출처</a:t>
            </a:r>
          </a:p>
          <a:p xmlns:a="http://schemas.openxmlformats.org/drawingml/2006/main">
            <a:r>
              <a:t>https://arxiv.org/abs/2502.01113</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G-reasoner에서는 서로 다른 종류의 정보를 한 그래프 안에서 함께 활용한다는 점을 보시면 됩니다. 개체 사이의 관계에 원문 문서, 개체의 속성, 그룹 정보를 연결합니다. 이 통합 구조를 QuadGraph라고 부릅니다.</a:t>
            </a:r>
          </a:p>
          <a:p xmlns:a="http://schemas.openxmlformats.org/drawingml/2006/main">
            <a:r>
              <a:t/>
            </a:r>
          </a:p>
          <a:p xmlns:a="http://schemas.openxmlformats.org/drawingml/2006/main">
            <a:r>
              <a:t>인덱싱에서는 이 정보들을 준비해 서로 연결합니다. 질문이 들어오면 질문을 벡터로 표현하고, 학습 모델이 그래프의 정보를 전달하면서 관련 노드와 문서의 점수를 계산합니다. 그 결과에서 필요한 근거를 골라 답변합니다.</a:t>
            </a:r>
          </a:p>
          <a:p xmlns:a="http://schemas.openxmlformats.org/drawingml/2006/main">
            <a:r>
              <a:t/>
            </a:r>
          </a:p>
          <a:p xmlns:a="http://schemas.openxmlformats.org/drawingml/2006/main">
            <a:r>
              <a:t>관계 하나만 보는 대신 여러 종류의 단서를 활용하려는 접근이에요. 다만 구조가 다양해지는 만큼 각 정보의 품질과 연결이 맞는지도 확인해야 합니다. 웹 실습은 핵심 아이디어를 보여 주는 축소 예제이며, 학습 모델 전체를 재현한 것은 아닙니다.</a:t>
            </a:r>
          </a:p>
          <a:p xmlns:a="http://schemas.openxmlformats.org/drawingml/2006/main">
            <a:r>
              <a:t/>
            </a:r>
          </a:p>
          <a:p xmlns:a="http://schemas.openxmlformats.org/drawingml/2006/main">
            <a:r>
              <a:t>지금까지는 주로 글에서 얻은 정보를 봤습니다. 다음에는 표와 그림까지 다루는 RAG-Anything으로 넘어가겠습니다.</a:t>
            </a:r>
          </a:p>
          <a:p xmlns:a="http://schemas.openxmlformats.org/drawingml/2006/main">
            <a:r>
              <a:t/>
            </a:r>
          </a:p>
          <a:p xmlns:a="http://schemas.openxmlformats.org/drawingml/2006/main">
            <a:r>
              <a:t>출처</a:t>
            </a:r>
          </a:p>
          <a:p xmlns:a="http://schemas.openxmlformats.org/drawingml/2006/main">
            <a:r>
              <a:t>https://arxiv.org/abs/2509.24276</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RAG-Anything은 문서에 글뿐 아니라 표와 그림도 있다는 점에서 출발합니다. 예를 들어 시스템 이름은 본문에 있고, 처리량은 표에, 연결 구조는 그림에 있을 수 있겠죠.</a:t>
            </a:r>
          </a:p>
          <a:p xmlns:a="http://schemas.openxmlformats.org/drawingml/2006/main">
            <a:r>
              <a:t/>
            </a:r>
          </a:p>
          <a:p xmlns:a="http://schemas.openxmlformats.org/drawingml/2006/main">
            <a:r>
              <a:t>인덱싱에서는 문서의 요소를 읽고 종류에 맞게 내용을 설명하거나 정리합니다. 그런 다음 서로 관련된 요소를 연결해 그래프와 벡터 검색 구조를 만듭니다.</a:t>
            </a:r>
          </a:p>
          <a:p xmlns:a="http://schemas.openxmlformats.org/drawingml/2006/main">
            <a:r>
              <a:t/>
            </a:r>
          </a:p>
          <a:p xmlns:a="http://schemas.openxmlformats.org/drawingml/2006/main">
            <a:r>
              <a:t>질문이 오면 관련 개체와 관계를 찾고, 필요한 글과 표, 그림을 함께 가져옵니다. 모은 근거를 언어 모델이나 시각 정보를 처리하는 모델이 읽어 답변합니다. 따라서 단순히 이미지 파일을 저장하는 것을 넘어, 그 내용과 다른 근거의 연결을 만드는 과정이 중요합니다.</a:t>
            </a:r>
          </a:p>
          <a:p xmlns:a="http://schemas.openxmlformats.org/drawingml/2006/main">
            <a:r>
              <a:t/>
            </a:r>
          </a:p>
          <a:p xmlns:a="http://schemas.openxmlformats.org/drawingml/2006/main">
            <a:r>
              <a:t>다양한 구조를 봤으니 마지막으로 정리해 볼게요. 언제 이런 준비 비용을 들일 가치가 있을까요?</a:t>
            </a:r>
          </a:p>
          <a:p xmlns:a="http://schemas.openxmlformats.org/drawingml/2006/main">
            <a:r>
              <a:t/>
            </a:r>
          </a:p>
          <a:p xmlns:a="http://schemas.openxmlformats.org/drawingml/2006/main">
            <a:r>
              <a:t>출처</a:t>
            </a:r>
          </a:p>
          <a:p xmlns:a="http://schemas.openxmlformats.org/drawingml/2006/main">
            <a:r>
              <a:t>https://arxiv.org/abs/2510.12323</a:t>
            </a:r>
          </a:p>
          <a:p xmlns:a="http://schemas.openxmlformats.org/drawingml/2006/main">
            <a:r>
              <a:t>https://github.com/HKUDS/RAG-Anything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GraphRAG를 검토할 이유가 있는 질문부터 생각해 보겠습니다. 서비스와 장애, 담당 팀처럼 여러 문서의 관계를 이어야 답이 나온다면 그래프 검색이 후보가 됩니다. 문서 전체의 반복 원인이나 공통 주제를 물을 때는 커뮤니티 요약을 활용하는 방식도 검토할 수 있습니다. 질문에 맞는 구조를 골라야 하는 거예요.</a:t>
            </a:r>
          </a:p>
          <a:p xmlns:a="http://schemas.openxmlformats.org/drawingml/2006/main">
            <a:r>
              <a:t/>
            </a:r>
          </a:p>
          <a:p xmlns:a="http://schemas.openxmlformats.org/drawingml/2006/main">
            <a:r>
              <a:t>반대로 환불 기한처럼 한 문서에 답이 명확하게 적혀 있다면 일반 RAG부터 시작하면 됩니다. 관계 추출이 부정확하거나 문서가 자주 바뀌면 그래프를 만들고 갱신하는 부담도 커집니다. 단순한 관계 조회라면 기존 데이터베이스 질의로 충분할 수도 있고요.</a:t>
            </a:r>
          </a:p>
          <a:p xmlns:a="http://schemas.openxmlformats.org/drawingml/2006/main">
            <a:r>
              <a:t/>
            </a:r>
          </a:p>
          <a:p xmlns:a="http://schemas.openxmlformats.org/drawingml/2006/main">
            <a:r>
              <a:t>도입 여부는 같은 질문으로 비교해 결정하겠습니다. 근거가 맞는지와 답변이 맞는지를 따로 보고, 응답 시간과 색인 구축·갱신 비용도 함께 확인합니다. 이제 실습에서는 관계를 이어야 하는 질문과 한 문서로 충분한 질문을 각각 넣어 보고, 어떤 차이가 나는지 직접 확인해 주세요.</a:t>
            </a:r>
          </a:p>
          <a:p xmlns:a="http://schemas.openxmlformats.org/drawingml/2006/main">
            <a:r>
              <a:t/>
            </a:r>
          </a:p>
          <a:p xmlns:a="http://schemas.openxmlformats.org/drawingml/2006/main">
            <a:r>
              <a:t>출처</a:t>
            </a:r>
          </a:p>
          <a:p xmlns:a="http://schemas.openxmlformats.org/drawingml/2006/main">
            <a:r>
              <a:t>https://arxiv.org/abs/2506.05690</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a00077f2b6b44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a7e899451af41c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e19b8c390b44c0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358a6ac8377488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d880ebeafb74a2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e8b2f216a0845c6"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2.xml" Id="R03027215b03d45fd"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2.xml" Id="R72e0f9a523de4b12"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2.xml" Id="Rca905869152e49fb"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2.xml" Id="R740ded877b694713"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2.xml" Id="Re11361d4ae604655"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2.xml" Id="Rbad96a2e5c5f447a"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3.xml" Id="R6350a25dc77e46d4"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3.xml" Id="R22b7a7cd52b24866"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3.xml" Id="R9644b60889e64d6b"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3.xml" Id="Rba5f96ceea4a4107"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3.xml" Id="R3a8983ae13df4687"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3.xml" Id="R4e0622c4f08a42b4"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4.xml" Id="Rfb0d5eb69a4d403e"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4.xml" Id="R0096fb08569b4804"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4.xml" Id="R2fc2e6a8dfbf4b59"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4.xml" Id="R8cdd674cc21948bf"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4.xml" Id="R24359ee21eb04be8" /></Relationships>
</file>

<file path=ppt/slideLayouts/_rels/slideLayout24.xml.rels>&#65279;<?xml version="1.0" encoding="utf-8"?><Relationships xmlns="http://schemas.openxmlformats.org/package/2006/relationships"><Relationship Type="http://schemas.openxmlformats.org/officeDocument/2006/relationships/slideMaster" Target="/ppt/slideMasters/slideMaster4.xml" Id="R8a236c940cce448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7.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8.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9.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0.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11.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2.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13.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14.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15.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6.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17.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8.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19.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0.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21.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22.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23.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24.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e04876da2ce436a" /><Relationship Type="http://schemas.openxmlformats.org/officeDocument/2006/relationships/slideLayout" Target="/ppt/slideLayouts/slideLayout1.xml" Id="R5a01a37420384528" /><Relationship Type="http://schemas.openxmlformats.org/officeDocument/2006/relationships/slideLayout" Target="/ppt/slideLayouts/slideLayout2.xml" Id="R24475be2ca794c71" /><Relationship Type="http://schemas.openxmlformats.org/officeDocument/2006/relationships/slideLayout" Target="/ppt/slideLayouts/slideLayout3.xml" Id="Ref7251ac124841e2" /><Relationship Type="http://schemas.openxmlformats.org/officeDocument/2006/relationships/slideLayout" Target="/ppt/slideLayouts/slideLayout4.xml" Id="R6262b9e5e3d44c7d" /><Relationship Type="http://schemas.openxmlformats.org/officeDocument/2006/relationships/slideLayout" Target="/ppt/slideLayouts/slideLayout5.xml" Id="R6f620d7ce7d74ab2" /><Relationship Type="http://schemas.openxmlformats.org/officeDocument/2006/relationships/slideLayout" Target="/ppt/slideLayouts/slideLayout6.xml" Id="R22af7b74293d4d35"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bc0c775369ae4476" /><Relationship Type="http://schemas.openxmlformats.org/officeDocument/2006/relationships/slideLayout" Target="/ppt/slideLayouts/slideLayout7.xml" Id="R164afdc4685c4d30" /><Relationship Type="http://schemas.openxmlformats.org/officeDocument/2006/relationships/slideLayout" Target="/ppt/slideLayouts/slideLayout8.xml" Id="Ra6d8eb73003f4c3d" /><Relationship Type="http://schemas.openxmlformats.org/officeDocument/2006/relationships/slideLayout" Target="/ppt/slideLayouts/slideLayout9.xml" Id="Rd69cc828732f4316" /><Relationship Type="http://schemas.openxmlformats.org/officeDocument/2006/relationships/slideLayout" Target="/ppt/slideLayouts/slideLayout10.xml" Id="R7ea3dc09106a49c1" /><Relationship Type="http://schemas.openxmlformats.org/officeDocument/2006/relationships/slideLayout" Target="/ppt/slideLayouts/slideLayout11.xml" Id="Rfed709b69ba34aaa" /><Relationship Type="http://schemas.openxmlformats.org/officeDocument/2006/relationships/slideLayout" Target="/ppt/slideLayouts/slideLayout12.xml" Id="R3a54a1582a264c8c" /></Relationships>
</file>

<file path=ppt/slideMasters/_rels/slideMaster3.xml.rels>&#65279;<?xml version="1.0" encoding="utf-8"?><Relationships xmlns="http://schemas.openxmlformats.org/package/2006/relationships"><Relationship Type="http://schemas.openxmlformats.org/officeDocument/2006/relationships/theme" Target="/ppt/slideMasters/theme/theme4.xml" Id="Re7991e40907940f6" /><Relationship Type="http://schemas.openxmlformats.org/officeDocument/2006/relationships/slideLayout" Target="/ppt/slideLayouts/slideLayout13.xml" Id="R238de74cf3fb4cf6" /><Relationship Type="http://schemas.openxmlformats.org/officeDocument/2006/relationships/slideLayout" Target="/ppt/slideLayouts/slideLayout14.xml" Id="Re14fa963844d4463" /><Relationship Type="http://schemas.openxmlformats.org/officeDocument/2006/relationships/slideLayout" Target="/ppt/slideLayouts/slideLayout15.xml" Id="R4ea179d58b834f98" /><Relationship Type="http://schemas.openxmlformats.org/officeDocument/2006/relationships/slideLayout" Target="/ppt/slideLayouts/slideLayout16.xml" Id="Rde8d61c4d4f84f7c" /><Relationship Type="http://schemas.openxmlformats.org/officeDocument/2006/relationships/slideLayout" Target="/ppt/slideLayouts/slideLayout17.xml" Id="R9ddab4eb74394ef2" /><Relationship Type="http://schemas.openxmlformats.org/officeDocument/2006/relationships/slideLayout" Target="/ppt/slideLayouts/slideLayout18.xml" Id="Rc9693d3650484b23" /></Relationships>
</file>

<file path=ppt/slideMasters/_rels/slideMaster4.xml.rels>&#65279;<?xml version="1.0" encoding="utf-8"?><Relationships xmlns="http://schemas.openxmlformats.org/package/2006/relationships"><Relationship Type="http://schemas.openxmlformats.org/officeDocument/2006/relationships/theme" Target="/ppt/slideMasters/theme/theme5.xml" Id="R0d255567e90b4376" /><Relationship Type="http://schemas.openxmlformats.org/officeDocument/2006/relationships/slideLayout" Target="/ppt/slideLayouts/slideLayout19.xml" Id="Rb8c7b1067f5a4f74" /><Relationship Type="http://schemas.openxmlformats.org/officeDocument/2006/relationships/slideLayout" Target="/ppt/slideLayouts/slideLayout20.xml" Id="R740aedf70efb4a94" /><Relationship Type="http://schemas.openxmlformats.org/officeDocument/2006/relationships/slideLayout" Target="/ppt/slideLayouts/slideLayout21.xml" Id="R624aa44654fd4dd4" /><Relationship Type="http://schemas.openxmlformats.org/officeDocument/2006/relationships/slideLayout" Target="/ppt/slideLayouts/slideLayout22.xml" Id="Rf533e300eb6441c4" /><Relationship Type="http://schemas.openxmlformats.org/officeDocument/2006/relationships/slideLayout" Target="/ppt/slideLayouts/slideLayout23.xml" Id="R76749efc57d04eab" /><Relationship Type="http://schemas.openxmlformats.org/officeDocument/2006/relationships/slideLayout" Target="/ppt/slideLayouts/slideLayout24.xml" Id="Rd537302652c844a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a01a37420384528"/>
    <p:sldLayoutId xmlns:r="http://schemas.openxmlformats.org/officeDocument/2006/relationships" id="2147483650" r:id="R24475be2ca794c71"/>
    <p:sldLayoutId xmlns:r="http://schemas.openxmlformats.org/officeDocument/2006/relationships" id="2147483651" r:id="Ref7251ac124841e2"/>
    <p:sldLayoutId xmlns:r="http://schemas.openxmlformats.org/officeDocument/2006/relationships" id="2147483652" r:id="R6262b9e5e3d44c7d"/>
    <p:sldLayoutId xmlns:r="http://schemas.openxmlformats.org/officeDocument/2006/relationships" id="2147483653" r:id="R6f620d7ce7d74ab2"/>
    <p:sldLayoutId xmlns:r="http://schemas.openxmlformats.org/officeDocument/2006/relationships" id="2147483654" r:id="R22af7b74293d4d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2.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6" r:id="R164afdc4685c4d30"/>
    <p:sldLayoutId xmlns:r="http://schemas.openxmlformats.org/officeDocument/2006/relationships" id="2147483657" r:id="Ra6d8eb73003f4c3d"/>
    <p:sldLayoutId xmlns:r="http://schemas.openxmlformats.org/officeDocument/2006/relationships" id="2147483658" r:id="Rd69cc828732f4316"/>
    <p:sldLayoutId xmlns:r="http://schemas.openxmlformats.org/officeDocument/2006/relationships" id="2147483659" r:id="R7ea3dc09106a49c1"/>
    <p:sldLayoutId xmlns:r="http://schemas.openxmlformats.org/officeDocument/2006/relationships" id="2147483660" r:id="Rfed709b69ba34aaa"/>
    <p:sldLayoutId xmlns:r="http://schemas.openxmlformats.org/officeDocument/2006/relationships" id="2147483661" r:id="R3a54a1582a264c8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3.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63" r:id="R238de74cf3fb4cf6"/>
    <p:sldLayoutId xmlns:r="http://schemas.openxmlformats.org/officeDocument/2006/relationships" id="2147483664" r:id="Re14fa963844d4463"/>
    <p:sldLayoutId xmlns:r="http://schemas.openxmlformats.org/officeDocument/2006/relationships" id="2147483665" r:id="R4ea179d58b834f98"/>
    <p:sldLayoutId xmlns:r="http://schemas.openxmlformats.org/officeDocument/2006/relationships" id="2147483666" r:id="Rde8d61c4d4f84f7c"/>
    <p:sldLayoutId xmlns:r="http://schemas.openxmlformats.org/officeDocument/2006/relationships" id="2147483667" r:id="R9ddab4eb74394ef2"/>
    <p:sldLayoutId xmlns:r="http://schemas.openxmlformats.org/officeDocument/2006/relationships" id="2147483668" r:id="Rc9693d3650484b2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4.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70" r:id="Rb8c7b1067f5a4f74"/>
    <p:sldLayoutId xmlns:r="http://schemas.openxmlformats.org/officeDocument/2006/relationships" id="2147483671" r:id="R740aedf70efb4a94"/>
    <p:sldLayoutId xmlns:r="http://schemas.openxmlformats.org/officeDocument/2006/relationships" id="2147483672" r:id="R624aa44654fd4dd4"/>
    <p:sldLayoutId xmlns:r="http://schemas.openxmlformats.org/officeDocument/2006/relationships" id="2147483673" r:id="Rf533e300eb6441c4"/>
    <p:sldLayoutId xmlns:r="http://schemas.openxmlformats.org/officeDocument/2006/relationships" id="2147483674" r:id="R76749efc57d04eab"/>
    <p:sldLayoutId xmlns:r="http://schemas.openxmlformats.org/officeDocument/2006/relationships" id="2147483675" r:id="Rd537302652c844a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5.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3dc2df9592b4fbb" /><Relationship Type="http://schemas.openxmlformats.org/officeDocument/2006/relationships/notesSlide" Target="/ppt/notesSlides/notesSlide1.xml" Id="Rbcb59f4dffb240c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d4e44dbef114a94" /><Relationship Type="http://schemas.openxmlformats.org/officeDocument/2006/relationships/notesSlide" Target="/ppt/notesSlides/notesSlide2.xml" Id="R71c8546f01044fc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3ea640adca144c0" /><Relationship Type="http://schemas.openxmlformats.org/officeDocument/2006/relationships/notesSlide" Target="/ppt/notesSlides/notesSlide3.xml" Id="R8d99dcba9df445f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d714838c0fd4231" /><Relationship Type="http://schemas.openxmlformats.org/officeDocument/2006/relationships/notesSlide" Target="/ppt/notesSlides/notesSlide4.xml" Id="R4ef4e064a156442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43a02d411cf4dbd" /><Relationship Type="http://schemas.openxmlformats.org/officeDocument/2006/relationships/notesSlide" Target="/ppt/notesSlides/notesSlide5.xml" Id="Rc06788d2ae9946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55b60b661b54561" /><Relationship Type="http://schemas.openxmlformats.org/officeDocument/2006/relationships/notesSlide" Target="/ppt/notesSlides/notesSlide6.xml" Id="R44d8795e815a46f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57c202fb518478b" /><Relationship Type="http://schemas.openxmlformats.org/officeDocument/2006/relationships/notesSlide" Target="/ppt/notesSlides/notesSlide7.xml" Id="R3d2e73c675f8412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f0807b211f54664" /><Relationship Type="http://schemas.openxmlformats.org/officeDocument/2006/relationships/notesSlide" Target="/ppt/notesSlides/notesSlide8.xml" Id="R347a34a09dcd46b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b48cfd275b74cf4" /><Relationship Type="http://schemas.openxmlformats.org/officeDocument/2006/relationships/notesSlide" Target="/ppt/notesSlides/notesSlide9.xml" Id="R02a31e6374ca438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e69cb55083a4b70" /><Relationship Type="http://schemas.openxmlformats.org/officeDocument/2006/relationships/notesSlide" Target="/ppt/notesSlides/notesSlide10.xml" Id="Rc01b17c42bc6455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01424406f2e4c5c" /><Relationship Type="http://schemas.openxmlformats.org/officeDocument/2006/relationships/notesSlide" Target="/ppt/notesSlides/notesSlide11.xml" Id="R59a47ed25c37471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886625201314e38" /><Relationship Type="http://schemas.openxmlformats.org/officeDocument/2006/relationships/notesSlide" Target="/ppt/notesSlides/notesSlide12.xml" Id="R965e7dd927c445c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87e6d2a55224d0b" /><Relationship Type="http://schemas.openxmlformats.org/officeDocument/2006/relationships/notesSlide" Target="/ppt/notesSlides/notesSlide13.xml" Id="R9eed647b491d498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b25f92161f84ef8" /><Relationship Type="http://schemas.openxmlformats.org/officeDocument/2006/relationships/notesSlide" Target="/ppt/notesSlides/notesSlide14.xml" Id="R94d34895590144a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7799978c0014763" /><Relationship Type="http://schemas.openxmlformats.org/officeDocument/2006/relationships/notesSlide" Target="/ppt/notesSlides/notesSlide15.xml" Id="R16a6d1cf53c241f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7a303768f8242b8" /><Relationship Type="http://schemas.openxmlformats.org/officeDocument/2006/relationships/notesSlide" Target="/ppt/notesSlides/notesSlide16.xml" Id="Rb42f475bffdc444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777bc2d61e54287" /><Relationship Type="http://schemas.openxmlformats.org/officeDocument/2006/relationships/notesSlide" Target="/ppt/notesSlides/notesSlide17.xml" Id="R7b24962833b74b7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4.xml" Id="R1409b663c28e4432" /><Relationship Type="http://schemas.openxmlformats.org/officeDocument/2006/relationships/notesSlide" Target="/ppt/notesSlides/notesSlide18.xml" Id="Rd7d8210d6f784f4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4.xml" Id="R1a558ce072c94904" /><Relationship Type="http://schemas.openxmlformats.org/officeDocument/2006/relationships/notesSlide" Target="/ppt/notesSlides/notesSlide19.xml" Id="R68e729785e6f4f7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4.xml" Id="Rff166db6cc8e4bb2" /><Relationship Type="http://schemas.openxmlformats.org/officeDocument/2006/relationships/notesSlide" Target="/ppt/notesSlides/notesSlide20.xml" Id="R7e49b8b653ff428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4.xml" Id="R22761d80ecff4071" /><Relationship Type="http://schemas.openxmlformats.org/officeDocument/2006/relationships/notesSlide" Target="/ppt/notesSlides/notesSlide21.xml" Id="Rb34b5d02b310408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4.xml" Id="Rbc87f18aa93a4ddb" /><Relationship Type="http://schemas.openxmlformats.org/officeDocument/2006/relationships/notesSlide" Target="/ppt/notesSlides/notesSlide22.xml" Id="R8f99ce27d41c445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4.xml" Id="R3b09bd3022094c36" /><Relationship Type="http://schemas.openxmlformats.org/officeDocument/2006/relationships/notesSlide" Target="/ppt/notesSlides/notesSlide23.xml" Id="Rafa2de6ce0ab483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24.xml" Id="Rbd29c0ceb1fa4f0b" /><Relationship Type="http://schemas.openxmlformats.org/officeDocument/2006/relationships/notesSlide" Target="/ppt/notesSlides/notesSlide24.xml" Id="R76bcd4036a29409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24.xml" Id="Ra838206a3eae4d12" /><Relationship Type="http://schemas.openxmlformats.org/officeDocument/2006/relationships/notesSlide" Target="/ppt/notesSlides/notesSlide25.xml" Id="R0fbe45ffe4644b8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24.xml" Id="R16eb09e40cc042fa" /><Relationship Type="http://schemas.openxmlformats.org/officeDocument/2006/relationships/notesSlide" Target="/ppt/notesSlides/notesSlide26.xml" Id="R41865c09aea446e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24.xml" Id="Rdd1ffd31657d4157" /><Relationship Type="http://schemas.openxmlformats.org/officeDocument/2006/relationships/notesSlide" Target="/ppt/notesSlides/notesSlide27.xml" Id="R7796287cdfcc488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24.xml" Id="R7ecfc69deb6a4395" /><Relationship Type="http://schemas.openxmlformats.org/officeDocument/2006/relationships/notesSlide" Target="/ppt/notesSlides/notesSlide28.xml" Id="R74c1aa45edec44e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24.xml" Id="R92367d019f384fa2" /><Relationship Type="http://schemas.openxmlformats.org/officeDocument/2006/relationships/notesSlide" Target="/ppt/notesSlides/notesSlide29.xml" Id="R59f56cccb96a4d9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24.xml" Id="Re59884987b01419e" /><Relationship Type="http://schemas.openxmlformats.org/officeDocument/2006/relationships/notesSlide" Target="/ppt/notesSlides/notesSlide30.xml" Id="R18f7e89f9c5b4058" /></Relationships>
</file>

<file path=ppt/slides/slide1.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060870-AE29-4F59-B70F-A9942F512828}"/>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TECHNICAL SEMINAR / EASY GUIDE</a:t>
            </a:r>
          </a:p>
        </p:txBody>
      </p:sp>
      <p:sp>
        <p:nvSpPr>
          <p:cNvPr id="2" name="">
            <a:extLst xmlns:a="http://schemas.openxmlformats.org/drawingml/2006/main">
              <a:ext uri="{FF2B5EF4-FFF2-40B4-BE49-F238E27FC236}">
                <a16:creationId xmlns:a16="http://schemas.microsoft.com/office/drawing/2014/main" id="{14686A0E-BEF3-43A8-8D56-EBE1EDD2F0E0}"/>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온톨로지와 GraphRAG</a:t>
            </a:r>
          </a:p>
        </p:txBody>
      </p:sp>
      <p:sp>
        <p:nvSpPr>
          <p:cNvPr id="3" name="">
            <a:extLst xmlns:a="http://schemas.openxmlformats.org/drawingml/2006/main">
              <a:ext uri="{FF2B5EF4-FFF2-40B4-BE49-F238E27FC236}">
                <a16:creationId xmlns:a16="http://schemas.microsoft.com/office/drawing/2014/main" id="{39FC783F-C2FE-4307-881B-54C03F2CE3F1}"/>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01</a:t>
            </a:r>
          </a:p>
        </p:txBody>
      </p:sp>
      <p:sp>
        <p:nvSpPr>
          <p:cNvPr id="4" name="">
            <a:extLst xmlns:a="http://schemas.openxmlformats.org/drawingml/2006/main">
              <a:ext uri="{FF2B5EF4-FFF2-40B4-BE49-F238E27FC236}">
                <a16:creationId xmlns:a16="http://schemas.microsoft.com/office/drawing/2014/main" id="{37CD9A53-79A6-4B34-B743-8BC3E3724E78}"/>
              </a:ext>
            </a:extLst>
          </p:cNvPr>
          <p:cNvSpPr>
            <a:spLocks xmlns:a="http://schemas.openxmlformats.org/drawingml/2006/main" noGrp="1"/>
          </p:cNvSpPr>
          <p:nvPr/>
        </p:nvSpPr>
        <p:spPr>
          <a:xfrm xmlns:a="http://schemas.openxmlformats.org/drawingml/2006/main">
            <a:off x="571500" y="2047875"/>
            <a:ext cx="7048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4050" b="1">
                <a:solidFill>
                  <a:srgbClr val="EAF5F3"/>
                </a:solidFill>
                <a:latin typeface="Noto Sans KR"/>
                <a:ea typeface="Noto Sans KR"/>
                <a:cs typeface="Noto Sans KR"/>
              </a:defRPr>
            </a:defPPr>
            <a:lvl1pPr>
              <a:buNone/>
              <a:defRPr sz="4050" b="1">
                <a:solidFill>
                  <a:srgbClr val="EAF5F3"/>
                </a:solidFill>
                <a:latin typeface="Noto Sans KR"/>
                <a:ea typeface="Noto Sans KR"/>
                <a:cs typeface="Noto Sans KR"/>
              </a:defRPr>
            </a:lvl1pPr>
            <a:lvl2pPr>
              <a:buNone/>
              <a:defRPr sz="4050" b="1">
                <a:solidFill>
                  <a:srgbClr val="EAF5F3"/>
                </a:solidFill>
                <a:latin typeface="Noto Sans KR"/>
                <a:ea typeface="Noto Sans KR"/>
                <a:cs typeface="Noto Sans KR"/>
              </a:defRPr>
            </a:lvl2pPr>
            <a:lvl3pPr>
              <a:buNone/>
              <a:defRPr sz="4050" b="1">
                <a:solidFill>
                  <a:srgbClr val="EAF5F3"/>
                </a:solidFill>
                <a:latin typeface="Noto Sans KR"/>
                <a:ea typeface="Noto Sans KR"/>
                <a:cs typeface="Noto Sans KR"/>
              </a:defRPr>
            </a:lvl3pPr>
            <a:lvl4pPr>
              <a:buNone/>
              <a:defRPr sz="4050" b="1">
                <a:solidFill>
                  <a:srgbClr val="EAF5F3"/>
                </a:solidFill>
                <a:latin typeface="Noto Sans KR"/>
                <a:ea typeface="Noto Sans KR"/>
                <a:cs typeface="Noto Sans KR"/>
              </a:defRPr>
            </a:lvl4pPr>
            <a:lvl5pPr>
              <a:buNone/>
              <a:defRPr sz="4050" b="1">
                <a:solidFill>
                  <a:srgbClr val="EAF5F3"/>
                </a:solidFill>
                <a:latin typeface="Noto Sans KR"/>
                <a:ea typeface="Noto Sans KR"/>
                <a:cs typeface="Noto Sans KR"/>
              </a:defRPr>
            </a:lvl5pPr>
            <a:lvl6pPr>
              <a:buNone/>
              <a:defRPr sz="4050" b="1">
                <a:solidFill>
                  <a:srgbClr val="EAF5F3"/>
                </a:solidFill>
                <a:latin typeface="Noto Sans KR"/>
                <a:ea typeface="Noto Sans KR"/>
                <a:cs typeface="Noto Sans KR"/>
              </a:defRPr>
            </a:lvl6pPr>
            <a:lvl7pPr>
              <a:buNone/>
              <a:defRPr sz="4050" b="1">
                <a:solidFill>
                  <a:srgbClr val="EAF5F3"/>
                </a:solidFill>
                <a:latin typeface="Noto Sans KR"/>
                <a:ea typeface="Noto Sans KR"/>
                <a:cs typeface="Noto Sans KR"/>
              </a:defRPr>
            </a:lvl7pPr>
            <a:lvl8pPr>
              <a:buNone/>
              <a:defRPr sz="4050" b="1">
                <a:solidFill>
                  <a:srgbClr val="EAF5F3"/>
                </a:solidFill>
                <a:latin typeface="Noto Sans KR"/>
                <a:ea typeface="Noto Sans KR"/>
                <a:cs typeface="Noto Sans KR"/>
              </a:defRPr>
            </a:lvl8pPr>
            <a:lvl9pPr>
              <a:buNone/>
              <a:defRPr sz="4050" b="1">
                <a:solidFill>
                  <a:srgbClr val="EAF5F3"/>
                </a:solidFill>
                <a:latin typeface="Noto Sans KR"/>
                <a:ea typeface="Noto Sans KR"/>
                <a:cs typeface="Noto Sans KR"/>
              </a:defRPr>
            </a:lvl9pPr>
          </a:lstStyle>
          <a:p xmlns:a="http://schemas.openxmlformats.org/drawingml/2006/main">
            <a:pPr>
              <a:buNone/>
              <a:defRPr sz="4050" b="1">
                <a:solidFill>
                  <a:srgbClr val="EAF5F3"/>
                </a:solidFill>
                <a:latin typeface="Noto Sans KR"/>
                <a:ea typeface="Noto Sans KR"/>
                <a:cs typeface="Noto Sans KR"/>
              </a:defRPr>
            </a:pPr>
            <a:r>
              <a:rPr sz="4050" b="1">
                <a:solidFill>
                  <a:srgbClr val="EAF5F3"/>
                </a:solidFill>
                <a:latin typeface="Noto Sans KR"/>
                <a:ea typeface="Noto Sans KR"/>
                <a:cs typeface="Noto Sans KR"/>
              </a:rPr>
              <a:t>업무의 연결을 정리하고</a:t>
            </a:r>
          </a:p>
          <a:p xmlns:a="http://schemas.openxmlformats.org/drawingml/2006/main">
            <a:pPr>
              <a:buNone/>
              <a:defRPr sz="4050" b="1">
                <a:solidFill>
                  <a:srgbClr val="EAF5F3"/>
                </a:solidFill>
                <a:latin typeface="Noto Sans KR"/>
                <a:ea typeface="Noto Sans KR"/>
                <a:cs typeface="Noto Sans KR"/>
              </a:defRPr>
            </a:pPr>
            <a:r>
              <a:rPr sz="4050" b="1">
                <a:solidFill>
                  <a:srgbClr val="EAF5F3"/>
                </a:solidFill>
                <a:latin typeface="Noto Sans KR"/>
                <a:ea typeface="Noto Sans KR"/>
                <a:cs typeface="Noto Sans KR"/>
              </a:rPr>
              <a:t>필요한 근거를 찾기</a:t>
            </a:r>
          </a:p>
        </p:txBody>
      </p:sp>
      <p:sp>
        <p:nvSpPr>
          <p:cNvPr id="5" name="">
            <a:extLst xmlns:a="http://schemas.openxmlformats.org/drawingml/2006/main">
              <a:ext uri="{FF2B5EF4-FFF2-40B4-BE49-F238E27FC236}">
                <a16:creationId xmlns:a16="http://schemas.microsoft.com/office/drawing/2014/main" id="{87B1EF22-DFE6-4C7F-8775-C076E22AEF3F}"/>
              </a:ext>
            </a:extLst>
          </p:cNvPr>
          <p:cNvSpPr>
            <a:spLocks xmlns:a="http://schemas.openxmlformats.org/drawingml/2006/main" noGrp="1"/>
          </p:cNvSpPr>
          <p:nvPr/>
        </p:nvSpPr>
        <p:spPr>
          <a:xfrm xmlns:a="http://schemas.openxmlformats.org/drawingml/2006/main">
            <a:off x="609600" y="4400550"/>
            <a:ext cx="7048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8DE5CA"/>
                </a:solidFill>
                <a:latin typeface="Noto Sans KR"/>
                <a:ea typeface="Noto Sans KR"/>
                <a:cs typeface="Noto Sans KR"/>
              </a:defRPr>
            </a:defPPr>
            <a:lvl1pPr>
              <a:buNone/>
              <a:defRPr sz="1800" b="0">
                <a:solidFill>
                  <a:srgbClr val="8DE5CA"/>
                </a:solidFill>
                <a:latin typeface="Noto Sans KR"/>
                <a:ea typeface="Noto Sans KR"/>
                <a:cs typeface="Noto Sans KR"/>
              </a:defRPr>
            </a:lvl1pPr>
            <a:lvl2pPr>
              <a:buNone/>
              <a:defRPr sz="1800" b="0">
                <a:solidFill>
                  <a:srgbClr val="8DE5CA"/>
                </a:solidFill>
                <a:latin typeface="Noto Sans KR"/>
                <a:ea typeface="Noto Sans KR"/>
                <a:cs typeface="Noto Sans KR"/>
              </a:defRPr>
            </a:lvl2pPr>
            <a:lvl3pPr>
              <a:buNone/>
              <a:defRPr sz="1800" b="0">
                <a:solidFill>
                  <a:srgbClr val="8DE5CA"/>
                </a:solidFill>
                <a:latin typeface="Noto Sans KR"/>
                <a:ea typeface="Noto Sans KR"/>
                <a:cs typeface="Noto Sans KR"/>
              </a:defRPr>
            </a:lvl3pPr>
            <a:lvl4pPr>
              <a:buNone/>
              <a:defRPr sz="1800" b="0">
                <a:solidFill>
                  <a:srgbClr val="8DE5CA"/>
                </a:solidFill>
                <a:latin typeface="Noto Sans KR"/>
                <a:ea typeface="Noto Sans KR"/>
                <a:cs typeface="Noto Sans KR"/>
              </a:defRPr>
            </a:lvl4pPr>
            <a:lvl5pPr>
              <a:buNone/>
              <a:defRPr sz="1800" b="0">
                <a:solidFill>
                  <a:srgbClr val="8DE5CA"/>
                </a:solidFill>
                <a:latin typeface="Noto Sans KR"/>
                <a:ea typeface="Noto Sans KR"/>
                <a:cs typeface="Noto Sans KR"/>
              </a:defRPr>
            </a:lvl5pPr>
            <a:lvl6pPr>
              <a:buNone/>
              <a:defRPr sz="1800" b="0">
                <a:solidFill>
                  <a:srgbClr val="8DE5CA"/>
                </a:solidFill>
                <a:latin typeface="Noto Sans KR"/>
                <a:ea typeface="Noto Sans KR"/>
                <a:cs typeface="Noto Sans KR"/>
              </a:defRPr>
            </a:lvl6pPr>
            <a:lvl7pPr>
              <a:buNone/>
              <a:defRPr sz="1800" b="0">
                <a:solidFill>
                  <a:srgbClr val="8DE5CA"/>
                </a:solidFill>
                <a:latin typeface="Noto Sans KR"/>
                <a:ea typeface="Noto Sans KR"/>
                <a:cs typeface="Noto Sans KR"/>
              </a:defRPr>
            </a:lvl7pPr>
            <a:lvl8pPr>
              <a:buNone/>
              <a:defRPr sz="1800" b="0">
                <a:solidFill>
                  <a:srgbClr val="8DE5CA"/>
                </a:solidFill>
                <a:latin typeface="Noto Sans KR"/>
                <a:ea typeface="Noto Sans KR"/>
                <a:cs typeface="Noto Sans KR"/>
              </a:defRPr>
            </a:lvl8pPr>
            <a:lvl9pPr>
              <a:buNone/>
              <a:defRPr sz="1800" b="0">
                <a:solidFill>
                  <a:srgbClr val="8DE5CA"/>
                </a:solidFill>
                <a:latin typeface="Noto Sans KR"/>
                <a:ea typeface="Noto Sans KR"/>
                <a:cs typeface="Noto Sans KR"/>
              </a:defRPr>
            </a:lvl9pPr>
          </a:lstStyle>
          <a:p xmlns:a="http://schemas.openxmlformats.org/drawingml/2006/main">
            <a:pPr>
              <a:buNone/>
              <a:defRPr sz="1800" b="0">
                <a:solidFill>
                  <a:srgbClr val="8DE5CA"/>
                </a:solidFill>
                <a:latin typeface="Noto Sans KR"/>
                <a:ea typeface="Noto Sans KR"/>
                <a:cs typeface="Noto Sans KR"/>
              </a:defRPr>
            </a:pPr>
            <a:r>
              <a:rPr sz="1800" b="0">
                <a:solidFill>
                  <a:srgbClr val="8DE5CA"/>
                </a:solidFill>
                <a:latin typeface="Noto Sans KR"/>
                <a:ea typeface="Noto Sans KR"/>
                <a:cs typeface="Noto Sans KR"/>
              </a:rPr>
              <a:t>하나의 예제로 이해하는 온톨로지와 GraphRAG</a:t>
            </a:r>
          </a:p>
        </p:txBody>
      </p:sp>
    </p:spTree>
    <p:extLst>
      <p:ext uri="{BB962C8B-B14F-4D97-AF65-F5344CB8AC3E}">
        <p14:creationId xmlns:p14="http://schemas.microsoft.com/office/powerpoint/2010/main" val="1147136095"/>
      </p:ext>
    </p:extLst>
  </p:cSld>
</p:sld>
</file>

<file path=ppt/slides/slide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A9DC843C-5831-45FB-B5B3-EB214F9CAF2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15C1B24-A03B-4BCC-955E-290493E5451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오늘은 무엇을 배우나요?</a:t>
            </a:r>
          </a:p>
        </p:txBody>
      </p:sp>
      <p:sp>
        <p:nvSpPr>
          <p:cNvPr id="3" name="label-0">
            <a:extLst xmlns:a="http://schemas.openxmlformats.org/drawingml/2006/main">
              <a:ext uri="{FF2B5EF4-FFF2-40B4-BE49-F238E27FC236}">
                <a16:creationId xmlns:a16="http://schemas.microsoft.com/office/drawing/2014/main" id="{5184DD82-79AF-4AB4-968E-D598D7353312}"/>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업무를 정리하기</a:t>
            </a:r>
          </a:p>
        </p:txBody>
      </p:sp>
      <p:sp>
        <p:nvSpPr>
          <p:cNvPr id="4" name="body-0">
            <a:extLst xmlns:a="http://schemas.openxmlformats.org/drawingml/2006/main">
              <a:ext uri="{FF2B5EF4-FFF2-40B4-BE49-F238E27FC236}">
                <a16:creationId xmlns:a16="http://schemas.microsoft.com/office/drawing/2014/main" id="{718661FB-6536-4605-AE9A-DBE88530ABE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어떤 대상이 있고, 무엇과 연결되는지 정의합니다.</a:t>
            </a:r>
          </a:p>
        </p:txBody>
      </p:sp>
      <p:sp>
        <p:nvSpPr>
          <p:cNvPr id="5" name="label-1">
            <a:extLst xmlns:a="http://schemas.openxmlformats.org/drawingml/2006/main">
              <a:ext uri="{FF2B5EF4-FFF2-40B4-BE49-F238E27FC236}">
                <a16:creationId xmlns:a16="http://schemas.microsoft.com/office/drawing/2014/main" id="{7E44BAEC-0B19-4576-83E4-1FEB159CF5A0}"/>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직접 실행하기</a:t>
            </a:r>
          </a:p>
        </p:txBody>
      </p:sp>
      <p:sp>
        <p:nvSpPr>
          <p:cNvPr id="6" name="body-1">
            <a:extLst xmlns:a="http://schemas.openxmlformats.org/drawingml/2006/main">
              <a:ext uri="{FF2B5EF4-FFF2-40B4-BE49-F238E27FC236}">
                <a16:creationId xmlns:a16="http://schemas.microsoft.com/office/drawing/2014/main" id="{EC6B1179-9BD0-4C2C-A0B4-F3E3DA03D7C1}"/>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규칙을 켜고 끄거나 데이터를 지워 결과를 확인합니다.</a:t>
            </a:r>
          </a:p>
        </p:txBody>
      </p:sp>
      <p:sp>
        <p:nvSpPr>
          <p:cNvPr id="7" name="label-2">
            <a:extLst xmlns:a="http://schemas.openxmlformats.org/drawingml/2006/main">
              <a:ext uri="{FF2B5EF4-FFF2-40B4-BE49-F238E27FC236}">
                <a16:creationId xmlns:a16="http://schemas.microsoft.com/office/drawing/2014/main" id="{617DDE0E-3A78-43C4-9E75-5A4A77C656C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방법 비교하기</a:t>
            </a:r>
          </a:p>
        </p:txBody>
      </p:sp>
      <p:sp>
        <p:nvSpPr>
          <p:cNvPr id="8" name="body-2">
            <a:extLst xmlns:a="http://schemas.openxmlformats.org/drawingml/2006/main">
              <a:ext uri="{FF2B5EF4-FFF2-40B4-BE49-F238E27FC236}">
                <a16:creationId xmlns:a16="http://schemas.microsoft.com/office/drawing/2014/main" id="{0BC4D4D3-ED7C-4359-87A7-E01EEECCFF9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GraphRAG마다 저장하고 찾는 대상이 어떻게 다른지 봅니다.</a:t>
            </a:r>
          </a:p>
        </p:txBody>
      </p:sp>
      <p:sp>
        <p:nvSpPr>
          <p:cNvPr id="9" name="page">
            <a:extLst xmlns:a="http://schemas.openxmlformats.org/drawingml/2006/main">
              <a:ext uri="{FF2B5EF4-FFF2-40B4-BE49-F238E27FC236}">
                <a16:creationId xmlns:a16="http://schemas.microsoft.com/office/drawing/2014/main" id="{6D8330DA-419E-41FA-B84D-C7A96BE8CBA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02</a:t>
            </a:r>
          </a:p>
        </p:txBody>
      </p:sp>
      <p:sp>
        <p:nvSpPr>
          <p:cNvPr id="11" name="narrative-bridge">
            <a:extLst xmlns:a="http://schemas.openxmlformats.org/drawingml/2006/main">
              <a:ext uri="{FF2B5EF4-FFF2-40B4-BE49-F238E27FC236}">
                <a16:creationId xmlns:a16="http://schemas.microsoft.com/office/drawing/2014/main" id="{FE54DD37-FBA9-4803-9859-22B13DA3F81F}"/>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공통 예제: 날씨 정보가 끊겼을 때 점검할 대상을 찾아봅니다.</a:t>
            </a:r>
          </a:p>
        </p:txBody>
      </p:sp>
    </p:spTree>
    <p:extLst>
      <p:ext uri="{BB962C8B-B14F-4D97-AF65-F5344CB8AC3E}">
        <p14:creationId xmlns:p14="http://schemas.microsoft.com/office/powerpoint/2010/main" val="35290610"/>
      </p:ext>
    </p:extLst>
  </p:cSld>
</p:sld>
</file>

<file path=ppt/slides/slide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7B60BE8A-A9DC-427B-917A-336B8241474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6C92CBE2-52D3-41CE-9907-E9E157C966E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날씨 정보가 끊기면 무엇을 확인할까요?</a:t>
            </a:r>
          </a:p>
        </p:txBody>
      </p:sp>
      <p:sp>
        <p:nvSpPr>
          <p:cNvPr id="3" name="label-0">
            <a:extLst xmlns:a="http://schemas.openxmlformats.org/drawingml/2006/main">
              <a:ext uri="{FF2B5EF4-FFF2-40B4-BE49-F238E27FC236}">
                <a16:creationId xmlns:a16="http://schemas.microsoft.com/office/drawing/2014/main" id="{25529D8C-DCCE-426D-B011-EC5A752011D0}"/>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업무 상황</a:t>
            </a:r>
          </a:p>
        </p:txBody>
      </p:sp>
      <p:sp>
        <p:nvSpPr>
          <p:cNvPr id="4" name="body-0">
            <a:extLst xmlns:a="http://schemas.openxmlformats.org/drawingml/2006/main">
              <a:ext uri="{FF2B5EF4-FFF2-40B4-BE49-F238E27FC236}">
                <a16:creationId xmlns:a16="http://schemas.microsoft.com/office/drawing/2014/main" id="{AB44D5EE-9389-4FBC-A596-D25588FEDB11}"/>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배차시스템은 도착예측모델을 쓰고, 모델은 날씨API를 씁니다.</a:t>
            </a:r>
          </a:p>
        </p:txBody>
      </p:sp>
      <p:sp>
        <p:nvSpPr>
          <p:cNvPr id="5" name="label-1">
            <a:extLst xmlns:a="http://schemas.openxmlformats.org/drawingml/2006/main">
              <a:ext uri="{FF2B5EF4-FFF2-40B4-BE49-F238E27FC236}">
                <a16:creationId xmlns:a16="http://schemas.microsoft.com/office/drawing/2014/main" id="{A0919E53-C543-4C30-845B-DFC7C967F162}"/>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찾고 싶은 답</a:t>
            </a:r>
          </a:p>
        </p:txBody>
      </p:sp>
      <p:sp>
        <p:nvSpPr>
          <p:cNvPr id="6" name="body-1">
            <a:extLst xmlns:a="http://schemas.openxmlformats.org/drawingml/2006/main">
              <a:ext uri="{FF2B5EF4-FFF2-40B4-BE49-F238E27FC236}">
                <a16:creationId xmlns:a16="http://schemas.microsoft.com/office/drawing/2014/main" id="{EAE0AED9-5CFE-4F7D-960D-F85D3499F2B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날씨API에 의존하는 시스템과 그 연결을 설명하는 문서입니다.</a:t>
            </a:r>
          </a:p>
        </p:txBody>
      </p:sp>
      <p:sp>
        <p:nvSpPr>
          <p:cNvPr id="7" name="label-2">
            <a:extLst xmlns:a="http://schemas.openxmlformats.org/drawingml/2006/main">
              <a:ext uri="{FF2B5EF4-FFF2-40B4-BE49-F238E27FC236}">
                <a16:creationId xmlns:a16="http://schemas.microsoft.com/office/drawing/2014/main" id="{875A4C50-9D2F-4688-9A6F-7EDFD842D33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연결 방식</a:t>
            </a:r>
          </a:p>
        </p:txBody>
      </p:sp>
      <p:sp>
        <p:nvSpPr>
          <p:cNvPr id="8" name="body-2">
            <a:extLst xmlns:a="http://schemas.openxmlformats.org/drawingml/2006/main">
              <a:ext uri="{FF2B5EF4-FFF2-40B4-BE49-F238E27FC236}">
                <a16:creationId xmlns:a16="http://schemas.microsoft.com/office/drawing/2014/main" id="{311050F4-9010-4120-B37C-433CCC86BDE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회사가 쓰는 시스템을 이름 문자열이 아닌 실제 개체로 연결합니다.</a:t>
            </a:r>
          </a:p>
        </p:txBody>
      </p:sp>
      <p:sp>
        <p:nvSpPr>
          <p:cNvPr id="9" name="page">
            <a:extLst xmlns:a="http://schemas.openxmlformats.org/drawingml/2006/main">
              <a:ext uri="{FF2B5EF4-FFF2-40B4-BE49-F238E27FC236}">
                <a16:creationId xmlns:a16="http://schemas.microsoft.com/office/drawing/2014/main" id="{D713C2DF-2E21-4537-920E-C9F8BC4D6251}"/>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03</a:t>
            </a:r>
          </a:p>
        </p:txBody>
      </p:sp>
      <p:sp>
        <p:nvSpPr>
          <p:cNvPr id="11" name="narrative-bridge">
            <a:extLst xmlns:a="http://schemas.openxmlformats.org/drawingml/2006/main">
              <a:ext uri="{FF2B5EF4-FFF2-40B4-BE49-F238E27FC236}">
                <a16:creationId xmlns:a16="http://schemas.microsoft.com/office/drawing/2014/main" id="{8250C935-A398-4492-97E2-CCBE2D7B3F5E}"/>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 연결을 함께 읽으려면 대상과 관계의 의미부터 맞춰야 합니다.</a:t>
            </a:r>
          </a:p>
        </p:txBody>
      </p:sp>
    </p:spTree>
    <p:extLst>
      <p:ext uri="{BB962C8B-B14F-4D97-AF65-F5344CB8AC3E}">
        <p14:creationId xmlns:p14="http://schemas.microsoft.com/office/powerpoint/2010/main" val="1531488739"/>
      </p:ext>
    </p:extLst>
  </p:cSld>
</p:sld>
</file>

<file path=ppt/slides/slide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1ED48877-2835-43F3-98FF-D5C3E62F76A6}"/>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C24171B-D351-44BD-B044-F1ECF9AA76E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정보를 정리하는 네 가지 방식</a:t>
            </a:r>
          </a:p>
        </p:txBody>
      </p:sp>
      <p:graphicFrame>
        <p:nvGraphicFramePr>
          <p:cNvPr id="3" name="">
            <a:extLst xmlns:a="http://schemas.openxmlformats.org/drawingml/2006/main">
              <a:ext uri="{FF2B5EF4-FFF2-40B4-BE49-F238E27FC236}">
                <a16:creationId xmlns:a16="http://schemas.microsoft.com/office/drawing/2014/main" id="{821AB519-CC6A-4691-8740-4BD962FA4C55}"/>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방식</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쉽게 말하면</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예시</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DB 스키마</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데이터를 저장할 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회사 테이블, 시스템 테이블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분류체계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종류를 나누는 기준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예측모델은 소프트웨어의 한 종류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온톨로지</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대상·관계·규칙의 정의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사용 관계, 상위 종류, 역관계</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지식 그래프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실제 대상들이 연결된 사실</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배차시스템이 도착예측모델에 의존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3DF35948-391E-4A9B-948A-AA166BAAF05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04</a:t>
            </a:r>
          </a:p>
        </p:txBody>
      </p:sp>
      <p:sp>
        <p:nvSpPr>
          <p:cNvPr id="6" name="narrative-bridge">
            <a:extLst xmlns:a="http://schemas.openxmlformats.org/drawingml/2006/main">
              <a:ext uri="{FF2B5EF4-FFF2-40B4-BE49-F238E27FC236}">
                <a16:creationId xmlns:a16="http://schemas.microsoft.com/office/drawing/2014/main" id="{F6B9B96C-56DB-4B02-B797-8FC5ACDFECA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온톨로지의 정의를 실제 대상과 관계로 나눠 보겠습니다.</a:t>
            </a:r>
          </a:p>
        </p:txBody>
      </p:sp>
    </p:spTree>
    <p:extLst>
      <p:ext uri="{BB962C8B-B14F-4D97-AF65-F5344CB8AC3E}">
        <p14:creationId xmlns:p14="http://schemas.microsoft.com/office/powerpoint/2010/main" val="1838804072"/>
      </p:ext>
    </p:extLst>
  </p:cSld>
</p:sld>
</file>

<file path=ppt/slides/slide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1A21BAAD-FF5A-4F93-BE3D-170C627B6EA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ED46A580-9C93-4CBA-8D3A-399378099C6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종류·실제 대상·관계·값</a:t>
            </a:r>
          </a:p>
        </p:txBody>
      </p:sp>
      <p:graphicFrame>
        <p:nvGraphicFramePr>
          <p:cNvPr id="3" name="">
            <a:extLst xmlns:a="http://schemas.openxmlformats.org/drawingml/2006/main">
              <a:ext uri="{FF2B5EF4-FFF2-40B4-BE49-F238E27FC236}">
                <a16:creationId xmlns:a16="http://schemas.microsoft.com/office/drawing/2014/main" id="{F4264B9E-D41E-49B4-87D5-B187D30B3645}"/>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용어</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뜻</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예시</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클래스 / Class</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대상의 종류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예측모델이라는 종류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개체 / Individual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실제 대상 하나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우리가 사용하는 도착예측모델</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관계 / Object property</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대상과 대상의 연결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배차시스템이 모델에 의존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값 / Literal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문자나 숫자</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문서 설명, 처리 시간 3초</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E562FE1D-C257-4DA8-81AC-1F45573A44D4}"/>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05</a:t>
            </a:r>
          </a:p>
        </p:txBody>
      </p:sp>
      <p:sp>
        <p:nvSpPr>
          <p:cNvPr id="6" name="narrative-bridge">
            <a:extLst xmlns:a="http://schemas.openxmlformats.org/drawingml/2006/main">
              <a:ext uri="{FF2B5EF4-FFF2-40B4-BE49-F238E27FC236}">
                <a16:creationId xmlns:a16="http://schemas.microsoft.com/office/drawing/2014/main" id="{7C7363B1-238B-4A33-9B7A-07C26A444E5C}"/>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 재료를 적고, 해석하고, 검사하고, 조회하는 표준이 있습니다.</a:t>
            </a:r>
          </a:p>
        </p:txBody>
      </p:sp>
    </p:spTree>
    <p:extLst>
      <p:ext uri="{BB962C8B-B14F-4D97-AF65-F5344CB8AC3E}">
        <p14:creationId xmlns:p14="http://schemas.microsoft.com/office/powerpoint/2010/main" val="1985404544"/>
      </p:ext>
    </p:extLst>
  </p:cSld>
</p:sld>
</file>

<file path=ppt/slides/slide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52ED0038-EFE3-4E29-9736-4D3201A1AC8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46492902-1FE9-49DD-940B-18EF2F19CA7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표준 이름은 역할로 기억하면 됩니다</a:t>
            </a:r>
          </a:p>
        </p:txBody>
      </p:sp>
      <p:graphicFrame>
        <p:nvGraphicFramePr>
          <p:cNvPr id="3" name="">
            <a:extLst xmlns:a="http://schemas.openxmlformats.org/drawingml/2006/main">
              <a:ext uri="{FF2B5EF4-FFF2-40B4-BE49-F238E27FC236}">
                <a16:creationId xmlns:a16="http://schemas.microsoft.com/office/drawing/2014/main" id="{C84005AE-7D0A-45C8-BA62-6191F571F6EC}"/>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이름</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담당하는 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실습에서 하는 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RDF / Turtle</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사실을 표현하고 글로 적기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대상·관계·대상을 한 줄로 작성</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RDFS / OWL RL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의미와 규칙으로 새 사실 도출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상위 종류·역관계·전이 관계 추가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SHACL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입력 조건 검사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필수 관계와 값의 종류 검사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SPARQL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그래프에 질문하기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조건에 맞는 시스템 목록 조회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B0DD8952-029B-4686-BA31-1ADAD99CDDDB}"/>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06</a:t>
            </a:r>
          </a:p>
        </p:txBody>
      </p:sp>
      <p:sp>
        <p:nvSpPr>
          <p:cNvPr id="6" name="narrative-bridge">
            <a:extLst xmlns:a="http://schemas.openxmlformats.org/drawingml/2006/main">
              <a:ext uri="{FF2B5EF4-FFF2-40B4-BE49-F238E27FC236}">
                <a16:creationId xmlns:a16="http://schemas.microsoft.com/office/drawing/2014/main" id="{CE1781E1-5406-4E7B-B2C8-22C29D72001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이제 표준의 역할을 규칙과 실제 데이터에 대입해 보겠습니다.</a:t>
            </a:r>
          </a:p>
        </p:txBody>
      </p:sp>
    </p:spTree>
    <p:extLst>
      <p:ext uri="{BB962C8B-B14F-4D97-AF65-F5344CB8AC3E}">
        <p14:creationId xmlns:p14="http://schemas.microsoft.com/office/powerpoint/2010/main" val="2002466008"/>
      </p:ext>
    </p:extLst>
  </p:cSld>
</p:sld>
</file>

<file path=ppt/slides/slide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C880608D-47D5-4DCC-8451-A498BF69E12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8DD2E572-0433-47BA-B7BD-D4F9E88912D3}"/>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규칙과 실제 데이터를 나눠 보겠습니다</a:t>
            </a:r>
          </a:p>
        </p:txBody>
      </p:sp>
      <p:sp>
        <p:nvSpPr>
          <p:cNvPr id="3" name="lead">
            <a:extLst xmlns:a="http://schemas.openxmlformats.org/drawingml/2006/main">
              <a:ext uri="{FF2B5EF4-FFF2-40B4-BE49-F238E27FC236}">
                <a16:creationId xmlns:a16="http://schemas.microsoft.com/office/drawing/2014/main" id="{7AC1DD6B-19A2-4583-8A06-C230094AB05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기술 용어로는 규칙 쪽을 TBox, 개체 사실 쪽을 ABox라고 부릅니다</a:t>
            </a:r>
          </a:p>
        </p:txBody>
      </p:sp>
      <p:sp>
        <p:nvSpPr>
          <p:cNvPr id="4" name="code-label-0">
            <a:extLst xmlns:a="http://schemas.openxmlformats.org/drawingml/2006/main">
              <a:ext uri="{FF2B5EF4-FFF2-40B4-BE49-F238E27FC236}">
                <a16:creationId xmlns:a16="http://schemas.microsoft.com/office/drawing/2014/main" id="{815AE0DC-C30B-416D-BD21-D91AB4F0D435}"/>
              </a:ext>
            </a:extLst>
          </p:cNvPr>
          <p:cNvSpPr>
            <a:spLocks xmlns:a="http://schemas.openxmlformats.org/drawingml/2006/main" noGrp="1"/>
          </p:cNvSpPr>
          <p:nvPr/>
        </p:nvSpPr>
        <p:spPr>
          <a:xfrm xmlns:a="http://schemas.openxmlformats.org/drawingml/2006/main">
            <a:off x="609600" y="2219325"/>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규칙: 의미 모델</a:t>
            </a:r>
          </a:p>
        </p:txBody>
      </p:sp>
      <p:sp>
        <p:nvSpPr>
          <p:cNvPr id="5" name="code-0">
            <a:extLst xmlns:a="http://schemas.openxmlformats.org/drawingml/2006/main">
              <a:ext uri="{FF2B5EF4-FFF2-40B4-BE49-F238E27FC236}">
                <a16:creationId xmlns:a16="http://schemas.microsoft.com/office/drawing/2014/main" id="{FA98369B-269E-4975-9FDE-FDD77B00A975}"/>
              </a:ext>
            </a:extLst>
          </p:cNvPr>
          <p:cNvSpPr>
            <a:spLocks xmlns:a="http://schemas.openxmlformats.org/drawingml/2006/main" noGrp="1"/>
          </p:cNvSpPr>
          <p:nvPr/>
        </p:nvSpPr>
        <p:spPr>
          <a:xfrm xmlns:a="http://schemas.openxmlformats.org/drawingml/2006/main">
            <a:off x="609600" y="2828925"/>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예측모델은 소프트웨어의 한 종류입니다.</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사용한다와 사용된다는 반대 방향입니다.</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의존 관계는 여러 단계를 이어서 해석합니다.</a:t>
            </a:r>
          </a:p>
        </p:txBody>
      </p:sp>
      <p:sp>
        <p:nvSpPr>
          <p:cNvPr id="6" name="code-label-1">
            <a:extLst xmlns:a="http://schemas.openxmlformats.org/drawingml/2006/main">
              <a:ext uri="{FF2B5EF4-FFF2-40B4-BE49-F238E27FC236}">
                <a16:creationId xmlns:a16="http://schemas.microsoft.com/office/drawing/2014/main" id="{5439F2A0-8EE5-4DA3-A926-731DC068456E}"/>
              </a:ext>
            </a:extLst>
          </p:cNvPr>
          <p:cNvSpPr>
            <a:spLocks xmlns:a="http://schemas.openxmlformats.org/drawingml/2006/main" noGrp="1"/>
          </p:cNvSpPr>
          <p:nvPr/>
        </p:nvSpPr>
        <p:spPr>
          <a:xfrm xmlns:a="http://schemas.openxmlformats.org/drawingml/2006/main">
            <a:off x="6210300" y="2219325"/>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사실: 이번 회사의 데이터</a:t>
            </a:r>
          </a:p>
        </p:txBody>
      </p:sp>
      <p:sp>
        <p:nvSpPr>
          <p:cNvPr id="7" name="code-1">
            <a:extLst xmlns:a="http://schemas.openxmlformats.org/drawingml/2006/main">
              <a:ext uri="{FF2B5EF4-FFF2-40B4-BE49-F238E27FC236}">
                <a16:creationId xmlns:a16="http://schemas.microsoft.com/office/drawing/2014/main" id="{FD51998E-6595-429A-815F-C9299B74DC9C}"/>
              </a:ext>
            </a:extLst>
          </p:cNvPr>
          <p:cNvSpPr>
            <a:spLocks xmlns:a="http://schemas.openxmlformats.org/drawingml/2006/main" noGrp="1"/>
          </p:cNvSpPr>
          <p:nvPr/>
        </p:nvSpPr>
        <p:spPr>
          <a:xfrm xmlns:a="http://schemas.openxmlformats.org/drawingml/2006/main">
            <a:off x="6210300" y="2828925"/>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물류사가 배차시스템을 사용합니다.</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배차시스템은 도착예측모델에 의존합니다.</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도착예측모델은 날씨API에 의존합니다.</a:t>
            </a:r>
          </a:p>
        </p:txBody>
      </p:sp>
      <p:sp>
        <p:nvSpPr>
          <p:cNvPr id="8" name="page">
            <a:extLst xmlns:a="http://schemas.openxmlformats.org/drawingml/2006/main">
              <a:ext uri="{FF2B5EF4-FFF2-40B4-BE49-F238E27FC236}">
                <a16:creationId xmlns:a16="http://schemas.microsoft.com/office/drawing/2014/main" id="{C325DF9B-0CE8-4C33-B3B4-6FC715CF745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07</a:t>
            </a:r>
          </a:p>
        </p:txBody>
      </p:sp>
      <p:sp>
        <p:nvSpPr>
          <p:cNvPr id="10" name="narrative-bridge">
            <a:extLst xmlns:a="http://schemas.openxmlformats.org/drawingml/2006/main">
              <a:ext uri="{FF2B5EF4-FFF2-40B4-BE49-F238E27FC236}">
                <a16:creationId xmlns:a16="http://schemas.microsoft.com/office/drawing/2014/main" id="{F64C6F7D-63E8-4202-B15F-DED8F4452046}"/>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정의한 규칙을 실제 데이터에 적용하면 새 사실이 생깁니다.</a:t>
            </a:r>
          </a:p>
        </p:txBody>
      </p:sp>
    </p:spTree>
    <p:extLst>
      <p:ext uri="{BB962C8B-B14F-4D97-AF65-F5344CB8AC3E}">
        <p14:creationId xmlns:p14="http://schemas.microsoft.com/office/powerpoint/2010/main" val="397915949"/>
      </p:ext>
    </p:extLst>
  </p:cSld>
</p:sld>
</file>

<file path=ppt/slides/slide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E4C7E586-D120-49E4-BF94-1EB9FD98C42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708FD0E1-1823-4BAC-B127-BC5DCFED608C}"/>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이미 아는 사실로 새 사실을 얻습니다</a:t>
            </a:r>
          </a:p>
        </p:txBody>
      </p:sp>
      <p:graphicFrame>
        <p:nvGraphicFramePr>
          <p:cNvPr id="3" name="">
            <a:extLst xmlns:a="http://schemas.openxmlformats.org/drawingml/2006/main">
              <a:ext uri="{FF2B5EF4-FFF2-40B4-BE49-F238E27FC236}">
                <a16:creationId xmlns:a16="http://schemas.microsoft.com/office/drawing/2014/main" id="{FDBEF32D-6DC1-4B58-BB63-A91D4A0BA9DE}"/>
              </a:ext>
            </a:extLst>
          </p:cNvPr>
          <p:cNvGraphicFramePr/>
          <p:nvPr/>
        </p:nvGraphicFramePr>
        <p:xfrm>
          <a:off xmlns:a="http://schemas.openxmlformats.org/drawingml/2006/main" x="609600" y="1866900"/>
          <a:ext xmlns:a="http://schemas.openxmlformats.org/drawingml/2006/main" cx="10972800" cy="185737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규칙</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이미 기록한 사실</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추가로 알 수 있는 사실</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상위 종류 포함</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도착예측모델은 예측모델</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도착예측모델은 소프트웨어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관계 방향 뒤집기</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물류사가 배차시스템을 사용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배차시스템이 물류사에 의해 사용됨</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2033C6F9-15E9-4AD5-9712-36D5D1EDC13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08</a:t>
            </a:r>
          </a:p>
        </p:txBody>
      </p:sp>
      <p:sp>
        <p:nvSpPr>
          <p:cNvPr id="6" name="narrative-bridge">
            <a:extLst xmlns:a="http://schemas.openxmlformats.org/drawingml/2006/main">
              <a:ext uri="{FF2B5EF4-FFF2-40B4-BE49-F238E27FC236}">
                <a16:creationId xmlns:a16="http://schemas.microsoft.com/office/drawing/2014/main" id="{E4AEEDF3-729F-4462-8C84-E35DDE1154E3}"/>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종류와 방향을 확장했으니, 이번에는 여러 단계의 연결을 봅니다.</a:t>
            </a:r>
          </a:p>
        </p:txBody>
      </p:sp>
    </p:spTree>
    <p:extLst>
      <p:ext uri="{BB962C8B-B14F-4D97-AF65-F5344CB8AC3E}">
        <p14:creationId xmlns:p14="http://schemas.microsoft.com/office/powerpoint/2010/main" val="1044017853"/>
      </p:ext>
    </p:extLst>
  </p:cSld>
</p:sld>
</file>

<file path=ppt/slides/slide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48DB453D-90D9-4F02-860F-7BB0021B77D1}"/>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5990A5EB-2363-4A3F-9BE2-8C53D0E01E0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직접 연결되지 않은 대상도 찾습니다</a:t>
            </a:r>
          </a:p>
        </p:txBody>
      </p:sp>
      <p:sp>
        <p:nvSpPr>
          <p:cNvPr id="3" name="label-0">
            <a:extLst xmlns:a="http://schemas.openxmlformats.org/drawingml/2006/main">
              <a:ext uri="{FF2B5EF4-FFF2-40B4-BE49-F238E27FC236}">
                <a16:creationId xmlns:a16="http://schemas.microsoft.com/office/drawing/2014/main" id="{5B7261BB-2EA3-468F-BCC4-B2F4936C2329}"/>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기록한 연결</a:t>
            </a:r>
          </a:p>
        </p:txBody>
      </p:sp>
      <p:sp>
        <p:nvSpPr>
          <p:cNvPr id="4" name="body-0">
            <a:extLst xmlns:a="http://schemas.openxmlformats.org/drawingml/2006/main">
              <a:ext uri="{FF2B5EF4-FFF2-40B4-BE49-F238E27FC236}">
                <a16:creationId xmlns:a16="http://schemas.microsoft.com/office/drawing/2014/main" id="{7549F19E-AD73-469B-AD41-1B726E845B82}"/>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배차시스템이 모델에 의존하고, 모델이 날씨API에 의존합니다.</a:t>
            </a:r>
          </a:p>
        </p:txBody>
      </p:sp>
      <p:sp>
        <p:nvSpPr>
          <p:cNvPr id="5" name="label-1">
            <a:extLst xmlns:a="http://schemas.openxmlformats.org/drawingml/2006/main">
              <a:ext uri="{FF2B5EF4-FFF2-40B4-BE49-F238E27FC236}">
                <a16:creationId xmlns:a16="http://schemas.microsoft.com/office/drawing/2014/main" id="{226A0734-7763-4BFA-A696-9A00D9D6605D}"/>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적용한 규칙</a:t>
            </a:r>
          </a:p>
        </p:txBody>
      </p:sp>
      <p:sp>
        <p:nvSpPr>
          <p:cNvPr id="6" name="body-1">
            <a:extLst xmlns:a="http://schemas.openxmlformats.org/drawingml/2006/main">
              <a:ext uri="{FF2B5EF4-FFF2-40B4-BE49-F238E27FC236}">
                <a16:creationId xmlns:a16="http://schemas.microsoft.com/office/drawing/2014/main" id="{FC0EFD65-810E-47A9-AB64-A2BA4EFCA0EB}"/>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이번 예제의 의존 관계는 여러 단계를 이어서 해석합니다.</a:t>
            </a:r>
          </a:p>
        </p:txBody>
      </p:sp>
      <p:sp>
        <p:nvSpPr>
          <p:cNvPr id="7" name="label-2">
            <a:extLst xmlns:a="http://schemas.openxmlformats.org/drawingml/2006/main">
              <a:ext uri="{FF2B5EF4-FFF2-40B4-BE49-F238E27FC236}">
                <a16:creationId xmlns:a16="http://schemas.microsoft.com/office/drawing/2014/main" id="{69FDE634-1368-4313-A5C1-B292CD6298B8}"/>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조회 결과</a:t>
            </a:r>
          </a:p>
        </p:txBody>
      </p:sp>
      <p:sp>
        <p:nvSpPr>
          <p:cNvPr id="8" name="body-2">
            <a:extLst xmlns:a="http://schemas.openxmlformats.org/drawingml/2006/main">
              <a:ext uri="{FF2B5EF4-FFF2-40B4-BE49-F238E27FC236}">
                <a16:creationId xmlns:a16="http://schemas.microsoft.com/office/drawing/2014/main" id="{5FF184A5-6BF5-417D-AEEE-016EA133E34B}"/>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날씨API를 직접 쓰는 모델과 간접 의존하는 배차시스템이 나옵니다.</a:t>
            </a:r>
          </a:p>
        </p:txBody>
      </p:sp>
      <p:sp>
        <p:nvSpPr>
          <p:cNvPr id="9" name="page">
            <a:extLst xmlns:a="http://schemas.openxmlformats.org/drawingml/2006/main">
              <a:ext uri="{FF2B5EF4-FFF2-40B4-BE49-F238E27FC236}">
                <a16:creationId xmlns:a16="http://schemas.microsoft.com/office/drawing/2014/main" id="{D90964D2-778A-4299-80F2-CED92F059EF6}"/>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09</a:t>
            </a:r>
          </a:p>
        </p:txBody>
      </p:sp>
      <p:sp>
        <p:nvSpPr>
          <p:cNvPr id="11" name="narrative-bridge">
            <a:extLst xmlns:a="http://schemas.openxmlformats.org/drawingml/2006/main">
              <a:ext uri="{FF2B5EF4-FFF2-40B4-BE49-F238E27FC236}">
                <a16:creationId xmlns:a16="http://schemas.microsoft.com/office/drawing/2014/main" id="{743A6BFA-1FE3-4C61-9EF8-6DDBC597E73F}"/>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관계를 이어 읽는 규칙에 더해, 관계로 종류를 알아낼 수도 있습니다.</a:t>
            </a:r>
          </a:p>
        </p:txBody>
      </p:sp>
    </p:spTree>
    <p:extLst>
      <p:ext uri="{BB962C8B-B14F-4D97-AF65-F5344CB8AC3E}">
        <p14:creationId xmlns:p14="http://schemas.microsoft.com/office/powerpoint/2010/main" val="1936930229"/>
      </p:ext>
    </p:extLst>
  </p:cSld>
</p:sld>
</file>

<file path=ppt/slides/slide1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5534EB52-8380-44DE-B4D5-10710C14BCE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DE344F70-2F87-42C4-9FA1-743148AB06B4}"/>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domain과 range는 종류를 붙여 줍니다</a:t>
            </a:r>
          </a:p>
        </p:txBody>
      </p:sp>
      <p:sp>
        <p:nvSpPr>
          <p:cNvPr id="3" name="label-0">
            <a:extLst xmlns:a="http://schemas.openxmlformats.org/drawingml/2006/main">
              <a:ext uri="{FF2B5EF4-FFF2-40B4-BE49-F238E27FC236}">
                <a16:creationId xmlns:a16="http://schemas.microsoft.com/office/drawing/2014/main" id="{164FF249-CC76-4778-9562-5DA997871BC7}"/>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domain / 주어의 종류</a:t>
            </a:r>
          </a:p>
        </p:txBody>
      </p:sp>
      <p:sp>
        <p:nvSpPr>
          <p:cNvPr id="4" name="body-0">
            <a:extLst xmlns:a="http://schemas.openxmlformats.org/drawingml/2006/main">
              <a:ext uri="{FF2B5EF4-FFF2-40B4-BE49-F238E27FC236}">
                <a16:creationId xmlns:a16="http://schemas.microsoft.com/office/drawing/2014/main" id="{79EF37F0-BA37-41D9-9CED-A953241FD530}"/>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uses 관계의 주어를 회사로 해석합니다.</a:t>
            </a:r>
          </a:p>
        </p:txBody>
      </p:sp>
      <p:sp>
        <p:nvSpPr>
          <p:cNvPr id="5" name="label-1">
            <a:extLst xmlns:a="http://schemas.openxmlformats.org/drawingml/2006/main">
              <a:ext uri="{FF2B5EF4-FFF2-40B4-BE49-F238E27FC236}">
                <a16:creationId xmlns:a16="http://schemas.microsoft.com/office/drawing/2014/main" id="{CF8462D7-821B-435B-B6D1-DC2CC24C7AD5}"/>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range / 목적어의 종류</a:t>
            </a:r>
          </a:p>
        </p:txBody>
      </p:sp>
      <p:sp>
        <p:nvSpPr>
          <p:cNvPr id="6" name="body-1">
            <a:extLst xmlns:a="http://schemas.openxmlformats.org/drawingml/2006/main">
              <a:ext uri="{FF2B5EF4-FFF2-40B4-BE49-F238E27FC236}">
                <a16:creationId xmlns:a16="http://schemas.microsoft.com/office/drawing/2014/main" id="{14959E32-890E-49FC-B261-5C319781C016}"/>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uses 관계의 목적어를 소프트웨어로 해석합니다.</a:t>
            </a:r>
          </a:p>
        </p:txBody>
      </p:sp>
      <p:sp>
        <p:nvSpPr>
          <p:cNvPr id="7" name="label-2">
            <a:extLst xmlns:a="http://schemas.openxmlformats.org/drawingml/2006/main">
              <a:ext uri="{FF2B5EF4-FFF2-40B4-BE49-F238E27FC236}">
                <a16:creationId xmlns:a16="http://schemas.microsoft.com/office/drawing/2014/main" id="{8C6539B0-6404-4EA4-ABEF-E23826F2519A}"/>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실제 동작</a:t>
            </a:r>
          </a:p>
        </p:txBody>
      </p:sp>
      <p:sp>
        <p:nvSpPr>
          <p:cNvPr id="8" name="body-2">
            <a:extLst xmlns:a="http://schemas.openxmlformats.org/drawingml/2006/main">
              <a:ext uri="{FF2B5EF4-FFF2-40B4-BE49-F238E27FC236}">
                <a16:creationId xmlns:a16="http://schemas.microsoft.com/office/drawing/2014/main" id="{CCF1FB6F-B7F2-4035-AB77-A244110C0E5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종류를 적지 않은 대상에 타입을 추가합니다. 입력을 거절하는 검사는 별도입니다.</a:t>
            </a:r>
          </a:p>
        </p:txBody>
      </p:sp>
      <p:sp>
        <p:nvSpPr>
          <p:cNvPr id="9" name="page">
            <a:extLst xmlns:a="http://schemas.openxmlformats.org/drawingml/2006/main">
              <a:ext uri="{FF2B5EF4-FFF2-40B4-BE49-F238E27FC236}">
                <a16:creationId xmlns:a16="http://schemas.microsoft.com/office/drawing/2014/main" id="{4E9EC887-7CE9-4B45-AE31-8BA1F32591E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10</a:t>
            </a:r>
          </a:p>
        </p:txBody>
      </p:sp>
      <p:sp>
        <p:nvSpPr>
          <p:cNvPr id="11" name="narrative-bridge">
            <a:extLst xmlns:a="http://schemas.openxmlformats.org/drawingml/2006/main">
              <a:ext uri="{FF2B5EF4-FFF2-40B4-BE49-F238E27FC236}">
                <a16:creationId xmlns:a16="http://schemas.microsoft.com/office/drawing/2014/main" id="{8E1BF345-8A07-429C-97F4-655161E2B4B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종류를 알아내는 규칙과 입력 오류를 검사하는 조건을 구분합니다.</a:t>
            </a:r>
          </a:p>
        </p:txBody>
      </p:sp>
    </p:spTree>
    <p:extLst>
      <p:ext uri="{BB962C8B-B14F-4D97-AF65-F5344CB8AC3E}">
        <p14:creationId xmlns:p14="http://schemas.microsoft.com/office/powerpoint/2010/main" val="578858719"/>
      </p:ext>
    </p:extLst>
  </p:cSld>
</p:sld>
</file>

<file path=ppt/slides/slide1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EEEF4F4E-D06B-4DB9-AFB4-C10354FBD4F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4E4494EB-76F4-4CD5-B774-E3649BD1C29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모르는 것과 잘못 입력한 것을 구분합니다</a:t>
            </a:r>
          </a:p>
        </p:txBody>
      </p:sp>
      <p:sp>
        <p:nvSpPr>
          <p:cNvPr id="3" name="label-0">
            <a:extLst xmlns:a="http://schemas.openxmlformats.org/drawingml/2006/main">
              <a:ext uri="{FF2B5EF4-FFF2-40B4-BE49-F238E27FC236}">
                <a16:creationId xmlns:a16="http://schemas.microsoft.com/office/drawing/2014/main" id="{B39A3B55-4891-415E-A3C6-C7A3EF880BEC}"/>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기록이 없을 때</a:t>
            </a:r>
          </a:p>
        </p:txBody>
      </p:sp>
      <p:sp>
        <p:nvSpPr>
          <p:cNvPr id="4" name="body-0">
            <a:extLst xmlns:a="http://schemas.openxmlformats.org/drawingml/2006/main">
              <a:ext uri="{FF2B5EF4-FFF2-40B4-BE49-F238E27FC236}">
                <a16:creationId xmlns:a16="http://schemas.microsoft.com/office/drawing/2014/main" id="{CE0AC153-F3B5-4551-995D-9BBB25F976D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OWL은 아직 모르는 정보일 수 있다고 봅니다.</a:t>
            </a:r>
          </a:p>
        </p:txBody>
      </p:sp>
      <p:sp>
        <p:nvSpPr>
          <p:cNvPr id="5" name="label-1">
            <a:extLst xmlns:a="http://schemas.openxmlformats.org/drawingml/2006/main">
              <a:ext uri="{FF2B5EF4-FFF2-40B4-BE49-F238E27FC236}">
                <a16:creationId xmlns:a16="http://schemas.microsoft.com/office/drawing/2014/main" id="{F85A1935-ACD5-49EA-969D-F37BA47F197F}"/>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필수 입력을 검사할 때</a:t>
            </a:r>
          </a:p>
        </p:txBody>
      </p:sp>
      <p:sp>
        <p:nvSpPr>
          <p:cNvPr id="6" name="body-1">
            <a:extLst xmlns:a="http://schemas.openxmlformats.org/drawingml/2006/main">
              <a:ext uri="{FF2B5EF4-FFF2-40B4-BE49-F238E27FC236}">
                <a16:creationId xmlns:a16="http://schemas.microsoft.com/office/drawing/2014/main" id="{D9AF9A5E-53D1-493C-BDFE-A1D600CEE88C}"/>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SHACL은 현재 데이터에 필요한 값이 있는지 확인합니다.</a:t>
            </a:r>
          </a:p>
        </p:txBody>
      </p:sp>
      <p:sp>
        <p:nvSpPr>
          <p:cNvPr id="7" name="label-2">
            <a:extLst xmlns:a="http://schemas.openxmlformats.org/drawingml/2006/main">
              <a:ext uri="{FF2B5EF4-FFF2-40B4-BE49-F238E27FC236}">
                <a16:creationId xmlns:a16="http://schemas.microsoft.com/office/drawing/2014/main" id="{099742B4-E9D1-444E-82C8-711A1133581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실습에서 비교할 것</a:t>
            </a:r>
          </a:p>
        </p:txBody>
      </p:sp>
      <p:sp>
        <p:nvSpPr>
          <p:cNvPr id="8" name="body-2">
            <a:extLst xmlns:a="http://schemas.openxmlformats.org/drawingml/2006/main">
              <a:ext uri="{FF2B5EF4-FFF2-40B4-BE49-F238E27FC236}">
                <a16:creationId xmlns:a16="http://schemas.microsoft.com/office/drawing/2014/main" id="{2606B5BD-0F5C-4FDC-B6E0-CE7CCA02123B}"/>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추론 전후의 조회 결과와 검증 결과를 함께 봅니다.</a:t>
            </a:r>
          </a:p>
        </p:txBody>
      </p:sp>
      <p:sp>
        <p:nvSpPr>
          <p:cNvPr id="9" name="page">
            <a:extLst xmlns:a="http://schemas.openxmlformats.org/drawingml/2006/main">
              <a:ext uri="{FF2B5EF4-FFF2-40B4-BE49-F238E27FC236}">
                <a16:creationId xmlns:a16="http://schemas.microsoft.com/office/drawing/2014/main" id="{134EA934-B03B-4CD7-AAC1-7E45D5B8C02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11</a:t>
            </a:r>
          </a:p>
        </p:txBody>
      </p:sp>
      <p:sp>
        <p:nvSpPr>
          <p:cNvPr id="11" name="narrative-bridge">
            <a:extLst xmlns:a="http://schemas.openxmlformats.org/drawingml/2006/main">
              <a:ext uri="{FF2B5EF4-FFF2-40B4-BE49-F238E27FC236}">
                <a16:creationId xmlns:a16="http://schemas.microsoft.com/office/drawing/2014/main" id="{18D8B464-6E03-440D-BFB0-FE8895DE9108}"/>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필수 관계가 빠졌을 때 SHACL 보고서가 어떻게 나오는지 봅니다.</a:t>
            </a:r>
          </a:p>
        </p:txBody>
      </p:sp>
    </p:spTree>
    <p:extLst>
      <p:ext uri="{BB962C8B-B14F-4D97-AF65-F5344CB8AC3E}">
        <p14:creationId xmlns:p14="http://schemas.microsoft.com/office/powerpoint/2010/main" val="1384246022"/>
      </p:ext>
    </p:extLst>
  </p:cSld>
</p:sld>
</file>

<file path=ppt/slides/slide1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25FD97B8-11B0-4676-8C5F-46D039E6381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2DD6284-695F-4B6B-8C00-83B801647D40}"/>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오류 보고서는 이 세 곳을 보면 됩니다</a:t>
            </a:r>
          </a:p>
        </p:txBody>
      </p:sp>
      <p:graphicFrame>
        <p:nvGraphicFramePr>
          <p:cNvPr id="3" name="">
            <a:extLst xmlns:a="http://schemas.openxmlformats.org/drawingml/2006/main">
              <a:ext uri="{FF2B5EF4-FFF2-40B4-BE49-F238E27FC236}">
                <a16:creationId xmlns:a16="http://schemas.microsoft.com/office/drawing/2014/main" id="{328B0320-A513-403E-AC1F-60668D0AEADA}"/>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보고서 항목</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뜻</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이번 오류</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focusNode</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어느 대상의 문제인가?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물류사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resultPath</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어느 관계를 검사했나?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uses / 사용 시스템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constraint</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어떤 조건을 어겼나?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하나 이상 있어야 하는데 없음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수정 방법</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무엇을 복구해야 하나?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물류사의 uses 관계</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8C9077A2-53E5-4486-98D8-BEB76FD2F02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12</a:t>
            </a:r>
          </a:p>
        </p:txBody>
      </p:sp>
      <p:sp>
        <p:nvSpPr>
          <p:cNvPr id="6" name="narrative-bridge">
            <a:extLst xmlns:a="http://schemas.openxmlformats.org/drawingml/2006/main">
              <a:ext uri="{FF2B5EF4-FFF2-40B4-BE49-F238E27FC236}">
                <a16:creationId xmlns:a16="http://schemas.microsoft.com/office/drawing/2014/main" id="{A2D38E22-23D6-4BFF-9650-B2FEC9F15FBC}"/>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입력을 고쳤다면, 연결을 조회하고 그 근거 문서까지 확인합니다.</a:t>
            </a:r>
          </a:p>
        </p:txBody>
      </p:sp>
    </p:spTree>
    <p:extLst>
      <p:ext uri="{BB962C8B-B14F-4D97-AF65-F5344CB8AC3E}">
        <p14:creationId xmlns:p14="http://schemas.microsoft.com/office/powerpoint/2010/main" val="1925440516"/>
      </p:ext>
    </p:extLst>
  </p:cSld>
</p:sld>
</file>

<file path=ppt/slides/slide1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B6867EFD-BD54-4137-854C-B2319AC4E19E}"/>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A9077F7-8398-428B-A238-8C228B6431A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찾은 대상에서 원문까지 확인합니다</a:t>
            </a:r>
          </a:p>
        </p:txBody>
      </p:sp>
      <p:sp>
        <p:nvSpPr>
          <p:cNvPr id="3" name="code-label-0">
            <a:extLst xmlns:a="http://schemas.openxmlformats.org/drawingml/2006/main">
              <a:ext uri="{FF2B5EF4-FFF2-40B4-BE49-F238E27FC236}">
                <a16:creationId xmlns:a16="http://schemas.microsoft.com/office/drawing/2014/main" id="{46930975-AF17-4686-B7CC-BE4F7190E9F3}"/>
              </a:ext>
            </a:extLst>
          </p:cNvPr>
          <p:cNvSpPr>
            <a:spLocks xmlns:a="http://schemas.openxmlformats.org/drawingml/2006/main" noGrp="1"/>
          </p:cNvSpPr>
          <p:nvPr/>
        </p:nvSpPr>
        <p:spPr>
          <a:xfrm xmlns:a="http://schemas.openxmlformats.org/drawingml/2006/main">
            <a:off x="6096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① 날씨API 의존 시스템 조회</a:t>
            </a:r>
          </a:p>
        </p:txBody>
      </p:sp>
      <p:sp>
        <p:nvSpPr>
          <p:cNvPr id="4" name="code-0">
            <a:extLst xmlns:a="http://schemas.openxmlformats.org/drawingml/2006/main">
              <a:ext uri="{FF2B5EF4-FFF2-40B4-BE49-F238E27FC236}">
                <a16:creationId xmlns:a16="http://schemas.microsoft.com/office/drawing/2014/main" id="{B52FF730-9B4C-4D0E-987D-87B547AC0E23}"/>
              </a:ext>
            </a:extLst>
          </p:cNvPr>
          <p:cNvSpPr>
            <a:spLocks xmlns:a="http://schemas.openxmlformats.org/drawingml/2006/main" noGrp="1"/>
          </p:cNvSpPr>
          <p:nvPr/>
        </p:nvSpPr>
        <p:spPr>
          <a:xfrm xmlns:a="http://schemas.openxmlformats.org/drawingml/2006/main">
            <a:off x="6096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SELECT ?system WHERE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?system ex:dependsOn ex:날씨API</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a:t>
            </a:r>
          </a:p>
          <a:p xmlns:a="http://schemas.openxmlformats.org/drawingml/2006/main">
            <a:r>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추론 ON 결과</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배차시스템, 도착예측모델</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이 중 배차시스템의 문서를 찾아봅니다.</a:t>
            </a:r>
          </a:p>
        </p:txBody>
      </p:sp>
      <p:sp>
        <p:nvSpPr>
          <p:cNvPr id="5" name="code-label-1">
            <a:extLst xmlns:a="http://schemas.openxmlformats.org/drawingml/2006/main">
              <a:ext uri="{FF2B5EF4-FFF2-40B4-BE49-F238E27FC236}">
                <a16:creationId xmlns:a16="http://schemas.microsoft.com/office/drawing/2014/main" id="{0758C6B6-D9E3-48AE-88B8-EE0A3C03491E}"/>
              </a:ext>
            </a:extLst>
          </p:cNvPr>
          <p:cNvSpPr>
            <a:spLocks xmlns:a="http://schemas.openxmlformats.org/drawingml/2006/main" noGrp="1"/>
          </p:cNvSpPr>
          <p:nvPr/>
        </p:nvSpPr>
        <p:spPr>
          <a:xfrm xmlns:a="http://schemas.openxmlformats.org/drawingml/2006/main">
            <a:off x="62103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② FACTS에 미리 넣어 둔 문서 연결</a:t>
            </a:r>
          </a:p>
        </p:txBody>
      </p:sp>
      <p:sp>
        <p:nvSpPr>
          <p:cNvPr id="6" name="code-1">
            <a:extLst xmlns:a="http://schemas.openxmlformats.org/drawingml/2006/main">
              <a:ext uri="{FF2B5EF4-FFF2-40B4-BE49-F238E27FC236}">
                <a16:creationId xmlns:a16="http://schemas.microsoft.com/office/drawing/2014/main" id="{FFEA1A0A-F310-471D-A13C-3CF4B294E04E}"/>
              </a:ext>
            </a:extLst>
          </p:cNvPr>
          <p:cNvSpPr>
            <a:spLocks xmlns:a="http://schemas.openxmlformats.org/drawingml/2006/main" noGrp="1"/>
          </p:cNvSpPr>
          <p:nvPr/>
        </p:nvSpPr>
        <p:spPr>
          <a:xfrm xmlns:a="http://schemas.openxmlformats.org/drawingml/2006/main">
            <a:off x="62103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ex:운영문서 ex:describes ex:배차시스템 .</a:t>
            </a:r>
          </a:p>
          <a:p xmlns:a="http://schemas.openxmlformats.org/drawingml/2006/main">
            <a:pPr>
              <a:buNone/>
              <a:defRPr sz="1725">
                <a:solidFill>
                  <a:srgbClr val="E4EFEC"/>
                </a:solidFill>
                <a:latin typeface="Noto Sans KR"/>
                <a:ea typeface="Noto Sans KR"/>
                <a:cs typeface="Noto Sans KR"/>
              </a:defRPr>
            </a:pPr>
            <a:r>
              <a:rPr sz="1725">
                <a:solidFill>
                  <a:srgbClr val="E4EFEC"/>
                </a:solidFill>
                <a:latin typeface="Noto Sans KR"/>
                <a:ea typeface="Noto Sans KR"/>
                <a:cs typeface="Noto Sans KR"/>
              </a:rPr>
              <a:t>ex:운영문서 ex:text</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"배차시스템은 도착예측모델의 결과로 배차 순서를 정한다."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배차시스템을 찾으면</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① describes로 연결된 운영문서를 찾고</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② 그 문서의 text를 화면에 표시합니다.</a:t>
            </a:r>
          </a:p>
        </p:txBody>
      </p:sp>
      <p:sp>
        <p:nvSpPr>
          <p:cNvPr id="7" name="page">
            <a:extLst xmlns:a="http://schemas.openxmlformats.org/drawingml/2006/main">
              <a:ext uri="{FF2B5EF4-FFF2-40B4-BE49-F238E27FC236}">
                <a16:creationId xmlns:a16="http://schemas.microsoft.com/office/drawing/2014/main" id="{127D2170-2C07-47DE-BDC5-E1DD25BB9279}"/>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13</a:t>
            </a:r>
          </a:p>
        </p:txBody>
      </p:sp>
      <p:sp>
        <p:nvSpPr>
          <p:cNvPr id="9" name="narrative-bridge">
            <a:extLst xmlns:a="http://schemas.openxmlformats.org/drawingml/2006/main">
              <a:ext uri="{FF2B5EF4-FFF2-40B4-BE49-F238E27FC236}">
                <a16:creationId xmlns:a16="http://schemas.microsoft.com/office/drawing/2014/main" id="{C9F31298-624A-4109-91BC-0FA5E37A2604}"/>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문서 연결은 사람이 미리 작성했습니다. 조회 후 Python 코드가 연결된 문서의 본문을 가져옵니다.</a:t>
            </a:r>
          </a:p>
        </p:txBody>
      </p:sp>
    </p:spTree>
    <p:extLst>
      <p:ext uri="{BB962C8B-B14F-4D97-AF65-F5344CB8AC3E}">
        <p14:creationId xmlns:p14="http://schemas.microsoft.com/office/powerpoint/2010/main" val="237399388"/>
      </p:ext>
    </p:extLst>
  </p:cSld>
</p:sld>
</file>

<file path=ppt/slides/slide1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84170C1C-3612-49BC-BC0B-D6EA092C3F4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21E432C9-04E9-43A9-9944-9D061913FCF7}"/>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실습은 이렇게 바꿔 보시면 됩니다</a:t>
            </a:r>
          </a:p>
        </p:txBody>
      </p:sp>
      <p:graphicFrame>
        <p:nvGraphicFramePr>
          <p:cNvPr id="3" name="">
            <a:extLst xmlns:a="http://schemas.openxmlformats.org/drawingml/2006/main">
              <a:ext uri="{FF2B5EF4-FFF2-40B4-BE49-F238E27FC236}">
                <a16:creationId xmlns:a16="http://schemas.microsoft.com/office/drawing/2014/main" id="{2ED7ABFF-88E9-4960-8252-2BC2D1F024BD}"/>
              </a:ext>
            </a:extLst>
          </p:cNvPr>
          <p:cNvGraphicFramePr/>
          <p:nvPr/>
        </p:nvGraphicFramePr>
        <p:xfrm>
          <a:off xmlns:a="http://schemas.openxmlformats.org/drawingml/2006/main" x="609600" y="1866900"/>
          <a:ext xmlns:a="http://schemas.openxmlformats.org/drawingml/2006/main" cx="10972800" cy="4095750"/>
        </p:xfrm>
        <a:graphic xmlns:a="http://schemas.openxmlformats.org/drawingml/2006/main">
          <a:graphicData uri="http://schemas.openxmlformats.org/drawingml/2006/table">
            <a:tbl>
              <a:tblPr/>
              <a:tblGrid>
                <a:gridCol w="2286000"/>
                <a:gridCol w="3857625"/>
                <a:gridCol w="4829175"/>
              </a:tblGrid>
              <a:tr h="585107">
                <a:tc>
                  <a:txBody>
                    <a:bodyPr/>
                    <a:lstStyle/>
                    <a:p>
                      <a:r>
                        <a:rPr sz="1800" b="1">
                          <a:solidFill>
                            <a:srgbClr val="A4DDCA"/>
                          </a:solidFill>
                          <a:latin typeface="Noto Sans KR"/>
                          <a:ea typeface="Noto Sans KR"/>
                          <a:cs typeface="Noto Sans KR"/>
                        </a:rPr>
                        <a:t>실습</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바꿀 내용</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예상 결과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585107">
                <a:tc>
                  <a:txBody>
                    <a:bodyPr/>
                    <a:lstStyle/>
                    <a:p>
                      <a:r>
                        <a:rPr sz="1725" b="0">
                          <a:solidFill>
                            <a:srgbClr val="E4EFEC"/>
                          </a:solidFill>
                          <a:latin typeface="Noto Sans KR"/>
                          <a:ea typeface="Noto Sans KR"/>
                          <a:cs typeface="Noto Sans KR"/>
                        </a:rPr>
                        <a:t>1. 종류</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추론을 끄고 다시 켜기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소프트웨어 목록 2개 / 3개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2. 의존 경로</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날씨API 의존 질문 선택</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직접 연결 1개 / 간접 포함 2개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3. 반대 방향</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시스템 사용자 질문 선택</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0개 / 물류사 1개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4. 필수 입력</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uses 관계만 지우기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누락 오류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5. 이름과 개체</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개체 대신 문자열 넣기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값 종류 오류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6. 타입 선언</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domain/range 예제 실행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대상의 종류가 새로 붙음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0429EF85-AC46-4307-95D3-9F67860E66A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14</a:t>
            </a:r>
          </a:p>
        </p:txBody>
      </p:sp>
      <p:sp>
        <p:nvSpPr>
          <p:cNvPr id="6" name="narrative-bridge">
            <a:extLst xmlns:a="http://schemas.openxmlformats.org/drawingml/2006/main">
              <a:ext uri="{FF2B5EF4-FFF2-40B4-BE49-F238E27FC236}">
                <a16:creationId xmlns:a16="http://schemas.microsoft.com/office/drawing/2014/main" id="{45C4BF9D-4B60-4A3C-A848-617A2942537F}"/>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실습에서 바꿔 본 규칙과 데이터는 실제 업무에서도 함께 관리합니다.</a:t>
            </a:r>
          </a:p>
        </p:txBody>
      </p:sp>
    </p:spTree>
    <p:extLst>
      <p:ext uri="{BB962C8B-B14F-4D97-AF65-F5344CB8AC3E}">
        <p14:creationId xmlns:p14="http://schemas.microsoft.com/office/powerpoint/2010/main" val="1805687597"/>
      </p:ext>
    </p:extLst>
  </p:cSld>
</p:sld>
</file>

<file path=ppt/slides/slide1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054327BF-5BAE-4C4A-B946-F51B6BE936F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303C8D9-5996-4B95-97D8-50FE29D47303}"/>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실제 업무에서는 계속 고쳐 나갑니다</a:t>
            </a:r>
          </a:p>
        </p:txBody>
      </p:sp>
      <p:sp>
        <p:nvSpPr>
          <p:cNvPr id="3" name="label-0">
            <a:extLst xmlns:a="http://schemas.openxmlformats.org/drawingml/2006/main">
              <a:ext uri="{FF2B5EF4-FFF2-40B4-BE49-F238E27FC236}">
                <a16:creationId xmlns:a16="http://schemas.microsoft.com/office/drawing/2014/main" id="{1E42BAA9-2D39-4FDD-BB15-1D77055944C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작은 범위부터</a:t>
            </a:r>
          </a:p>
        </p:txBody>
      </p:sp>
      <p:sp>
        <p:nvSpPr>
          <p:cNvPr id="4" name="body-0">
            <a:extLst xmlns:a="http://schemas.openxmlformats.org/drawingml/2006/main">
              <a:ext uri="{FF2B5EF4-FFF2-40B4-BE49-F238E27FC236}">
                <a16:creationId xmlns:a16="http://schemas.microsoft.com/office/drawing/2014/main" id="{1D5CFC79-E9D3-4822-8BAE-6BF5524BAA0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업무 질문 몇 개와 필요한 대상부터 정합니다.</a:t>
            </a:r>
          </a:p>
        </p:txBody>
      </p:sp>
      <p:sp>
        <p:nvSpPr>
          <p:cNvPr id="5" name="label-1">
            <a:extLst xmlns:a="http://schemas.openxmlformats.org/drawingml/2006/main">
              <a:ext uri="{FF2B5EF4-FFF2-40B4-BE49-F238E27FC236}">
                <a16:creationId xmlns:a16="http://schemas.microsoft.com/office/drawing/2014/main" id="{C32849B4-D107-4A1B-A06C-CE79233FF261}"/>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담당자와 의미 맞추기</a:t>
            </a:r>
          </a:p>
        </p:txBody>
      </p:sp>
      <p:sp>
        <p:nvSpPr>
          <p:cNvPr id="6" name="body-1">
            <a:extLst xmlns:a="http://schemas.openxmlformats.org/drawingml/2006/main">
              <a:ext uri="{FF2B5EF4-FFF2-40B4-BE49-F238E27FC236}">
                <a16:creationId xmlns:a16="http://schemas.microsoft.com/office/drawing/2014/main" id="{EBCCC920-B880-4F84-B1F1-B046FA31B3C6}"/>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용어와 관계를 누가 정의하고 바꿀지 정합니다.</a:t>
            </a:r>
          </a:p>
        </p:txBody>
      </p:sp>
      <p:sp>
        <p:nvSpPr>
          <p:cNvPr id="7" name="label-2">
            <a:extLst xmlns:a="http://schemas.openxmlformats.org/drawingml/2006/main">
              <a:ext uri="{FF2B5EF4-FFF2-40B4-BE49-F238E27FC236}">
                <a16:creationId xmlns:a16="http://schemas.microsoft.com/office/drawing/2014/main" id="{8FD55FBB-5123-453F-9997-692EA57145D2}"/>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수정 후 다시 확인하기</a:t>
            </a:r>
          </a:p>
        </p:txBody>
      </p:sp>
      <p:sp>
        <p:nvSpPr>
          <p:cNvPr id="8" name="body-2">
            <a:extLst xmlns:a="http://schemas.openxmlformats.org/drawingml/2006/main">
              <a:ext uri="{FF2B5EF4-FFF2-40B4-BE49-F238E27FC236}">
                <a16:creationId xmlns:a16="http://schemas.microsoft.com/office/drawing/2014/main" id="{E8225899-087E-4D99-A820-099C3657CE5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기존 질문의 답과 입력 검사 결과를 비교합니다.</a:t>
            </a:r>
          </a:p>
        </p:txBody>
      </p:sp>
      <p:sp>
        <p:nvSpPr>
          <p:cNvPr id="9" name="page">
            <a:extLst xmlns:a="http://schemas.openxmlformats.org/drawingml/2006/main">
              <a:ext uri="{FF2B5EF4-FFF2-40B4-BE49-F238E27FC236}">
                <a16:creationId xmlns:a16="http://schemas.microsoft.com/office/drawing/2014/main" id="{092FE296-3784-45D0-B215-22E2A0C9F77E}"/>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15</a:t>
            </a:r>
          </a:p>
        </p:txBody>
      </p:sp>
      <p:sp>
        <p:nvSpPr>
          <p:cNvPr id="11" name="narrative-bridge">
            <a:extLst xmlns:a="http://schemas.openxmlformats.org/drawingml/2006/main">
              <a:ext uri="{FF2B5EF4-FFF2-40B4-BE49-F238E27FC236}">
                <a16:creationId xmlns:a16="http://schemas.microsoft.com/office/drawing/2014/main" id="{4D240D31-3767-4C04-A240-B6310DD5F105}"/>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이렇게 정리한 연결을 이제 답변에 필요한 근거를 찾는 데 활용합니다.</a:t>
            </a:r>
          </a:p>
        </p:txBody>
      </p:sp>
    </p:spTree>
    <p:extLst>
      <p:ext uri="{BB962C8B-B14F-4D97-AF65-F5344CB8AC3E}">
        <p14:creationId xmlns:p14="http://schemas.microsoft.com/office/powerpoint/2010/main" val="1238508376"/>
      </p:ext>
    </p:extLst>
  </p:cSld>
</p:sld>
</file>

<file path=ppt/slides/slide1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7313E76B-7446-435F-84D5-879E32E718F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검색 구조 비교</a:t>
            </a:r>
          </a:p>
        </p:txBody>
      </p:sp>
      <p:sp>
        <p:nvSpPr>
          <p:cNvPr id="2" name="title">
            <a:extLst xmlns:a="http://schemas.openxmlformats.org/drawingml/2006/main">
              <a:ext uri="{FF2B5EF4-FFF2-40B4-BE49-F238E27FC236}">
                <a16:creationId xmlns:a16="http://schemas.microsoft.com/office/drawing/2014/main" id="{7CB52FC4-B0F5-4A12-AE89-CFACB1AC7CC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온톨로지의 연결을 GraphRAG 검색에 활용</a:t>
            </a:r>
          </a:p>
        </p:txBody>
      </p:sp>
      <p:graphicFrame>
        <p:nvGraphicFramePr>
          <p:cNvPr id="3" name="">
            <a:extLst xmlns:a="http://schemas.openxmlformats.org/drawingml/2006/main">
              <a:ext uri="{FF2B5EF4-FFF2-40B4-BE49-F238E27FC236}">
                <a16:creationId xmlns:a16="http://schemas.microsoft.com/office/drawing/2014/main" id="{94B80051-7BCC-4D1F-855D-5E5BE84013FF}"/>
              </a:ext>
            </a:extLst>
          </p:cNvPr>
          <p:cNvGraphicFramePr/>
          <p:nvPr/>
        </p:nvGraphicFramePr>
        <p:xfrm>
          <a:off xmlns:a="http://schemas.openxmlformats.org/drawingml/2006/main" x="609600" y="1866900"/>
          <a:ext xmlns:a="http://schemas.openxmlformats.org/drawingml/2006/main" cx="10972800" cy="2476500"/>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단계</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하는 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나오는 결과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규칙 추론</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명시한 규칙을 사실에 적용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추가로 알 수 있는 사실</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GraphRAG 검색</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질문에 관련된 연결과 문서 찾기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답변에 쓸 근거 후보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LLM 답변 생성</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질문과 근거를 읽고 설명 작성</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자연어 답변과 인용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8E07C337-3400-4E6F-84C0-3DD75462C4F4}"/>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16</a:t>
            </a:r>
          </a:p>
        </p:txBody>
      </p:sp>
      <p:sp>
        <p:nvSpPr>
          <p:cNvPr id="6" name="narrative-bridge">
            <a:extLst xmlns:a="http://schemas.openxmlformats.org/drawingml/2006/main">
              <a:ext uri="{FF2B5EF4-FFF2-40B4-BE49-F238E27FC236}">
                <a16:creationId xmlns:a16="http://schemas.microsoft.com/office/drawing/2014/main" id="{D17B31D0-C28A-4E21-9F62-C27403AC7CA2}"/>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GraphRAG는 저장 구조와 근거를 찾는 방식으로 비교하겠습니다.</a:t>
            </a:r>
          </a:p>
        </p:txBody>
      </p:sp>
    </p:spTree>
    <p:extLst>
      <p:ext uri="{BB962C8B-B14F-4D97-AF65-F5344CB8AC3E}">
        <p14:creationId xmlns:p14="http://schemas.microsoft.com/office/powerpoint/2010/main" val="1677037954"/>
      </p:ext>
    </p:extLst>
  </p:cSld>
</p:sld>
</file>

<file path=ppt/slides/slide1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7B5FC685-C12D-4DE2-A40A-72D44C51502B}"/>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검색 구조 비교</a:t>
            </a:r>
          </a:p>
        </p:txBody>
      </p:sp>
      <p:sp>
        <p:nvSpPr>
          <p:cNvPr id="2" name="title">
            <a:extLst xmlns:a="http://schemas.openxmlformats.org/drawingml/2006/main">
              <a:ext uri="{FF2B5EF4-FFF2-40B4-BE49-F238E27FC236}">
                <a16:creationId xmlns:a16="http://schemas.microsoft.com/office/drawing/2014/main" id="{6EF35ECC-7504-4F52-ABF0-3B2FB73AAAA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같은 기준으로 비교하는 검색 방법</a:t>
            </a:r>
          </a:p>
        </p:txBody>
      </p:sp>
      <p:graphicFrame>
        <p:nvGraphicFramePr>
          <p:cNvPr id="3" name="">
            <a:extLst xmlns:a="http://schemas.openxmlformats.org/drawingml/2006/main">
              <a:ext uri="{FF2B5EF4-FFF2-40B4-BE49-F238E27FC236}">
                <a16:creationId xmlns:a16="http://schemas.microsoft.com/office/drawing/2014/main" id="{88D53504-E84D-4BEF-AC64-6A55E5FFF8E5}"/>
              </a:ext>
            </a:extLst>
          </p:cNvPr>
          <p:cNvGraphicFramePr/>
          <p:nvPr/>
        </p:nvGraphicFramePr>
        <p:xfrm>
          <a:off xmlns:a="http://schemas.openxmlformats.org/drawingml/2006/main" x="609600" y="1866900"/>
          <a:ext xmlns:a="http://schemas.openxmlformats.org/drawingml/2006/main" cx="10972800" cy="3714750"/>
        </p:xfrm>
        <a:graphic xmlns:a="http://schemas.openxmlformats.org/drawingml/2006/main">
          <a:graphicData uri="http://schemas.openxmlformats.org/drawingml/2006/table">
            <a:tbl>
              <a:tblPr/>
              <a:tblGrid>
                <a:gridCol w="2333625"/>
                <a:gridCol w="8639175"/>
              </a:tblGrid>
              <a:tr h="619125">
                <a:tc>
                  <a:txBody>
                    <a:bodyPr/>
                    <a:lstStyle/>
                    <a:p>
                      <a:r>
                        <a:rPr sz="1800" b="1">
                          <a:solidFill>
                            <a:srgbClr val="A4DDCA"/>
                          </a:solidFill>
                          <a:latin typeface="Noto Sans KR"/>
                          <a:ea typeface="Noto Sans KR"/>
                          <a:cs typeface="Noto Sans KR"/>
                        </a:rPr>
                        <a:t>비교할 것</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확인할 질문</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저장 대상</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원문, 개체, 관계, 요약 중 무엇을 저장하나요?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사전 준비 / 색인</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문서를 어떤 검색 구조로 바꾸나요?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질문 처리 / 검색</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질문이 오면 어떤 순서로 찾나요?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답변 근거</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찾은 내용 중 무엇을 LLM에 주나요?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비용과 오류</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준비·검색·생성 중 어디서 문제가 생기나요?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241D08AA-6BD0-4A5B-BA86-BD04B1291E3F}"/>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17</a:t>
            </a:r>
          </a:p>
        </p:txBody>
      </p:sp>
      <p:sp>
        <p:nvSpPr>
          <p:cNvPr id="6" name="narrative-bridge">
            <a:extLst xmlns:a="http://schemas.openxmlformats.org/drawingml/2006/main">
              <a:ext uri="{FF2B5EF4-FFF2-40B4-BE49-F238E27FC236}">
                <a16:creationId xmlns:a16="http://schemas.microsoft.com/office/drawing/2014/main" id="{96607B0B-7171-4844-B887-6E528CA680E9}"/>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먼저 여러 문서를 요약해 넓은 질문에 답하는 방법부터 봅니다.</a:t>
            </a:r>
          </a:p>
        </p:txBody>
      </p:sp>
    </p:spTree>
    <p:extLst>
      <p:ext uri="{BB962C8B-B14F-4D97-AF65-F5344CB8AC3E}">
        <p14:creationId xmlns:p14="http://schemas.microsoft.com/office/powerpoint/2010/main" val="1573125871"/>
      </p:ext>
    </p:extLst>
  </p:cSld>
</p:sld>
</file>

<file path=ppt/slides/slide18.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89838BCB-15D1-4BE8-9C4D-49B5AE4A82FA}"/>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8A76BA4E-FDB7-4565-A6FF-20FC5D6A4F7A}"/>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8DE2EDD2-D82A-44EC-9406-7689560CA3CD}"/>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8498BA32-8761-4EA0-B9B4-B8802D7768E8}"/>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215624C6-5960-4195-B831-A214FBB055BC}"/>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33D57CD8-F275-49F6-8FE2-B6FE0697A212}"/>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761EBD2B-EB4D-41A0-885A-C31747005584}"/>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4D629B42-7C8F-4E06-8583-7AC059EB1C92}"/>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F85F428F-AE69-4F19-9540-4F0BEE75F64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요약과 그룹</a:t>
            </a:r>
          </a:p>
        </p:txBody>
      </p:sp>
      <p:sp>
        <p:nvSpPr>
          <p:cNvPr id="2" name="">
            <a:extLst xmlns:a="http://schemas.openxmlformats.org/drawingml/2006/main">
              <a:ext uri="{FF2B5EF4-FFF2-40B4-BE49-F238E27FC236}">
                <a16:creationId xmlns:a16="http://schemas.microsoft.com/office/drawing/2014/main" id="{AA9065C1-0C69-4547-80AA-0BB4B4D9EF4C}"/>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RAPTOR의 전체 처리 순서</a:t>
            </a:r>
          </a:p>
        </p:txBody>
      </p:sp>
      <p:sp>
        <p:nvSpPr>
          <p:cNvPr id="3" name="">
            <a:extLst xmlns:a="http://schemas.openxmlformats.org/drawingml/2006/main">
              <a:ext uri="{FF2B5EF4-FFF2-40B4-BE49-F238E27FC236}">
                <a16:creationId xmlns:a16="http://schemas.microsoft.com/office/drawing/2014/main" id="{63B595E7-B1DA-4434-8855-3CAC42F39184}"/>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18</a:t>
            </a:r>
          </a:p>
        </p:txBody>
      </p:sp>
      <p:sp>
        <p:nvSpPr>
          <p:cNvPr id="4" name="">
            <a:extLst xmlns:a="http://schemas.openxmlformats.org/drawingml/2006/main">
              <a:ext uri="{FF2B5EF4-FFF2-40B4-BE49-F238E27FC236}">
                <a16:creationId xmlns:a16="http://schemas.microsoft.com/office/drawing/2014/main" id="{B0CB6D70-FE30-47FB-BAB3-6C8F9FF940E0}"/>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E31DCB46-5042-4B21-8313-5F0F4357B191}"/>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원문을 나누고 벡터로 변환</a:t>
            </a:r>
          </a:p>
        </p:txBody>
      </p:sp>
      <p:sp>
        <p:nvSpPr>
          <p:cNvPr id="6" name="">
            <a:extLst xmlns:a="http://schemas.openxmlformats.org/drawingml/2006/main">
              <a:ext uri="{FF2B5EF4-FFF2-40B4-BE49-F238E27FC236}">
                <a16:creationId xmlns:a16="http://schemas.microsoft.com/office/drawing/2014/main" id="{B397C984-D973-461A-BB97-AC484F8E214E}"/>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비슷한 문서 조각을 묶기</a:t>
            </a:r>
          </a:p>
        </p:txBody>
      </p:sp>
      <p:sp>
        <p:nvSpPr>
          <p:cNvPr id="8" name="">
            <a:extLst xmlns:a="http://schemas.openxmlformats.org/drawingml/2006/main">
              <a:ext uri="{FF2B5EF4-FFF2-40B4-BE49-F238E27FC236}">
                <a16:creationId xmlns:a16="http://schemas.microsoft.com/office/drawing/2014/main" id="{382FCA02-CC2C-4A40-8A6F-19E780A27BAE}"/>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묶음마다 요약문 작성</a:t>
            </a:r>
          </a:p>
        </p:txBody>
      </p:sp>
      <p:sp>
        <p:nvSpPr>
          <p:cNvPr id="10" name="">
            <a:extLst xmlns:a="http://schemas.openxmlformats.org/drawingml/2006/main">
              <a:ext uri="{FF2B5EF4-FFF2-40B4-BE49-F238E27FC236}">
                <a16:creationId xmlns:a16="http://schemas.microsoft.com/office/drawing/2014/main" id="{4E6CDCC6-B506-49FA-BAF3-4D8FFBB3C0F0}"/>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요약을 다시 묶고 요약</a:t>
            </a:r>
          </a:p>
        </p:txBody>
      </p:sp>
      <p:sp>
        <p:nvSpPr>
          <p:cNvPr id="12" name="">
            <a:extLst xmlns:a="http://schemas.openxmlformats.org/drawingml/2006/main">
              <a:ext uri="{FF2B5EF4-FFF2-40B4-BE49-F238E27FC236}">
                <a16:creationId xmlns:a16="http://schemas.microsoft.com/office/drawing/2014/main" id="{BA65E24B-B5F2-43C2-BDAA-04E5D4EC753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원문과 여러 층의 요약 저장</a:t>
            </a:r>
          </a:p>
        </p:txBody>
      </p:sp>
      <p:sp>
        <p:nvSpPr>
          <p:cNvPr id="14" name="">
            <a:extLst xmlns:a="http://schemas.openxmlformats.org/drawingml/2006/main">
              <a:ext uri="{FF2B5EF4-FFF2-40B4-BE49-F238E27FC236}">
                <a16:creationId xmlns:a16="http://schemas.microsoft.com/office/drawing/2014/main" id="{3F60E42A-E116-421B-8FFA-FCC9D6741B59}"/>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5269E313-80A8-436C-9A95-31996E4541A7}"/>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질문을 벡터로 변환</a:t>
            </a:r>
          </a:p>
        </p:txBody>
      </p:sp>
      <p:sp>
        <p:nvSpPr>
          <p:cNvPr id="16" name="">
            <a:extLst xmlns:a="http://schemas.openxmlformats.org/drawingml/2006/main">
              <a:ext uri="{FF2B5EF4-FFF2-40B4-BE49-F238E27FC236}">
                <a16:creationId xmlns:a16="http://schemas.microsoft.com/office/drawing/2014/main" id="{58D5A363-D4A2-432A-AB1E-ACAA51380296}"/>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질문과 맞는 층·노드 찾기</a:t>
            </a:r>
          </a:p>
        </p:txBody>
      </p:sp>
      <p:sp>
        <p:nvSpPr>
          <p:cNvPr id="18" name="">
            <a:extLst xmlns:a="http://schemas.openxmlformats.org/drawingml/2006/main">
              <a:ext uri="{FF2B5EF4-FFF2-40B4-BE49-F238E27FC236}">
                <a16:creationId xmlns:a16="http://schemas.microsoft.com/office/drawing/2014/main" id="{39FD05B6-A4E8-442D-8231-A1C2979CCB06}"/>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관련 원문과 요약 선택</a:t>
            </a:r>
          </a:p>
        </p:txBody>
      </p:sp>
      <p:sp>
        <p:nvSpPr>
          <p:cNvPr id="20" name="">
            <a:extLst xmlns:a="http://schemas.openxmlformats.org/drawingml/2006/main">
              <a:ext uri="{FF2B5EF4-FFF2-40B4-BE49-F238E27FC236}">
                <a16:creationId xmlns:a16="http://schemas.microsoft.com/office/drawing/2014/main" id="{E5020E26-4CF1-4940-AD94-8E6B826533C7}"/>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필요한 내용을 함께 모으기</a:t>
            </a:r>
          </a:p>
        </p:txBody>
      </p:sp>
      <p:sp>
        <p:nvSpPr>
          <p:cNvPr id="22" name="">
            <a:extLst xmlns:a="http://schemas.openxmlformats.org/drawingml/2006/main">
              <a:ext uri="{FF2B5EF4-FFF2-40B4-BE49-F238E27FC236}">
                <a16:creationId xmlns:a16="http://schemas.microsoft.com/office/drawing/2014/main" id="{788F9C55-96BD-4629-A35F-032DDF1B1383}"/>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근거를 읽고 답변 작성</a:t>
            </a:r>
          </a:p>
        </p:txBody>
      </p:sp>
      <p:sp>
        <p:nvSpPr>
          <p:cNvPr id="24" name="">
            <a:extLst xmlns:a="http://schemas.openxmlformats.org/drawingml/2006/main">
              <a:ext uri="{FF2B5EF4-FFF2-40B4-BE49-F238E27FC236}">
                <a16:creationId xmlns:a16="http://schemas.microsoft.com/office/drawing/2014/main" id="{EBC9CEE1-E4A8-4AA4-BB9A-13733BF2D23F}"/>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문서를 요약의 층으로 정리</a:t>
            </a:r>
          </a:p>
        </p:txBody>
      </p:sp>
    </p:spTree>
    <p:extLst>
      <p:ext uri="{BB962C8B-B14F-4D97-AF65-F5344CB8AC3E}">
        <p14:creationId xmlns:p14="http://schemas.microsoft.com/office/powerpoint/2010/main" val="1158298948"/>
      </p:ext>
    </p:extLst>
  </p:cSld>
</p:sld>
</file>

<file path=ppt/slides/slide19.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FECFE66C-FB3D-4FE4-A1BB-D6D9FB163219}"/>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950C1505-24D3-41A1-BDDA-140DC2E5E229}"/>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66C30010-4AE2-4F26-BE68-3EB4961B6621}"/>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00201B7B-2C7F-4921-BC87-4CFBFA29114F}"/>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8C07BC8C-47DA-445A-A228-B799CB5F4B04}"/>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AE3E3D84-F66F-432A-9497-6360CC868C5C}"/>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C347B7BC-ABCF-44B1-A106-2E34BCCC9B95}"/>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6AD154F7-A365-49E1-88B2-6D3DAE0CC3F1}"/>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11152B90-611D-44B0-82B4-FD1CB4A6B7FF}"/>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요약과 그룹</a:t>
            </a:r>
          </a:p>
        </p:txBody>
      </p:sp>
      <p:sp>
        <p:nvSpPr>
          <p:cNvPr id="2" name="">
            <a:extLst xmlns:a="http://schemas.openxmlformats.org/drawingml/2006/main">
              <a:ext uri="{FF2B5EF4-FFF2-40B4-BE49-F238E27FC236}">
                <a16:creationId xmlns:a16="http://schemas.microsoft.com/office/drawing/2014/main" id="{47D09AC4-0138-4C6E-B59D-5248EAB3B378}"/>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Microsoft GraphRAG의 전체 처리 순서</a:t>
            </a:r>
          </a:p>
        </p:txBody>
      </p:sp>
      <p:sp>
        <p:nvSpPr>
          <p:cNvPr id="3" name="">
            <a:extLst xmlns:a="http://schemas.openxmlformats.org/drawingml/2006/main">
              <a:ext uri="{FF2B5EF4-FFF2-40B4-BE49-F238E27FC236}">
                <a16:creationId xmlns:a16="http://schemas.microsoft.com/office/drawing/2014/main" id="{3381D596-C7AD-4C92-93AC-67490D84B327}"/>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19</a:t>
            </a:r>
          </a:p>
        </p:txBody>
      </p:sp>
      <p:sp>
        <p:nvSpPr>
          <p:cNvPr id="4" name="">
            <a:extLst xmlns:a="http://schemas.openxmlformats.org/drawingml/2006/main">
              <a:ext uri="{FF2B5EF4-FFF2-40B4-BE49-F238E27FC236}">
                <a16:creationId xmlns:a16="http://schemas.microsoft.com/office/drawing/2014/main" id="{8FC208A7-2FD3-4415-815C-011F5AC74D41}"/>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F3D6399B-CE31-4454-87EF-0C0EF2353629}"/>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검색용 조각으로 나누기</a:t>
            </a:r>
          </a:p>
        </p:txBody>
      </p:sp>
      <p:sp>
        <p:nvSpPr>
          <p:cNvPr id="6" name="">
            <a:extLst xmlns:a="http://schemas.openxmlformats.org/drawingml/2006/main">
              <a:ext uri="{FF2B5EF4-FFF2-40B4-BE49-F238E27FC236}">
                <a16:creationId xmlns:a16="http://schemas.microsoft.com/office/drawing/2014/main" id="{C7F6DEDD-CE53-4E3E-B595-5A39C171A82B}"/>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개체와 관계를 LLM으로 추출</a:t>
            </a:r>
          </a:p>
        </p:txBody>
      </p:sp>
      <p:sp>
        <p:nvSpPr>
          <p:cNvPr id="8" name="">
            <a:extLst xmlns:a="http://schemas.openxmlformats.org/drawingml/2006/main">
              <a:ext uri="{FF2B5EF4-FFF2-40B4-BE49-F238E27FC236}">
                <a16:creationId xmlns:a16="http://schemas.microsoft.com/office/drawing/2014/main" id="{D91F5CEE-670C-4E2E-BD1C-656F8B96A29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같은 개체와 관계 설명 합치기</a:t>
            </a:r>
          </a:p>
        </p:txBody>
      </p:sp>
      <p:sp>
        <p:nvSpPr>
          <p:cNvPr id="10" name="">
            <a:extLst xmlns:a="http://schemas.openxmlformats.org/drawingml/2006/main">
              <a:ext uri="{FF2B5EF4-FFF2-40B4-BE49-F238E27FC236}">
                <a16:creationId xmlns:a16="http://schemas.microsoft.com/office/drawing/2014/main" id="{96CBA014-4923-490D-934E-EAFCA911FBD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연결된 개체들의 그룹 찾기</a:t>
            </a:r>
          </a:p>
        </p:txBody>
      </p:sp>
      <p:sp>
        <p:nvSpPr>
          <p:cNvPr id="12" name="">
            <a:extLst xmlns:a="http://schemas.openxmlformats.org/drawingml/2006/main">
              <a:ext uri="{FF2B5EF4-FFF2-40B4-BE49-F238E27FC236}">
                <a16:creationId xmlns:a16="http://schemas.microsoft.com/office/drawing/2014/main" id="{08D0B7E0-0D3F-4FD7-A700-28E009003DC8}"/>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그룹별 요약 보고서 저장</a:t>
            </a:r>
          </a:p>
        </p:txBody>
      </p:sp>
      <p:sp>
        <p:nvSpPr>
          <p:cNvPr id="14" name="">
            <a:extLst xmlns:a="http://schemas.openxmlformats.org/drawingml/2006/main">
              <a:ext uri="{FF2B5EF4-FFF2-40B4-BE49-F238E27FC236}">
                <a16:creationId xmlns:a16="http://schemas.microsoft.com/office/drawing/2014/main" id="{7424631A-4659-4009-A7EE-1AFD3E580C3F}"/>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58942A2A-5E12-4703-B843-0EF14AC5537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전체를 묻는 질문 받기</a:t>
            </a:r>
          </a:p>
        </p:txBody>
      </p:sp>
      <p:sp>
        <p:nvSpPr>
          <p:cNvPr id="16" name="">
            <a:extLst xmlns:a="http://schemas.openxmlformats.org/drawingml/2006/main">
              <a:ext uri="{FF2B5EF4-FFF2-40B4-BE49-F238E27FC236}">
                <a16:creationId xmlns:a16="http://schemas.microsoft.com/office/drawing/2014/main" id="{D45926E5-0112-4506-8B9A-1F34F0AD71E3}"/>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그룹별 보고서로 부분 답 작성</a:t>
            </a:r>
          </a:p>
        </p:txBody>
      </p:sp>
      <p:sp>
        <p:nvSpPr>
          <p:cNvPr id="18" name="">
            <a:extLst xmlns:a="http://schemas.openxmlformats.org/drawingml/2006/main">
              <a:ext uri="{FF2B5EF4-FFF2-40B4-BE49-F238E27FC236}">
                <a16:creationId xmlns:a16="http://schemas.microsoft.com/office/drawing/2014/main" id="{F9529B24-740F-4EB4-8628-290F71B4527C}"/>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부분 답의 중요도 평가</a:t>
            </a:r>
          </a:p>
        </p:txBody>
      </p:sp>
      <p:sp>
        <p:nvSpPr>
          <p:cNvPr id="20" name="">
            <a:extLst xmlns:a="http://schemas.openxmlformats.org/drawingml/2006/main">
              <a:ext uri="{FF2B5EF4-FFF2-40B4-BE49-F238E27FC236}">
                <a16:creationId xmlns:a16="http://schemas.microsoft.com/office/drawing/2014/main" id="{33E4392D-94AC-434C-A242-242239EE5CCC}"/>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핵심 부분 답을 모아 정리</a:t>
            </a:r>
          </a:p>
        </p:txBody>
      </p:sp>
      <p:sp>
        <p:nvSpPr>
          <p:cNvPr id="22" name="">
            <a:extLst xmlns:a="http://schemas.openxmlformats.org/drawingml/2006/main">
              <a:ext uri="{FF2B5EF4-FFF2-40B4-BE49-F238E27FC236}">
                <a16:creationId xmlns:a16="http://schemas.microsoft.com/office/drawing/2014/main" id="{69921778-C895-4B66-A201-6507A545509A}"/>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최종 답변과 근거 표시</a:t>
            </a:r>
          </a:p>
        </p:txBody>
      </p:sp>
      <p:sp>
        <p:nvSpPr>
          <p:cNvPr id="24" name="">
            <a:extLst xmlns:a="http://schemas.openxmlformats.org/drawingml/2006/main">
              <a:ext uri="{FF2B5EF4-FFF2-40B4-BE49-F238E27FC236}">
                <a16:creationId xmlns:a16="http://schemas.microsoft.com/office/drawing/2014/main" id="{C39C6AFF-7159-477B-A708-441A0B0FEA49}"/>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연결된 개체를 묶어 전체를 요약</a:t>
            </a:r>
          </a:p>
        </p:txBody>
      </p:sp>
    </p:spTree>
    <p:extLst>
      <p:ext uri="{BB962C8B-B14F-4D97-AF65-F5344CB8AC3E}">
        <p14:creationId xmlns:p14="http://schemas.microsoft.com/office/powerpoint/2010/main" val="897072340"/>
      </p:ext>
    </p:extLst>
  </p:cSld>
</p:sld>
</file>

<file path=ppt/slides/slide20.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2B0ADE24-5900-4C80-9A54-7EB5D51E5FEF}"/>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225220C6-A4ED-4CBA-85B3-1A19ECD78126}"/>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EA5787CC-74E4-49D2-B48D-1C87D07D9B95}"/>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A4815F76-CB6A-4507-BEFB-7BDD031F3692}"/>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E00A409C-EDA1-4659-808B-CBF6E7C24BFE}"/>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C691B962-C9AA-49A6-A26F-A921C7B1CB39}"/>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CC1A5A15-78C3-47A3-B835-1D67D39BE9A3}"/>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43002AF3-4F5B-4F2A-A96F-7E5F8850D08E}"/>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7A46A6F-CC26-49BE-A494-7C415493B712}"/>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요약과 그룹</a:t>
            </a:r>
          </a:p>
        </p:txBody>
      </p:sp>
      <p:sp>
        <p:nvSpPr>
          <p:cNvPr id="2" name="">
            <a:extLst xmlns:a="http://schemas.openxmlformats.org/drawingml/2006/main">
              <a:ext uri="{FF2B5EF4-FFF2-40B4-BE49-F238E27FC236}">
                <a16:creationId xmlns:a16="http://schemas.microsoft.com/office/drawing/2014/main" id="{C10B04D3-2A06-47FF-BB5D-C99827544EBF}"/>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ArchRAG의 전체 처리 순서</a:t>
            </a:r>
          </a:p>
        </p:txBody>
      </p:sp>
      <p:sp>
        <p:nvSpPr>
          <p:cNvPr id="3" name="">
            <a:extLst xmlns:a="http://schemas.openxmlformats.org/drawingml/2006/main">
              <a:ext uri="{FF2B5EF4-FFF2-40B4-BE49-F238E27FC236}">
                <a16:creationId xmlns:a16="http://schemas.microsoft.com/office/drawing/2014/main" id="{B1A702A4-55CD-47CE-8A75-2F77BC15B8BC}"/>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20</a:t>
            </a:r>
          </a:p>
        </p:txBody>
      </p:sp>
      <p:sp>
        <p:nvSpPr>
          <p:cNvPr id="4" name="">
            <a:extLst xmlns:a="http://schemas.openxmlformats.org/drawingml/2006/main">
              <a:ext uri="{FF2B5EF4-FFF2-40B4-BE49-F238E27FC236}">
                <a16:creationId xmlns:a16="http://schemas.microsoft.com/office/drawing/2014/main" id="{EA73BC5C-9319-4A0F-AC9E-A20F42ABF714}"/>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699BED4D-D8E0-4081-9A31-03BDC9938FBE}"/>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개체 그래프 구성</a:t>
            </a:r>
          </a:p>
        </p:txBody>
      </p:sp>
      <p:sp>
        <p:nvSpPr>
          <p:cNvPr id="6" name="">
            <a:extLst xmlns:a="http://schemas.openxmlformats.org/drawingml/2006/main">
              <a:ext uri="{FF2B5EF4-FFF2-40B4-BE49-F238E27FC236}">
                <a16:creationId xmlns:a16="http://schemas.microsoft.com/office/drawing/2014/main" id="{D70A629C-71D1-40EC-AB67-32DDABC2BE60}"/>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설명과 특징을 벡터로 변환</a:t>
            </a:r>
          </a:p>
        </p:txBody>
      </p:sp>
      <p:sp>
        <p:nvSpPr>
          <p:cNvPr id="8" name="">
            <a:extLst xmlns:a="http://schemas.openxmlformats.org/drawingml/2006/main">
              <a:ext uri="{FF2B5EF4-FFF2-40B4-BE49-F238E27FC236}">
                <a16:creationId xmlns:a16="http://schemas.microsoft.com/office/drawing/2014/main" id="{24972E8B-9832-48AD-B38C-51B9A589DEA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연결과 의미를 함께 보고 묶기</a:t>
            </a:r>
          </a:p>
        </p:txBody>
      </p:sp>
      <p:sp>
        <p:nvSpPr>
          <p:cNvPr id="10" name="">
            <a:extLst xmlns:a="http://schemas.openxmlformats.org/drawingml/2006/main">
              <a:ext uri="{FF2B5EF4-FFF2-40B4-BE49-F238E27FC236}">
                <a16:creationId xmlns:a16="http://schemas.microsoft.com/office/drawing/2014/main" id="{AD48CE5A-94B8-4085-9F17-1CAE1C1CBB0E}"/>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그룹을 여러 층으로 요약</a:t>
            </a:r>
          </a:p>
        </p:txBody>
      </p:sp>
      <p:sp>
        <p:nvSpPr>
          <p:cNvPr id="12" name="">
            <a:extLst xmlns:a="http://schemas.openxmlformats.org/drawingml/2006/main">
              <a:ext uri="{FF2B5EF4-FFF2-40B4-BE49-F238E27FC236}">
                <a16:creationId xmlns:a16="http://schemas.microsoft.com/office/drawing/2014/main" id="{6B391B76-98E0-4B60-97F4-DA4B1F45B3B7}"/>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빠른 계층 검색 구조 준비</a:t>
            </a:r>
          </a:p>
        </p:txBody>
      </p:sp>
      <p:sp>
        <p:nvSpPr>
          <p:cNvPr id="14" name="">
            <a:extLst xmlns:a="http://schemas.openxmlformats.org/drawingml/2006/main">
              <a:ext uri="{FF2B5EF4-FFF2-40B4-BE49-F238E27FC236}">
                <a16:creationId xmlns:a16="http://schemas.microsoft.com/office/drawing/2014/main" id="{CC2518F5-E206-45CC-AE53-B75EE673A0B6}"/>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82D18D73-AA5B-4012-A79F-65A87E0456B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질문과 관련된 큰 그룹 찾기</a:t>
            </a:r>
          </a:p>
        </p:txBody>
      </p:sp>
      <p:sp>
        <p:nvSpPr>
          <p:cNvPr id="16" name="">
            <a:extLst xmlns:a="http://schemas.openxmlformats.org/drawingml/2006/main">
              <a:ext uri="{FF2B5EF4-FFF2-40B4-BE49-F238E27FC236}">
                <a16:creationId xmlns:a16="http://schemas.microsoft.com/office/drawing/2014/main" id="{FB7EEBC2-982B-4D20-9399-4869CEE6D5B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계층 검색 구조를 따라 탐색</a:t>
            </a:r>
          </a:p>
        </p:txBody>
      </p:sp>
      <p:sp>
        <p:nvSpPr>
          <p:cNvPr id="18" name="">
            <a:extLst xmlns:a="http://schemas.openxmlformats.org/drawingml/2006/main">
              <a:ext uri="{FF2B5EF4-FFF2-40B4-BE49-F238E27FC236}">
                <a16:creationId xmlns:a16="http://schemas.microsoft.com/office/drawing/2014/main" id="{8A77A875-968E-41CC-80A4-5E9F966C5FD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큰 그룹에서 세부 후보로 좁히기</a:t>
            </a:r>
          </a:p>
        </p:txBody>
      </p:sp>
      <p:sp>
        <p:nvSpPr>
          <p:cNvPr id="20" name="">
            <a:extLst xmlns:a="http://schemas.openxmlformats.org/drawingml/2006/main">
              <a:ext uri="{FF2B5EF4-FFF2-40B4-BE49-F238E27FC236}">
                <a16:creationId xmlns:a16="http://schemas.microsoft.com/office/drawing/2014/main" id="{D3C0158F-06AB-4072-A9E8-58871DFFA2C9}"/>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관련 없는 후보 걸러내기</a:t>
            </a:r>
          </a:p>
        </p:txBody>
      </p:sp>
      <p:sp>
        <p:nvSpPr>
          <p:cNvPr id="22" name="">
            <a:extLst xmlns:a="http://schemas.openxmlformats.org/drawingml/2006/main">
              <a:ext uri="{FF2B5EF4-FFF2-40B4-BE49-F238E27FC236}">
                <a16:creationId xmlns:a16="http://schemas.microsoft.com/office/drawing/2014/main" id="{425236F5-A29E-4839-BD1D-5613C1D0A9D5}"/>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선택한 요약·원문으로 답변</a:t>
            </a:r>
          </a:p>
        </p:txBody>
      </p:sp>
      <p:sp>
        <p:nvSpPr>
          <p:cNvPr id="24" name="">
            <a:extLst xmlns:a="http://schemas.openxmlformats.org/drawingml/2006/main">
              <a:ext uri="{FF2B5EF4-FFF2-40B4-BE49-F238E27FC236}">
                <a16:creationId xmlns:a16="http://schemas.microsoft.com/office/drawing/2014/main" id="{F82CF5E2-54B2-4C85-960F-A90F1B2ED801}"/>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연결과 의미가 비슷한 그룹 찾기</a:t>
            </a:r>
          </a:p>
        </p:txBody>
      </p:sp>
    </p:spTree>
    <p:extLst>
      <p:ext uri="{BB962C8B-B14F-4D97-AF65-F5344CB8AC3E}">
        <p14:creationId xmlns:p14="http://schemas.microsoft.com/office/powerpoint/2010/main" val="1095044567"/>
      </p:ext>
    </p:extLst>
  </p:cSld>
</p:sld>
</file>

<file path=ppt/slides/slide21.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7B6C2775-AA4A-47F9-9B67-378E962250D4}"/>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9F946E48-1534-41F1-9A11-CA5ACB59C9F2}"/>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C9E272EB-8ECF-4BEF-B8C2-11544EDE19BB}"/>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2F23C859-6E17-4929-B919-894C977F2AE8}"/>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0459BF48-B5AC-474E-9D35-3A729E88848B}"/>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F63A52E8-7CE5-4FE3-A5A3-8DC628F91DD1}"/>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536193F4-DC25-4FCF-A0B5-F3A8E7CC1861}"/>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D1F98E41-7804-4BA0-A890-03AC79562833}"/>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2E50EE9F-B829-4609-B346-BC5FB06BBDEA}"/>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개체와 연결</a:t>
            </a:r>
          </a:p>
        </p:txBody>
      </p:sp>
      <p:sp>
        <p:nvSpPr>
          <p:cNvPr id="2" name="">
            <a:extLst xmlns:a="http://schemas.openxmlformats.org/drawingml/2006/main">
              <a:ext uri="{FF2B5EF4-FFF2-40B4-BE49-F238E27FC236}">
                <a16:creationId xmlns:a16="http://schemas.microsoft.com/office/drawing/2014/main" id="{91E91E4D-4C00-48FA-8809-F0BFB338AB99}"/>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LightRAG의 전체 처리 순서</a:t>
            </a:r>
          </a:p>
        </p:txBody>
      </p:sp>
      <p:sp>
        <p:nvSpPr>
          <p:cNvPr id="3" name="">
            <a:extLst xmlns:a="http://schemas.openxmlformats.org/drawingml/2006/main">
              <a:ext uri="{FF2B5EF4-FFF2-40B4-BE49-F238E27FC236}">
                <a16:creationId xmlns:a16="http://schemas.microsoft.com/office/drawing/2014/main" id="{891CCABA-33D8-4861-B01E-F647CB888DF9}"/>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21</a:t>
            </a:r>
          </a:p>
        </p:txBody>
      </p:sp>
      <p:sp>
        <p:nvSpPr>
          <p:cNvPr id="4" name="">
            <a:extLst xmlns:a="http://schemas.openxmlformats.org/drawingml/2006/main">
              <a:ext uri="{FF2B5EF4-FFF2-40B4-BE49-F238E27FC236}">
                <a16:creationId xmlns:a16="http://schemas.microsoft.com/office/drawing/2014/main" id="{3AAF4E5B-C398-48C5-B0F1-42EB352F2E8E}"/>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9C704328-01B5-42B0-BFCF-C3955A84A7E8}"/>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조각으로 나누기</a:t>
            </a:r>
          </a:p>
        </p:txBody>
      </p:sp>
      <p:sp>
        <p:nvSpPr>
          <p:cNvPr id="6" name="">
            <a:extLst xmlns:a="http://schemas.openxmlformats.org/drawingml/2006/main">
              <a:ext uri="{FF2B5EF4-FFF2-40B4-BE49-F238E27FC236}">
                <a16:creationId xmlns:a16="http://schemas.microsoft.com/office/drawing/2014/main" id="{E84D2558-611E-492D-B63F-AA13FD35CE5A}"/>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개체와 관계 추출</a:t>
            </a:r>
          </a:p>
        </p:txBody>
      </p:sp>
      <p:sp>
        <p:nvSpPr>
          <p:cNvPr id="8" name="">
            <a:extLst xmlns:a="http://schemas.openxmlformats.org/drawingml/2006/main">
              <a:ext uri="{FF2B5EF4-FFF2-40B4-BE49-F238E27FC236}">
                <a16:creationId xmlns:a16="http://schemas.microsoft.com/office/drawing/2014/main" id="{5A4CFD61-60A1-454F-B773-8E8FC124D116}"/>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중복된 설명을 합치기</a:t>
            </a:r>
          </a:p>
        </p:txBody>
      </p:sp>
      <p:sp>
        <p:nvSpPr>
          <p:cNvPr id="10" name="">
            <a:extLst xmlns:a="http://schemas.openxmlformats.org/drawingml/2006/main">
              <a:ext uri="{FF2B5EF4-FFF2-40B4-BE49-F238E27FC236}">
                <a16:creationId xmlns:a16="http://schemas.microsoft.com/office/drawing/2014/main" id="{0D711D1E-3B86-4B8A-AACD-EA6E8B810F1C}"/>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그래프·벡터·원문 위치 저장</a:t>
            </a:r>
          </a:p>
        </p:txBody>
      </p:sp>
      <p:sp>
        <p:nvSpPr>
          <p:cNvPr id="12" name="">
            <a:extLst xmlns:a="http://schemas.openxmlformats.org/drawingml/2006/main">
              <a:ext uri="{FF2B5EF4-FFF2-40B4-BE49-F238E27FC236}">
                <a16:creationId xmlns:a16="http://schemas.microsoft.com/office/drawing/2014/main" id="{CB8A1FF2-9EC9-4F57-982E-32BC84D6FFF5}"/>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새 문서의 정보를 추가</a:t>
            </a:r>
          </a:p>
        </p:txBody>
      </p:sp>
      <p:sp>
        <p:nvSpPr>
          <p:cNvPr id="14" name="">
            <a:extLst xmlns:a="http://schemas.openxmlformats.org/drawingml/2006/main">
              <a:ext uri="{FF2B5EF4-FFF2-40B4-BE49-F238E27FC236}">
                <a16:creationId xmlns:a16="http://schemas.microsoft.com/office/drawing/2014/main" id="{E3C9AF8F-CDFF-45D8-B6FA-C6C5F8B4FDF1}"/>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C29AF815-F01C-4C83-B1A2-270AE18A5DAF}"/>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대상·주제 키워드 추출</a:t>
            </a:r>
          </a:p>
        </p:txBody>
      </p:sp>
      <p:sp>
        <p:nvSpPr>
          <p:cNvPr id="16" name="">
            <a:extLst xmlns:a="http://schemas.openxmlformats.org/drawingml/2006/main">
              <a:ext uri="{FF2B5EF4-FFF2-40B4-BE49-F238E27FC236}">
                <a16:creationId xmlns:a16="http://schemas.microsoft.com/office/drawing/2014/main" id="{2998A399-D6EE-422B-ACEF-4050ADEE1E85}"/>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대상 키워드로 개체 찾기</a:t>
            </a:r>
          </a:p>
        </p:txBody>
      </p:sp>
      <p:sp>
        <p:nvSpPr>
          <p:cNvPr id="18" name="">
            <a:extLst xmlns:a="http://schemas.openxmlformats.org/drawingml/2006/main">
              <a:ext uri="{FF2B5EF4-FFF2-40B4-BE49-F238E27FC236}">
                <a16:creationId xmlns:a16="http://schemas.microsoft.com/office/drawing/2014/main" id="{4C4D74D6-C05C-4A57-B7B9-21F168A70E23}"/>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주제 키워드로 관계 찾기</a:t>
            </a:r>
          </a:p>
        </p:txBody>
      </p:sp>
      <p:sp>
        <p:nvSpPr>
          <p:cNvPr id="20" name="">
            <a:extLst xmlns:a="http://schemas.openxmlformats.org/drawingml/2006/main">
              <a:ext uri="{FF2B5EF4-FFF2-40B4-BE49-F238E27FC236}">
                <a16:creationId xmlns:a16="http://schemas.microsoft.com/office/drawing/2014/main" id="{7787F7B2-F9F3-4C61-B0D1-2AC362B40F84}"/>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주변 연결과 원문 모으기</a:t>
            </a:r>
          </a:p>
        </p:txBody>
      </p:sp>
      <p:sp>
        <p:nvSpPr>
          <p:cNvPr id="22" name="">
            <a:extLst xmlns:a="http://schemas.openxmlformats.org/drawingml/2006/main">
              <a:ext uri="{FF2B5EF4-FFF2-40B4-BE49-F238E27FC236}">
                <a16:creationId xmlns:a16="http://schemas.microsoft.com/office/drawing/2014/main" id="{1EEB79F2-E1C7-4478-A0D5-30C55CF98ECC}"/>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모은 근거로 답변 작성</a:t>
            </a:r>
          </a:p>
        </p:txBody>
      </p:sp>
      <p:sp>
        <p:nvSpPr>
          <p:cNvPr id="24" name="">
            <a:extLst xmlns:a="http://schemas.openxmlformats.org/drawingml/2006/main">
              <a:ext uri="{FF2B5EF4-FFF2-40B4-BE49-F238E27FC236}">
                <a16:creationId xmlns:a16="http://schemas.microsoft.com/office/drawing/2014/main" id="{3548E26D-73A4-4294-9983-B9C79879AF9A}"/>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개체와 관계를 나눠 검색</a:t>
            </a:r>
          </a:p>
        </p:txBody>
      </p:sp>
    </p:spTree>
    <p:extLst>
      <p:ext uri="{BB962C8B-B14F-4D97-AF65-F5344CB8AC3E}">
        <p14:creationId xmlns:p14="http://schemas.microsoft.com/office/powerpoint/2010/main" val="371560908"/>
      </p:ext>
    </p:extLst>
  </p:cSld>
</p:sld>
</file>

<file path=ppt/slides/slide22.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F8B5A843-B9C0-4961-B366-69D74F6983A5}"/>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A80F37BA-4222-4856-99C8-A4964C01FB76}"/>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1F888BE8-8CDA-4EB6-88DE-F1D1BC233F3E}"/>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0EC0535F-FE7D-4083-9A6F-E74F2936ED00}"/>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7A445A83-BD7D-4879-A1E1-85618D6652C3}"/>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A24119A9-A57F-46A9-9BC3-303580E19AE9}"/>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89573B00-D2B3-42C9-9D5C-C7EBFD54848D}"/>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C9F07B06-2D63-4DB4-898E-677BB5101A7D}"/>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D069C0AB-A4BE-48B0-B133-C40CD8E118B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개체와 연결</a:t>
            </a:r>
          </a:p>
        </p:txBody>
      </p:sp>
      <p:sp>
        <p:nvSpPr>
          <p:cNvPr id="2" name="">
            <a:extLst xmlns:a="http://schemas.openxmlformats.org/drawingml/2006/main">
              <a:ext uri="{FF2B5EF4-FFF2-40B4-BE49-F238E27FC236}">
                <a16:creationId xmlns:a16="http://schemas.microsoft.com/office/drawing/2014/main" id="{44C0E3B0-910B-451B-B36A-4DADF392A53A}"/>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HippoRAG의 전체 처리 순서</a:t>
            </a:r>
          </a:p>
        </p:txBody>
      </p:sp>
      <p:sp>
        <p:nvSpPr>
          <p:cNvPr id="3" name="">
            <a:extLst xmlns:a="http://schemas.openxmlformats.org/drawingml/2006/main">
              <a:ext uri="{FF2B5EF4-FFF2-40B4-BE49-F238E27FC236}">
                <a16:creationId xmlns:a16="http://schemas.microsoft.com/office/drawing/2014/main" id="{E785009E-3754-4E9E-8E9C-A62E5C30A7E0}"/>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22</a:t>
            </a:r>
          </a:p>
        </p:txBody>
      </p:sp>
      <p:sp>
        <p:nvSpPr>
          <p:cNvPr id="4" name="">
            <a:extLst xmlns:a="http://schemas.openxmlformats.org/drawingml/2006/main">
              <a:ext uri="{FF2B5EF4-FFF2-40B4-BE49-F238E27FC236}">
                <a16:creationId xmlns:a16="http://schemas.microsoft.com/office/drawing/2014/main" id="{427F4BE6-6602-4D9F-882D-B69D7290E449}"/>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FF9D01DD-E5A7-4CC2-88E1-05A010C3597A}"/>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문단으로 나누기</a:t>
            </a:r>
          </a:p>
        </p:txBody>
      </p:sp>
      <p:sp>
        <p:nvSpPr>
          <p:cNvPr id="6" name="">
            <a:extLst xmlns:a="http://schemas.openxmlformats.org/drawingml/2006/main">
              <a:ext uri="{FF2B5EF4-FFF2-40B4-BE49-F238E27FC236}">
                <a16:creationId xmlns:a16="http://schemas.microsoft.com/office/drawing/2014/main" id="{8CADC742-52E4-4A8B-BA24-27D1DF9A84C3}"/>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문장에서 개체·관계 추출</a:t>
            </a:r>
          </a:p>
        </p:txBody>
      </p:sp>
      <p:sp>
        <p:nvSpPr>
          <p:cNvPr id="8" name="">
            <a:extLst xmlns:a="http://schemas.openxmlformats.org/drawingml/2006/main">
              <a:ext uri="{FF2B5EF4-FFF2-40B4-BE49-F238E27FC236}">
                <a16:creationId xmlns:a16="http://schemas.microsoft.com/office/drawing/2014/main" id="{1BF86C5A-495C-467A-BB48-032D0B9CA5FB}"/>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같은 의미의 개체 연결</a:t>
            </a:r>
          </a:p>
        </p:txBody>
      </p:sp>
      <p:sp>
        <p:nvSpPr>
          <p:cNvPr id="10" name="">
            <a:extLst xmlns:a="http://schemas.openxmlformats.org/drawingml/2006/main">
              <a:ext uri="{FF2B5EF4-FFF2-40B4-BE49-F238E27FC236}">
                <a16:creationId xmlns:a16="http://schemas.microsoft.com/office/drawing/2014/main" id="{C1640753-D9D2-4F2D-97E0-E144966EA095}"/>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개체와 원문 문단 연결</a:t>
            </a:r>
          </a:p>
        </p:txBody>
      </p:sp>
      <p:sp>
        <p:nvSpPr>
          <p:cNvPr id="12" name="">
            <a:extLst xmlns:a="http://schemas.openxmlformats.org/drawingml/2006/main">
              <a:ext uri="{FF2B5EF4-FFF2-40B4-BE49-F238E27FC236}">
                <a16:creationId xmlns:a16="http://schemas.microsoft.com/office/drawing/2014/main" id="{693A2ABD-AAB2-49A6-B914-BBA672A4C8C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연결망을 검색용으로 저장</a:t>
            </a:r>
          </a:p>
        </p:txBody>
      </p:sp>
      <p:sp>
        <p:nvSpPr>
          <p:cNvPr id="14" name="">
            <a:extLst xmlns:a="http://schemas.openxmlformats.org/drawingml/2006/main">
              <a:ext uri="{FF2B5EF4-FFF2-40B4-BE49-F238E27FC236}">
                <a16:creationId xmlns:a16="http://schemas.microsoft.com/office/drawing/2014/main" id="{9875D09C-B033-4C4F-BDDB-5BC37D0C94E7}"/>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64E72686-6C57-4AAA-8652-DA3BB0ECE74E}"/>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질문에서 시작 단서 추출</a:t>
            </a:r>
          </a:p>
        </p:txBody>
      </p:sp>
      <p:sp>
        <p:nvSpPr>
          <p:cNvPr id="16" name="">
            <a:extLst xmlns:a="http://schemas.openxmlformats.org/drawingml/2006/main">
              <a:ext uri="{FF2B5EF4-FFF2-40B4-BE49-F238E27FC236}">
                <a16:creationId xmlns:a16="http://schemas.microsoft.com/office/drawing/2014/main" id="{814C630F-BEE9-4693-B686-F51D1C817882}"/>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단서를 그래프 개체와 맞추기</a:t>
            </a:r>
          </a:p>
        </p:txBody>
      </p:sp>
      <p:sp>
        <p:nvSpPr>
          <p:cNvPr id="18" name="">
            <a:extLst xmlns:a="http://schemas.openxmlformats.org/drawingml/2006/main">
              <a:ext uri="{FF2B5EF4-FFF2-40B4-BE49-F238E27FC236}">
                <a16:creationId xmlns:a16="http://schemas.microsoft.com/office/drawing/2014/main" id="{ABE77CC3-CD22-4403-A931-7029940E92E5}"/>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PPR로 연결망 점수 계산</a:t>
            </a:r>
          </a:p>
        </p:txBody>
      </p:sp>
      <p:sp>
        <p:nvSpPr>
          <p:cNvPr id="20" name="">
            <a:extLst xmlns:a="http://schemas.openxmlformats.org/drawingml/2006/main">
              <a:ext uri="{FF2B5EF4-FFF2-40B4-BE49-F238E27FC236}">
                <a16:creationId xmlns:a16="http://schemas.microsoft.com/office/drawing/2014/main" id="{37C30F48-775F-4469-A524-CDCC9B49EEE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개체 점수를 원문에 반영</a:t>
            </a:r>
          </a:p>
        </p:txBody>
      </p:sp>
      <p:sp>
        <p:nvSpPr>
          <p:cNvPr id="22" name="">
            <a:extLst xmlns:a="http://schemas.openxmlformats.org/drawingml/2006/main">
              <a:ext uri="{FF2B5EF4-FFF2-40B4-BE49-F238E27FC236}">
                <a16:creationId xmlns:a16="http://schemas.microsoft.com/office/drawing/2014/main" id="{29BEE4B2-4C32-4240-8275-3D507E28B06A}"/>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원문으로 답변 작성</a:t>
            </a:r>
          </a:p>
        </p:txBody>
      </p:sp>
      <p:sp>
        <p:nvSpPr>
          <p:cNvPr id="24" name="">
            <a:extLst xmlns:a="http://schemas.openxmlformats.org/drawingml/2006/main">
              <a:ext uri="{FF2B5EF4-FFF2-40B4-BE49-F238E27FC236}">
                <a16:creationId xmlns:a16="http://schemas.microsoft.com/office/drawing/2014/main" id="{D8BFA7F7-D085-4EFA-B20B-E06BFDF5E2C7}"/>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질문의 단서를 연결망에 퍼뜨리기</a:t>
            </a:r>
          </a:p>
        </p:txBody>
      </p:sp>
    </p:spTree>
    <p:extLst>
      <p:ext uri="{BB962C8B-B14F-4D97-AF65-F5344CB8AC3E}">
        <p14:creationId xmlns:p14="http://schemas.microsoft.com/office/powerpoint/2010/main" val="279070823"/>
      </p:ext>
    </p:extLst>
  </p:cSld>
</p:sld>
</file>

<file path=ppt/slides/slide23.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EFF2FCD8-E8FE-4075-92F1-331ED27D8664}"/>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5E1021C0-08B2-42A4-9570-CF5EC5750642}"/>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BB9AECA0-C5C8-4F03-A4B9-F4BF479DB445}"/>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9B978BE8-412D-4E8C-882C-1C78707781EE}"/>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178ED3BB-1112-4A91-9FCD-AE6C90C0E7D7}"/>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5D8F7485-93CC-4FC6-AA0C-F5C767458B29}"/>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5994741A-BA5A-47F1-9851-84C6BFCFAB3B}"/>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5DA880CD-04A4-4542-BA3A-A9A263AB52F5}"/>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5D940C2F-A520-4314-A5F3-83878AFEE18D}"/>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개체와 연결</a:t>
            </a:r>
          </a:p>
        </p:txBody>
      </p:sp>
      <p:sp>
        <p:nvSpPr>
          <p:cNvPr id="2" name="">
            <a:extLst xmlns:a="http://schemas.openxmlformats.org/drawingml/2006/main">
              <a:ext uri="{FF2B5EF4-FFF2-40B4-BE49-F238E27FC236}">
                <a16:creationId xmlns:a16="http://schemas.microsoft.com/office/drawing/2014/main" id="{8CBAB9DA-76E6-45EC-A08C-48135A58D649}"/>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HippoRAG 2의 전체 처리 순서</a:t>
            </a:r>
          </a:p>
        </p:txBody>
      </p:sp>
      <p:sp>
        <p:nvSpPr>
          <p:cNvPr id="3" name="">
            <a:extLst xmlns:a="http://schemas.openxmlformats.org/drawingml/2006/main">
              <a:ext uri="{FF2B5EF4-FFF2-40B4-BE49-F238E27FC236}">
                <a16:creationId xmlns:a16="http://schemas.microsoft.com/office/drawing/2014/main" id="{D656E660-8B6B-4A44-A289-67A945C02C94}"/>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23</a:t>
            </a:r>
          </a:p>
        </p:txBody>
      </p:sp>
      <p:sp>
        <p:nvSpPr>
          <p:cNvPr id="4" name="">
            <a:extLst xmlns:a="http://schemas.openxmlformats.org/drawingml/2006/main">
              <a:ext uri="{FF2B5EF4-FFF2-40B4-BE49-F238E27FC236}">
                <a16:creationId xmlns:a16="http://schemas.microsoft.com/office/drawing/2014/main" id="{176461B3-109B-4F49-8EFF-2368BFCA6D7B}"/>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EF5A31AC-5228-42CF-9BC9-441518CE1D57}"/>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개념 표현과 관계 추출</a:t>
            </a:r>
          </a:p>
        </p:txBody>
      </p:sp>
      <p:sp>
        <p:nvSpPr>
          <p:cNvPr id="6" name="">
            <a:extLst xmlns:a="http://schemas.openxmlformats.org/drawingml/2006/main">
              <a:ext uri="{FF2B5EF4-FFF2-40B4-BE49-F238E27FC236}">
                <a16:creationId xmlns:a16="http://schemas.microsoft.com/office/drawing/2014/main" id="{685367B9-0FFF-4394-B44D-5DFF0ED22C71}"/>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비슷한 개념 표현 연결</a:t>
            </a:r>
          </a:p>
        </p:txBody>
      </p:sp>
      <p:sp>
        <p:nvSpPr>
          <p:cNvPr id="8" name="">
            <a:extLst xmlns:a="http://schemas.openxmlformats.org/drawingml/2006/main">
              <a:ext uri="{FF2B5EF4-FFF2-40B4-BE49-F238E27FC236}">
                <a16:creationId xmlns:a16="http://schemas.microsoft.com/office/drawing/2014/main" id="{6CEE1FE8-A05B-418E-A286-EFCADB6105E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원문 문단도 그래프에 연결</a:t>
            </a:r>
          </a:p>
        </p:txBody>
      </p:sp>
      <p:sp>
        <p:nvSpPr>
          <p:cNvPr id="10" name="">
            <a:extLst xmlns:a="http://schemas.openxmlformats.org/drawingml/2006/main">
              <a:ext uri="{FF2B5EF4-FFF2-40B4-BE49-F238E27FC236}">
                <a16:creationId xmlns:a16="http://schemas.microsoft.com/office/drawing/2014/main" id="{6B7CFD9F-EB02-4C6A-A899-08553063DFF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개념·문단의 벡터 저장</a:t>
            </a:r>
          </a:p>
        </p:txBody>
      </p:sp>
      <p:sp>
        <p:nvSpPr>
          <p:cNvPr id="12" name="">
            <a:extLst xmlns:a="http://schemas.openxmlformats.org/drawingml/2006/main">
              <a:ext uri="{FF2B5EF4-FFF2-40B4-BE49-F238E27FC236}">
                <a16:creationId xmlns:a16="http://schemas.microsoft.com/office/drawing/2014/main" id="{A376CC4D-AF9D-4550-8923-DE3581452303}"/>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문맥을 포함한 그래프 저장</a:t>
            </a:r>
          </a:p>
        </p:txBody>
      </p:sp>
      <p:sp>
        <p:nvSpPr>
          <p:cNvPr id="14" name="">
            <a:extLst xmlns:a="http://schemas.openxmlformats.org/drawingml/2006/main">
              <a:ext uri="{FF2B5EF4-FFF2-40B4-BE49-F238E27FC236}">
                <a16:creationId xmlns:a16="http://schemas.microsoft.com/office/drawing/2014/main" id="{8F6EE4B8-5CAD-4518-8847-5F90278B2F9B}"/>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8D5347E2-803E-4161-83B4-CBAD4CE0596B}"/>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관련 관계 후보 찾기</a:t>
            </a:r>
          </a:p>
        </p:txBody>
      </p:sp>
      <p:sp>
        <p:nvSpPr>
          <p:cNvPr id="16" name="">
            <a:extLst xmlns:a="http://schemas.openxmlformats.org/drawingml/2006/main">
              <a:ext uri="{FF2B5EF4-FFF2-40B4-BE49-F238E27FC236}">
                <a16:creationId xmlns:a16="http://schemas.microsoft.com/office/drawing/2014/main" id="{6A9DAB1F-5B2B-4471-B7F2-6B984116DFD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LLM으로 관련 후보 걸러내기</a:t>
            </a:r>
          </a:p>
        </p:txBody>
      </p:sp>
      <p:sp>
        <p:nvSpPr>
          <p:cNvPr id="18" name="">
            <a:extLst xmlns:a="http://schemas.openxmlformats.org/drawingml/2006/main">
              <a:ext uri="{FF2B5EF4-FFF2-40B4-BE49-F238E27FC236}">
                <a16:creationId xmlns:a16="http://schemas.microsoft.com/office/drawing/2014/main" id="{A7A4D3BE-B64C-40F8-B790-EE7141E9639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관계·원문에서 출발점 정하기</a:t>
            </a:r>
          </a:p>
        </p:txBody>
      </p:sp>
      <p:sp>
        <p:nvSpPr>
          <p:cNvPr id="20" name="">
            <a:extLst xmlns:a="http://schemas.openxmlformats.org/drawingml/2006/main">
              <a:ext uri="{FF2B5EF4-FFF2-40B4-BE49-F238E27FC236}">
                <a16:creationId xmlns:a16="http://schemas.microsoft.com/office/drawing/2014/main" id="{DC03BD94-5006-4DD9-BFB2-EBBB81D9D64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통합 그래프에 PPR 적용</a:t>
            </a:r>
          </a:p>
        </p:txBody>
      </p:sp>
      <p:sp>
        <p:nvSpPr>
          <p:cNvPr id="22" name="">
            <a:extLst xmlns:a="http://schemas.openxmlformats.org/drawingml/2006/main">
              <a:ext uri="{FF2B5EF4-FFF2-40B4-BE49-F238E27FC236}">
                <a16:creationId xmlns:a16="http://schemas.microsoft.com/office/drawing/2014/main" id="{53666DE2-6D4A-4245-9F24-F8B12B4C9A90}"/>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원문으로 답변 작성</a:t>
            </a:r>
          </a:p>
        </p:txBody>
      </p:sp>
      <p:sp>
        <p:nvSpPr>
          <p:cNvPr id="24" name="">
            <a:extLst xmlns:a="http://schemas.openxmlformats.org/drawingml/2006/main">
              <a:ext uri="{FF2B5EF4-FFF2-40B4-BE49-F238E27FC236}">
                <a16:creationId xmlns:a16="http://schemas.microsoft.com/office/drawing/2014/main" id="{0CCF2B73-4C54-4660-A8B5-EE639680C91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개체 연결과 원문 문맥을 함께 사용</a:t>
            </a:r>
          </a:p>
        </p:txBody>
      </p:sp>
    </p:spTree>
    <p:extLst>
      <p:ext uri="{BB962C8B-B14F-4D97-AF65-F5344CB8AC3E}">
        <p14:creationId xmlns:p14="http://schemas.microsoft.com/office/powerpoint/2010/main" val="973108344"/>
      </p:ext>
    </p:extLst>
  </p:cSld>
</p:sld>
</file>

<file path=ppt/slides/slide24.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387DC8E8-2A2B-43AA-8573-FBDAA95E2091}"/>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F8EC30F1-64D9-4D1E-BD39-3AFFB6DDF363}"/>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617E991F-DE3A-4293-96A3-C0F670BEA771}"/>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1A62F85A-AB6A-45A8-8F55-8E77590F6C41}"/>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C8F1926D-BEC1-4457-9AE8-0899EC0F7FE5}"/>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16D2D2DE-B730-4EB0-AFDE-072894BABFCA}"/>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7EB3FDEF-9FC0-4D97-94FD-BD9E13C1E7FD}"/>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ED1E7FC0-626D-43E8-AC9D-123893E58512}"/>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1202660B-4A28-485B-A453-96D6182B1E4B}"/>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근거 단위와 비용</a:t>
            </a:r>
          </a:p>
        </p:txBody>
      </p:sp>
      <p:sp>
        <p:nvSpPr>
          <p:cNvPr id="2" name="">
            <a:extLst xmlns:a="http://schemas.openxmlformats.org/drawingml/2006/main">
              <a:ext uri="{FF2B5EF4-FFF2-40B4-BE49-F238E27FC236}">
                <a16:creationId xmlns:a16="http://schemas.microsoft.com/office/drawing/2014/main" id="{8FA78604-EF42-4C71-8068-944E04D2545D}"/>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LinearRAG의 전체 처리 순서</a:t>
            </a:r>
          </a:p>
        </p:txBody>
      </p:sp>
      <p:sp>
        <p:nvSpPr>
          <p:cNvPr id="3" name="">
            <a:extLst xmlns:a="http://schemas.openxmlformats.org/drawingml/2006/main">
              <a:ext uri="{FF2B5EF4-FFF2-40B4-BE49-F238E27FC236}">
                <a16:creationId xmlns:a16="http://schemas.microsoft.com/office/drawing/2014/main" id="{ECAC08C6-55EE-4C3F-8567-002F7204561A}"/>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24</a:t>
            </a:r>
          </a:p>
        </p:txBody>
      </p:sp>
      <p:sp>
        <p:nvSpPr>
          <p:cNvPr id="4" name="">
            <a:extLst xmlns:a="http://schemas.openxmlformats.org/drawingml/2006/main">
              <a:ext uri="{FF2B5EF4-FFF2-40B4-BE49-F238E27FC236}">
                <a16:creationId xmlns:a16="http://schemas.microsoft.com/office/drawing/2014/main" id="{E0E52116-91CF-4976-A69F-EC521EFEB44D}"/>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89DBF0B6-60A4-4BBF-96E6-F58A2192FEEC}"/>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원문을 문단과 문장으로 나누기</a:t>
            </a:r>
          </a:p>
        </p:txBody>
      </p:sp>
      <p:sp>
        <p:nvSpPr>
          <p:cNvPr id="6" name="">
            <a:extLst xmlns:a="http://schemas.openxmlformats.org/drawingml/2006/main">
              <a:ext uri="{FF2B5EF4-FFF2-40B4-BE49-F238E27FC236}">
                <a16:creationId xmlns:a16="http://schemas.microsoft.com/office/drawing/2014/main" id="{2970776C-966E-40C2-9DEE-63C5F1E974C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등장 개체 찾기</a:t>
            </a:r>
          </a:p>
        </p:txBody>
      </p:sp>
      <p:sp>
        <p:nvSpPr>
          <p:cNvPr id="8" name="">
            <a:extLst xmlns:a="http://schemas.openxmlformats.org/drawingml/2006/main">
              <a:ext uri="{FF2B5EF4-FFF2-40B4-BE49-F238E27FC236}">
                <a16:creationId xmlns:a16="http://schemas.microsoft.com/office/drawing/2014/main" id="{0F6639F8-2DF1-41B2-892B-A3D58C97A47F}"/>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개체·문장·문단 연결</a:t>
            </a:r>
          </a:p>
        </p:txBody>
      </p:sp>
      <p:sp>
        <p:nvSpPr>
          <p:cNvPr id="10" name="">
            <a:extLst xmlns:a="http://schemas.openxmlformats.org/drawingml/2006/main">
              <a:ext uri="{FF2B5EF4-FFF2-40B4-BE49-F238E27FC236}">
                <a16:creationId xmlns:a16="http://schemas.microsoft.com/office/drawing/2014/main" id="{48DFA5FD-3130-4EE7-B5DE-948788296713}"/>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함께 나온 위치와 소속 연결</a:t>
            </a:r>
          </a:p>
        </p:txBody>
      </p:sp>
      <p:sp>
        <p:nvSpPr>
          <p:cNvPr id="12" name="">
            <a:extLst xmlns:a="http://schemas.openxmlformats.org/drawingml/2006/main">
              <a:ext uri="{FF2B5EF4-FFF2-40B4-BE49-F238E27FC236}">
                <a16:creationId xmlns:a16="http://schemas.microsoft.com/office/drawing/2014/main" id="{7EC153B7-1DAD-4EDF-9166-4E397992FE86}"/>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관계 이름 없이 그래프 저장</a:t>
            </a:r>
          </a:p>
        </p:txBody>
      </p:sp>
      <p:sp>
        <p:nvSpPr>
          <p:cNvPr id="14" name="">
            <a:extLst xmlns:a="http://schemas.openxmlformats.org/drawingml/2006/main">
              <a:ext uri="{FF2B5EF4-FFF2-40B4-BE49-F238E27FC236}">
                <a16:creationId xmlns:a16="http://schemas.microsoft.com/office/drawing/2014/main" id="{7F53ED69-EF05-4FDC-8535-C9C309CB0E5A}"/>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4CCAA8FF-E1CB-4621-83E1-717309037C42}"/>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 속 개체 맞추기</a:t>
            </a:r>
          </a:p>
        </p:txBody>
      </p:sp>
      <p:sp>
        <p:nvSpPr>
          <p:cNvPr id="16" name="">
            <a:extLst xmlns:a="http://schemas.openxmlformats.org/drawingml/2006/main">
              <a:ext uri="{FF2B5EF4-FFF2-40B4-BE49-F238E27FC236}">
                <a16:creationId xmlns:a16="http://schemas.microsoft.com/office/drawing/2014/main" id="{31EAD40A-2211-4A58-BF94-81C0287FC13D}"/>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비슷한 문장을 찾기</a:t>
            </a:r>
          </a:p>
        </p:txBody>
      </p:sp>
      <p:sp>
        <p:nvSpPr>
          <p:cNvPr id="18" name="">
            <a:extLst xmlns:a="http://schemas.openxmlformats.org/drawingml/2006/main">
              <a:ext uri="{FF2B5EF4-FFF2-40B4-BE49-F238E27FC236}">
                <a16:creationId xmlns:a16="http://schemas.microsoft.com/office/drawing/2014/main" id="{1AF6384D-C4A9-4321-8185-BD8AA7CDDF2D}"/>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문장과 개체로 단서 보강</a:t>
            </a:r>
          </a:p>
        </p:txBody>
      </p:sp>
      <p:sp>
        <p:nvSpPr>
          <p:cNvPr id="20" name="">
            <a:extLst xmlns:a="http://schemas.openxmlformats.org/drawingml/2006/main">
              <a:ext uri="{FF2B5EF4-FFF2-40B4-BE49-F238E27FC236}">
                <a16:creationId xmlns:a16="http://schemas.microsoft.com/office/drawing/2014/main" id="{D2CFACE4-BA2A-45B7-8D65-E0BD191537F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그래프 확산으로 문단 정렬</a:t>
            </a:r>
          </a:p>
        </p:txBody>
      </p:sp>
      <p:sp>
        <p:nvSpPr>
          <p:cNvPr id="22" name="">
            <a:extLst xmlns:a="http://schemas.openxmlformats.org/drawingml/2006/main">
              <a:ext uri="{FF2B5EF4-FFF2-40B4-BE49-F238E27FC236}">
                <a16:creationId xmlns:a16="http://schemas.microsoft.com/office/drawing/2014/main" id="{81A9C144-A97A-47A0-86A0-42F02F508F92}"/>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원문으로 답변 작성</a:t>
            </a:r>
          </a:p>
        </p:txBody>
      </p:sp>
      <p:sp>
        <p:nvSpPr>
          <p:cNvPr id="24" name="">
            <a:extLst xmlns:a="http://schemas.openxmlformats.org/drawingml/2006/main">
              <a:ext uri="{FF2B5EF4-FFF2-40B4-BE49-F238E27FC236}">
                <a16:creationId xmlns:a16="http://schemas.microsoft.com/office/drawing/2014/main" id="{A4EBF470-3FCA-4DB6-99BC-EAF608F0D9A8}"/>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관계 이름보다 개체의 출현을 활용</a:t>
            </a:r>
          </a:p>
        </p:txBody>
      </p:sp>
    </p:spTree>
    <p:extLst>
      <p:ext uri="{BB962C8B-B14F-4D97-AF65-F5344CB8AC3E}">
        <p14:creationId xmlns:p14="http://schemas.microsoft.com/office/powerpoint/2010/main" val="804489385"/>
      </p:ext>
    </p:extLst>
  </p:cSld>
</p:sld>
</file>

<file path=ppt/slides/slide25.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F627AB70-CEB4-40DD-A354-1C0DD053EEA5}"/>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F7EF59D5-76C9-4BC8-9F7E-24092A5BA759}"/>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EC4EF0E9-A0D6-4A09-8B10-8370E5478D27}"/>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A4596864-8487-4C5C-AEEE-81E4F4B16529}"/>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00E3FEDC-3009-4739-A532-C5B0D3DFE76B}"/>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E664D922-E50F-466D-988E-07EC2497008A}"/>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26EF2B90-3051-4C67-8D71-4FC9C8D27391}"/>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9757B4A8-2883-440F-9B3F-6B3311AE719D}"/>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82585325-80C3-4273-A61B-65617D1CAD6D}"/>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근거 단위와 비용</a:t>
            </a:r>
          </a:p>
        </p:txBody>
      </p:sp>
      <p:sp>
        <p:nvSpPr>
          <p:cNvPr id="2" name="">
            <a:extLst xmlns:a="http://schemas.openxmlformats.org/drawingml/2006/main">
              <a:ext uri="{FF2B5EF4-FFF2-40B4-BE49-F238E27FC236}">
                <a16:creationId xmlns:a16="http://schemas.microsoft.com/office/drawing/2014/main" id="{4647E3E3-D834-4839-A33C-73665780ECA2}"/>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AtomicRAG의 전체 처리 순서</a:t>
            </a:r>
          </a:p>
        </p:txBody>
      </p:sp>
      <p:sp>
        <p:nvSpPr>
          <p:cNvPr id="3" name="">
            <a:extLst xmlns:a="http://schemas.openxmlformats.org/drawingml/2006/main">
              <a:ext uri="{FF2B5EF4-FFF2-40B4-BE49-F238E27FC236}">
                <a16:creationId xmlns:a16="http://schemas.microsoft.com/office/drawing/2014/main" id="{0E089FD0-3BC1-4DC5-B702-B0EBF4849F6C}"/>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25</a:t>
            </a:r>
          </a:p>
        </p:txBody>
      </p:sp>
      <p:sp>
        <p:nvSpPr>
          <p:cNvPr id="4" name="">
            <a:extLst xmlns:a="http://schemas.openxmlformats.org/drawingml/2006/main">
              <a:ext uri="{FF2B5EF4-FFF2-40B4-BE49-F238E27FC236}">
                <a16:creationId xmlns:a16="http://schemas.microsoft.com/office/drawing/2014/main" id="{18F26791-6586-4E18-9CD7-84CE8DCA80EC}"/>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9101A62E-6271-4CD3-9A1E-EF046DDCA1E1}"/>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독립적인 사실로 나누기</a:t>
            </a:r>
          </a:p>
        </p:txBody>
      </p:sp>
      <p:sp>
        <p:nvSpPr>
          <p:cNvPr id="6" name="">
            <a:extLst xmlns:a="http://schemas.openxmlformats.org/drawingml/2006/main">
              <a:ext uri="{FF2B5EF4-FFF2-40B4-BE49-F238E27FC236}">
                <a16:creationId xmlns:a16="http://schemas.microsoft.com/office/drawing/2014/main" id="{413E7CC1-645B-497B-8BEF-2FDEFDA34664}"/>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각 사실에 나온 개체 찾기</a:t>
            </a:r>
          </a:p>
        </p:txBody>
      </p:sp>
      <p:sp>
        <p:nvSpPr>
          <p:cNvPr id="8" name="">
            <a:extLst xmlns:a="http://schemas.openxmlformats.org/drawingml/2006/main">
              <a:ext uri="{FF2B5EF4-FFF2-40B4-BE49-F238E27FC236}">
                <a16:creationId xmlns:a16="http://schemas.microsoft.com/office/drawing/2014/main" id="{F81E772C-E4E6-419B-8927-43A2DAF7AB88}"/>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사실과 개체 연결</a:t>
            </a:r>
          </a:p>
        </p:txBody>
      </p:sp>
      <p:sp>
        <p:nvSpPr>
          <p:cNvPr id="10" name="">
            <a:extLst xmlns:a="http://schemas.openxmlformats.org/drawingml/2006/main">
              <a:ext uri="{FF2B5EF4-FFF2-40B4-BE49-F238E27FC236}">
                <a16:creationId xmlns:a16="http://schemas.microsoft.com/office/drawing/2014/main" id="{908DB875-D53A-44A4-A188-899E8AADD3B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관련 개체들의 연결 구성</a:t>
            </a:r>
          </a:p>
        </p:txBody>
      </p:sp>
      <p:sp>
        <p:nvSpPr>
          <p:cNvPr id="12" name="">
            <a:extLst xmlns:a="http://schemas.openxmlformats.org/drawingml/2006/main">
              <a:ext uri="{FF2B5EF4-FFF2-40B4-BE49-F238E27FC236}">
                <a16:creationId xmlns:a16="http://schemas.microsoft.com/office/drawing/2014/main" id="{89F9ECAC-50CC-4BC3-AA1B-5982BCA64A41}"/>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각 사실의 원문 출처 저장</a:t>
            </a:r>
          </a:p>
        </p:txBody>
      </p:sp>
      <p:sp>
        <p:nvSpPr>
          <p:cNvPr id="14" name="">
            <a:extLst xmlns:a="http://schemas.openxmlformats.org/drawingml/2006/main">
              <a:ext uri="{FF2B5EF4-FFF2-40B4-BE49-F238E27FC236}">
                <a16:creationId xmlns:a16="http://schemas.microsoft.com/office/drawing/2014/main" id="{A97D9BAB-C172-4114-BB27-5E6D073C7791}"/>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9E5A116B-4E78-4C0E-A100-934020437BFF}"/>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필요하면 질문을 작게 나누기</a:t>
            </a:r>
          </a:p>
        </p:txBody>
      </p:sp>
      <p:sp>
        <p:nvSpPr>
          <p:cNvPr id="16" name="">
            <a:extLst xmlns:a="http://schemas.openxmlformats.org/drawingml/2006/main">
              <a:ext uri="{FF2B5EF4-FFF2-40B4-BE49-F238E27FC236}">
                <a16:creationId xmlns:a16="http://schemas.microsoft.com/office/drawing/2014/main" id="{E31902A6-CAAB-459D-9C00-376B6082BFD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관련 사실과 개체 찾기</a:t>
            </a:r>
          </a:p>
        </p:txBody>
      </p:sp>
      <p:sp>
        <p:nvSpPr>
          <p:cNvPr id="18" name="">
            <a:extLst xmlns:a="http://schemas.openxmlformats.org/drawingml/2006/main">
              <a:ext uri="{FF2B5EF4-FFF2-40B4-BE49-F238E27FC236}">
                <a16:creationId xmlns:a16="http://schemas.microsoft.com/office/drawing/2014/main" id="{12B20774-74E9-4E6B-866C-DEC6F1F64B89}"/>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PPR로 관련 사실 범위 넓히기</a:t>
            </a:r>
          </a:p>
        </p:txBody>
      </p:sp>
      <p:sp>
        <p:nvSpPr>
          <p:cNvPr id="20" name="">
            <a:extLst xmlns:a="http://schemas.openxmlformats.org/drawingml/2006/main">
              <a:ext uri="{FF2B5EF4-FFF2-40B4-BE49-F238E27FC236}">
                <a16:creationId xmlns:a16="http://schemas.microsoft.com/office/drawing/2014/main" id="{7602FC9F-8B8A-465F-8073-49785A74CD17}"/>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중복·무관한 사실 걸러내기</a:t>
            </a:r>
          </a:p>
        </p:txBody>
      </p:sp>
      <p:sp>
        <p:nvSpPr>
          <p:cNvPr id="22" name="">
            <a:extLst xmlns:a="http://schemas.openxmlformats.org/drawingml/2006/main">
              <a:ext uri="{FF2B5EF4-FFF2-40B4-BE49-F238E27FC236}">
                <a16:creationId xmlns:a16="http://schemas.microsoft.com/office/drawing/2014/main" id="{5BD27641-7488-4700-9C2B-D56729DE079F}"/>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남긴 사실과 원문으로 답변</a:t>
            </a:r>
          </a:p>
        </p:txBody>
      </p:sp>
      <p:sp>
        <p:nvSpPr>
          <p:cNvPr id="24" name="">
            <a:extLst xmlns:a="http://schemas.openxmlformats.org/drawingml/2006/main">
              <a:ext uri="{FF2B5EF4-FFF2-40B4-BE49-F238E27FC236}">
                <a16:creationId xmlns:a16="http://schemas.microsoft.com/office/drawing/2014/main" id="{7372FECA-3831-407A-ABFC-81C3C8AD526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문서를 독립적인 작은 사실로 나누기</a:t>
            </a:r>
          </a:p>
        </p:txBody>
      </p:sp>
    </p:spTree>
    <p:extLst>
      <p:ext uri="{BB962C8B-B14F-4D97-AF65-F5344CB8AC3E}">
        <p14:creationId xmlns:p14="http://schemas.microsoft.com/office/powerpoint/2010/main" val="572326041"/>
      </p:ext>
    </p:extLst>
  </p:cSld>
</p:sld>
</file>

<file path=ppt/slides/slide26.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3B37F174-CD33-4088-8B26-E8A8B02184FD}"/>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747E55E2-ECAB-43EE-A792-AC1892274F0E}"/>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17BCDB8A-2CEB-41C0-9D05-756683A85602}"/>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0B8C95E2-FD41-4CF5-B9DA-2DA6850B3CAA}"/>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083C97F7-4CAF-4256-8B64-BCB7ED4D963B}"/>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C0CD98A5-C4D5-419E-94F5-93DBB9F27FDB}"/>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A57F4B5F-1BAE-4DCE-B073-4588138E1D0D}"/>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68D6FBB4-958F-4017-A761-31058D58B4A1}"/>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B784FBD2-E462-4480-A641-25C8C99917B6}"/>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근거 단위와 비용</a:t>
            </a:r>
          </a:p>
        </p:txBody>
      </p:sp>
      <p:sp>
        <p:nvSpPr>
          <p:cNvPr id="2" name="">
            <a:extLst xmlns:a="http://schemas.openxmlformats.org/drawingml/2006/main">
              <a:ext uri="{FF2B5EF4-FFF2-40B4-BE49-F238E27FC236}">
                <a16:creationId xmlns:a16="http://schemas.microsoft.com/office/drawing/2014/main" id="{0E54D800-5D3E-4407-8B8B-A1821C413C23}"/>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MiniRAG의 전체 처리 순서</a:t>
            </a:r>
          </a:p>
        </p:txBody>
      </p:sp>
      <p:sp>
        <p:nvSpPr>
          <p:cNvPr id="3" name="">
            <a:extLst xmlns:a="http://schemas.openxmlformats.org/drawingml/2006/main">
              <a:ext uri="{FF2B5EF4-FFF2-40B4-BE49-F238E27FC236}">
                <a16:creationId xmlns:a16="http://schemas.microsoft.com/office/drawing/2014/main" id="{5560DC70-096A-4013-99E5-6106FD71AE5E}"/>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26</a:t>
            </a:r>
          </a:p>
        </p:txBody>
      </p:sp>
      <p:sp>
        <p:nvSpPr>
          <p:cNvPr id="4" name="">
            <a:extLst xmlns:a="http://schemas.openxmlformats.org/drawingml/2006/main">
              <a:ext uri="{FF2B5EF4-FFF2-40B4-BE49-F238E27FC236}">
                <a16:creationId xmlns:a16="http://schemas.microsoft.com/office/drawing/2014/main" id="{26DDE4C9-B567-4378-8626-4F521149D357}"/>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7B7995DD-C3B3-4235-84A8-6387A816E6E5}"/>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원문 조각 준비</a:t>
            </a:r>
          </a:p>
        </p:txBody>
      </p:sp>
      <p:sp>
        <p:nvSpPr>
          <p:cNvPr id="6" name="">
            <a:extLst xmlns:a="http://schemas.openxmlformats.org/drawingml/2006/main">
              <a:ext uri="{FF2B5EF4-FFF2-40B4-BE49-F238E27FC236}">
                <a16:creationId xmlns:a16="http://schemas.microsoft.com/office/drawing/2014/main" id="{EB126013-C648-4751-8CFD-E9D18E3DF626}"/>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가벼운 개체 추출</a:t>
            </a:r>
          </a:p>
        </p:txBody>
      </p:sp>
      <p:sp>
        <p:nvSpPr>
          <p:cNvPr id="8" name="">
            <a:extLst xmlns:a="http://schemas.openxmlformats.org/drawingml/2006/main">
              <a:ext uri="{FF2B5EF4-FFF2-40B4-BE49-F238E27FC236}">
                <a16:creationId xmlns:a16="http://schemas.microsoft.com/office/drawing/2014/main" id="{0B18B186-7A1B-4101-9602-5B07CD7E7954}"/>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개체와 원문을 함께 연결</a:t>
            </a:r>
          </a:p>
        </p:txBody>
      </p:sp>
      <p:sp>
        <p:nvSpPr>
          <p:cNvPr id="10" name="">
            <a:extLst xmlns:a="http://schemas.openxmlformats.org/drawingml/2006/main">
              <a:ext uri="{FF2B5EF4-FFF2-40B4-BE49-F238E27FC236}">
                <a16:creationId xmlns:a16="http://schemas.microsoft.com/office/drawing/2014/main" id="{83A8A865-E269-4645-85ED-F7703140485A}"/>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내용과 연결 구조 저장</a:t>
            </a:r>
          </a:p>
        </p:txBody>
      </p:sp>
      <p:sp>
        <p:nvSpPr>
          <p:cNvPr id="12" name="">
            <a:extLst xmlns:a="http://schemas.openxmlformats.org/drawingml/2006/main">
              <a:ext uri="{FF2B5EF4-FFF2-40B4-BE49-F238E27FC236}">
                <a16:creationId xmlns:a16="http://schemas.microsoft.com/office/drawing/2014/main" id="{5FBDD634-9D47-409B-8442-864C3947E025}"/>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작은 모델용 검색 구조 준비</a:t>
            </a:r>
          </a:p>
        </p:txBody>
      </p:sp>
      <p:sp>
        <p:nvSpPr>
          <p:cNvPr id="14" name="">
            <a:extLst xmlns:a="http://schemas.openxmlformats.org/drawingml/2006/main">
              <a:ext uri="{FF2B5EF4-FFF2-40B4-BE49-F238E27FC236}">
                <a16:creationId xmlns:a16="http://schemas.microsoft.com/office/drawing/2014/main" id="{DCBABF9A-1AC9-4DB5-94AC-7AA7C4078429}"/>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E822FADD-9A96-4458-B0FB-00CA686DB158}"/>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 속 개체와 답 종류 파악</a:t>
            </a:r>
          </a:p>
        </p:txBody>
      </p:sp>
      <p:sp>
        <p:nvSpPr>
          <p:cNvPr id="16" name="">
            <a:extLst xmlns:a="http://schemas.openxmlformats.org/drawingml/2006/main">
              <a:ext uri="{FF2B5EF4-FFF2-40B4-BE49-F238E27FC236}">
                <a16:creationId xmlns:a16="http://schemas.microsoft.com/office/drawing/2014/main" id="{7993A553-79DD-4978-BBA2-769DF965DF1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관련 개체·원문 후보 찾기</a:t>
            </a:r>
          </a:p>
        </p:txBody>
      </p:sp>
      <p:sp>
        <p:nvSpPr>
          <p:cNvPr id="18" name="">
            <a:extLst xmlns:a="http://schemas.openxmlformats.org/drawingml/2006/main">
              <a:ext uri="{FF2B5EF4-FFF2-40B4-BE49-F238E27FC236}">
                <a16:creationId xmlns:a16="http://schemas.microsoft.com/office/drawing/2014/main" id="{23BDFD2D-FE4A-4B32-A784-35314577C4E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연결 구조로 경로 탐색</a:t>
            </a:r>
          </a:p>
        </p:txBody>
      </p:sp>
      <p:sp>
        <p:nvSpPr>
          <p:cNvPr id="20" name="">
            <a:extLst xmlns:a="http://schemas.openxmlformats.org/drawingml/2006/main">
              <a:ext uri="{FF2B5EF4-FFF2-40B4-BE49-F238E27FC236}">
                <a16:creationId xmlns:a16="http://schemas.microsoft.com/office/drawing/2014/main" id="{7E5DFF7E-D1BF-48D5-A05D-243E7A6486E4}"/>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짧은 경로와 원문 선택</a:t>
            </a:r>
          </a:p>
        </p:txBody>
      </p:sp>
      <p:sp>
        <p:nvSpPr>
          <p:cNvPr id="22" name="">
            <a:extLst xmlns:a="http://schemas.openxmlformats.org/drawingml/2006/main">
              <a:ext uri="{FF2B5EF4-FFF2-40B4-BE49-F238E27FC236}">
                <a16:creationId xmlns:a16="http://schemas.microsoft.com/office/drawing/2014/main" id="{DF500CD9-731A-43CB-B7AB-86EDA8867B9B}"/>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선택한 근거로 답변 작성</a:t>
            </a:r>
          </a:p>
        </p:txBody>
      </p:sp>
      <p:sp>
        <p:nvSpPr>
          <p:cNvPr id="24" name="">
            <a:extLst xmlns:a="http://schemas.openxmlformats.org/drawingml/2006/main">
              <a:ext uri="{FF2B5EF4-FFF2-40B4-BE49-F238E27FC236}">
                <a16:creationId xmlns:a16="http://schemas.microsoft.com/office/drawing/2014/main" id="{093E9D26-787C-4DF6-BA58-46E566AF4FCD}"/>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작은 모델이 읽을 짧은 연결 찾기</a:t>
            </a:r>
          </a:p>
        </p:txBody>
      </p:sp>
    </p:spTree>
    <p:extLst>
      <p:ext uri="{BB962C8B-B14F-4D97-AF65-F5344CB8AC3E}">
        <p14:creationId xmlns:p14="http://schemas.microsoft.com/office/powerpoint/2010/main" val="500867872"/>
      </p:ext>
    </p:extLst>
  </p:cSld>
</p:sld>
</file>

<file path=ppt/slides/slide27.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832A1066-4898-4ECE-9327-91537502C97A}"/>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9534D977-424C-45B1-9DC4-DA5394B8E126}"/>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2882E35B-0FB9-43D7-AD3C-22EC1EF91093}"/>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446C1787-872B-4B3F-9921-225075A08AD9}"/>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F2BA30FF-F2C2-464C-89EE-93418020A636}"/>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DB90C471-6FBC-4DFC-9D56-16089DA4DFD8}"/>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EAE834E7-750F-46DC-B822-95F52D9616AE}"/>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AC50FFE2-F812-4D79-B385-248F6C7963F5}"/>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71FD4F3-60A7-4DD9-92CA-A6D2EB5C4645}"/>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학습하는 검색</a:t>
            </a:r>
          </a:p>
        </p:txBody>
      </p:sp>
      <p:sp>
        <p:nvSpPr>
          <p:cNvPr id="2" name="">
            <a:extLst xmlns:a="http://schemas.openxmlformats.org/drawingml/2006/main">
              <a:ext uri="{FF2B5EF4-FFF2-40B4-BE49-F238E27FC236}">
                <a16:creationId xmlns:a16="http://schemas.microsoft.com/office/drawing/2014/main" id="{6AD8EDA3-BA8B-4F8E-A026-91FCB9AB265A}"/>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GFM-RAG의 전체 처리 순서</a:t>
            </a:r>
          </a:p>
        </p:txBody>
      </p:sp>
      <p:sp>
        <p:nvSpPr>
          <p:cNvPr id="3" name="">
            <a:extLst xmlns:a="http://schemas.openxmlformats.org/drawingml/2006/main">
              <a:ext uri="{FF2B5EF4-FFF2-40B4-BE49-F238E27FC236}">
                <a16:creationId xmlns:a16="http://schemas.microsoft.com/office/drawing/2014/main" id="{D62D0378-0412-4926-8A14-BCAA0E375ED8}"/>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27</a:t>
            </a:r>
          </a:p>
        </p:txBody>
      </p:sp>
      <p:sp>
        <p:nvSpPr>
          <p:cNvPr id="4" name="">
            <a:extLst xmlns:a="http://schemas.openxmlformats.org/drawingml/2006/main">
              <a:ext uri="{FF2B5EF4-FFF2-40B4-BE49-F238E27FC236}">
                <a16:creationId xmlns:a16="http://schemas.microsoft.com/office/drawing/2014/main" id="{218A730C-4FC0-4EDB-8B15-B14BA3331466}"/>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0EE4254D-EE0E-4E23-94E8-79092435F859}"/>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지식 그래프 준비</a:t>
            </a:r>
          </a:p>
        </p:txBody>
      </p:sp>
      <p:sp>
        <p:nvSpPr>
          <p:cNvPr id="6" name="">
            <a:extLst xmlns:a="http://schemas.openxmlformats.org/drawingml/2006/main">
              <a:ext uri="{FF2B5EF4-FFF2-40B4-BE49-F238E27FC236}">
                <a16:creationId xmlns:a16="http://schemas.microsoft.com/office/drawing/2014/main" id="{C0B1FC36-B00A-4BCE-B49C-477E1659A76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개체·관계·문서 매핑 저장</a:t>
            </a:r>
          </a:p>
        </p:txBody>
      </p:sp>
      <p:sp>
        <p:nvSpPr>
          <p:cNvPr id="8" name="">
            <a:extLst xmlns:a="http://schemas.openxmlformats.org/drawingml/2006/main">
              <a:ext uri="{FF2B5EF4-FFF2-40B4-BE49-F238E27FC236}">
                <a16:creationId xmlns:a16="http://schemas.microsoft.com/office/drawing/2014/main" id="{E46BCD58-4892-4BEF-97E9-2EC2F520D779}"/>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모델이 읽을 형태로 변환</a:t>
            </a:r>
          </a:p>
        </p:txBody>
      </p:sp>
      <p:sp>
        <p:nvSpPr>
          <p:cNvPr id="10" name="">
            <a:extLst xmlns:a="http://schemas.openxmlformats.org/drawingml/2006/main">
              <a:ext uri="{FF2B5EF4-FFF2-40B4-BE49-F238E27FC236}">
                <a16:creationId xmlns:a16="http://schemas.microsoft.com/office/drawing/2014/main" id="{48AAA85D-7339-4B28-B8D0-F9A47AC9C506}"/>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학습된 검색 모델 불러오기</a:t>
            </a:r>
          </a:p>
        </p:txBody>
      </p:sp>
      <p:sp>
        <p:nvSpPr>
          <p:cNvPr id="12" name="">
            <a:extLst xmlns:a="http://schemas.openxmlformats.org/drawingml/2006/main">
              <a:ext uri="{FF2B5EF4-FFF2-40B4-BE49-F238E27FC236}">
                <a16:creationId xmlns:a16="http://schemas.microsoft.com/office/drawing/2014/main" id="{516DB87C-984D-4DA6-A9C1-D48F25358B41}"/>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새 문서 그래프에 적용 준비</a:t>
            </a:r>
          </a:p>
        </p:txBody>
      </p:sp>
      <p:sp>
        <p:nvSpPr>
          <p:cNvPr id="14" name="">
            <a:extLst xmlns:a="http://schemas.openxmlformats.org/drawingml/2006/main">
              <a:ext uri="{FF2B5EF4-FFF2-40B4-BE49-F238E27FC236}">
                <a16:creationId xmlns:a16="http://schemas.microsoft.com/office/drawing/2014/main" id="{ECA18BA2-A64F-4FB9-9665-82311A36E30D}"/>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FFEEC8CF-BB65-4319-B4A8-BDF2580C5BB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질문과 개체 연결</a:t>
            </a:r>
          </a:p>
        </p:txBody>
      </p:sp>
      <p:sp>
        <p:nvSpPr>
          <p:cNvPr id="16" name="">
            <a:extLst xmlns:a="http://schemas.openxmlformats.org/drawingml/2006/main">
              <a:ext uri="{FF2B5EF4-FFF2-40B4-BE49-F238E27FC236}">
                <a16:creationId xmlns:a16="http://schemas.microsoft.com/office/drawing/2014/main" id="{AD38EB12-E16D-4015-92BA-1340A7ECF641}"/>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질문을 반영한 GNN 실행</a:t>
            </a:r>
          </a:p>
        </p:txBody>
      </p:sp>
      <p:sp>
        <p:nvSpPr>
          <p:cNvPr id="18" name="">
            <a:extLst xmlns:a="http://schemas.openxmlformats.org/drawingml/2006/main">
              <a:ext uri="{FF2B5EF4-FFF2-40B4-BE49-F238E27FC236}">
                <a16:creationId xmlns:a16="http://schemas.microsoft.com/office/drawing/2014/main" id="{5EA72D75-A032-4466-BCCF-DFAC39161479}"/>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이웃 정보로 개체 점수 계산</a:t>
            </a:r>
          </a:p>
        </p:txBody>
      </p:sp>
      <p:sp>
        <p:nvSpPr>
          <p:cNvPr id="20" name="">
            <a:extLst xmlns:a="http://schemas.openxmlformats.org/drawingml/2006/main">
              <a:ext uri="{FF2B5EF4-FFF2-40B4-BE49-F238E27FC236}">
                <a16:creationId xmlns:a16="http://schemas.microsoft.com/office/drawing/2014/main" id="{CB2E3254-BDF1-4578-BFBE-413D337C930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개체 점수로 문서 정렬</a:t>
            </a:r>
          </a:p>
        </p:txBody>
      </p:sp>
      <p:sp>
        <p:nvSpPr>
          <p:cNvPr id="22" name="">
            <a:extLst xmlns:a="http://schemas.openxmlformats.org/drawingml/2006/main">
              <a:ext uri="{FF2B5EF4-FFF2-40B4-BE49-F238E27FC236}">
                <a16:creationId xmlns:a16="http://schemas.microsoft.com/office/drawing/2014/main" id="{A68E4808-8698-4CF4-A391-0ABA8D7A0944}"/>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검색 문서로 답변 작성</a:t>
            </a:r>
          </a:p>
        </p:txBody>
      </p:sp>
      <p:sp>
        <p:nvSpPr>
          <p:cNvPr id="24" name="">
            <a:extLst xmlns:a="http://schemas.openxmlformats.org/drawingml/2006/main">
              <a:ext uri="{FF2B5EF4-FFF2-40B4-BE49-F238E27FC236}">
                <a16:creationId xmlns:a16="http://schemas.microsoft.com/office/drawing/2014/main" id="{FABFD892-2E7C-4EF1-8B84-0C89D9B82D2B}"/>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어디로 검색할지 모델이 학습</a:t>
            </a:r>
          </a:p>
        </p:txBody>
      </p:sp>
    </p:spTree>
    <p:extLst>
      <p:ext uri="{BB962C8B-B14F-4D97-AF65-F5344CB8AC3E}">
        <p14:creationId xmlns:p14="http://schemas.microsoft.com/office/powerpoint/2010/main" val="1033633796"/>
      </p:ext>
    </p:extLst>
  </p:cSld>
</p:sld>
</file>

<file path=ppt/slides/slide28.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F689D369-1291-45F0-B3E4-3CED2E8157A9}"/>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C5A8E83A-DE9E-4DCA-A16C-E6A7E57C1B23}"/>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75110155-4553-44AE-961D-291F3FDA93A1}"/>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85E800ED-DA9B-40DE-9F18-EA35167D61A1}"/>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0EA557DB-C646-4038-B3AD-604F64D70ADA}"/>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7F00B753-BAEC-4894-8769-A4BB43C79EC3}"/>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22EEE494-6512-432D-81E5-09A32F5CB700}"/>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5A345C75-D00A-4D40-A49C-75CEC22BB56F}"/>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8CDDEF45-D327-4327-AE52-5F04B058EC76}"/>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학습하는 검색</a:t>
            </a:r>
          </a:p>
        </p:txBody>
      </p:sp>
      <p:sp>
        <p:nvSpPr>
          <p:cNvPr id="2" name="">
            <a:extLst xmlns:a="http://schemas.openxmlformats.org/drawingml/2006/main">
              <a:ext uri="{FF2B5EF4-FFF2-40B4-BE49-F238E27FC236}">
                <a16:creationId xmlns:a16="http://schemas.microsoft.com/office/drawing/2014/main" id="{206F0C85-A2F3-4AAB-A79D-F899C3C3C00D}"/>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G-reasoner의 전체 처리 순서</a:t>
            </a:r>
          </a:p>
        </p:txBody>
      </p:sp>
      <p:sp>
        <p:nvSpPr>
          <p:cNvPr id="3" name="">
            <a:extLst xmlns:a="http://schemas.openxmlformats.org/drawingml/2006/main">
              <a:ext uri="{FF2B5EF4-FFF2-40B4-BE49-F238E27FC236}">
                <a16:creationId xmlns:a16="http://schemas.microsoft.com/office/drawing/2014/main" id="{40EFFF45-D0A6-45E7-993C-C2CE8F057C5E}"/>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28</a:t>
            </a:r>
          </a:p>
        </p:txBody>
      </p:sp>
      <p:sp>
        <p:nvSpPr>
          <p:cNvPr id="4" name="">
            <a:extLst xmlns:a="http://schemas.openxmlformats.org/drawingml/2006/main">
              <a:ext uri="{FF2B5EF4-FFF2-40B4-BE49-F238E27FC236}">
                <a16:creationId xmlns:a16="http://schemas.microsoft.com/office/drawing/2014/main" id="{ED2E7967-3D59-49E2-AB3B-F7F8DEFBCC9E}"/>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37C15177-89C3-4BD7-8299-A779ACE3B9F2}"/>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개체 사이 지식 관계 구성</a:t>
            </a:r>
          </a:p>
        </p:txBody>
      </p:sp>
      <p:sp>
        <p:nvSpPr>
          <p:cNvPr id="6" name="">
            <a:extLst xmlns:a="http://schemas.openxmlformats.org/drawingml/2006/main">
              <a:ext uri="{FF2B5EF4-FFF2-40B4-BE49-F238E27FC236}">
                <a16:creationId xmlns:a16="http://schemas.microsoft.com/office/drawing/2014/main" id="{0EAED450-5A2F-481E-AF52-D4158CEA7D7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원문 문서 연결</a:t>
            </a:r>
          </a:p>
        </p:txBody>
      </p:sp>
      <p:sp>
        <p:nvSpPr>
          <p:cNvPr id="8" name="">
            <a:extLst xmlns:a="http://schemas.openxmlformats.org/drawingml/2006/main">
              <a:ext uri="{FF2B5EF4-FFF2-40B4-BE49-F238E27FC236}">
                <a16:creationId xmlns:a16="http://schemas.microsoft.com/office/drawing/2014/main" id="{41DAE82F-E70B-41AD-A502-7647BEB4E10A}"/>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개체의 속성 정보 연결</a:t>
            </a:r>
          </a:p>
        </p:txBody>
      </p:sp>
      <p:sp>
        <p:nvSpPr>
          <p:cNvPr id="10" name="">
            <a:extLst xmlns:a="http://schemas.openxmlformats.org/drawingml/2006/main">
              <a:ext uri="{FF2B5EF4-FFF2-40B4-BE49-F238E27FC236}">
                <a16:creationId xmlns:a16="http://schemas.microsoft.com/office/drawing/2014/main" id="{ADBDE7D7-1446-490D-B04B-29D95FD5DF86}"/>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그룹 정보 연결</a:t>
            </a:r>
          </a:p>
        </p:txBody>
      </p:sp>
      <p:sp>
        <p:nvSpPr>
          <p:cNvPr id="12" name="">
            <a:extLst xmlns:a="http://schemas.openxmlformats.org/drawingml/2006/main">
              <a:ext uri="{FF2B5EF4-FFF2-40B4-BE49-F238E27FC236}">
                <a16:creationId xmlns:a16="http://schemas.microsoft.com/office/drawing/2014/main" id="{E8222DFA-1C95-48BB-ADBC-7C5047CE9456}"/>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네 구조를 QuadGraph로 통합</a:t>
            </a:r>
          </a:p>
        </p:txBody>
      </p:sp>
      <p:sp>
        <p:nvSpPr>
          <p:cNvPr id="14" name="">
            <a:extLst xmlns:a="http://schemas.openxmlformats.org/drawingml/2006/main">
              <a:ext uri="{FF2B5EF4-FFF2-40B4-BE49-F238E27FC236}">
                <a16:creationId xmlns:a16="http://schemas.microsoft.com/office/drawing/2014/main" id="{569C266E-0C10-46C9-8F30-E14E0AF5830B}"/>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92DEAABD-B17B-449B-BFC6-41E1477818A1}"/>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질문을 벡터로 변환</a:t>
            </a:r>
          </a:p>
        </p:txBody>
      </p:sp>
      <p:sp>
        <p:nvSpPr>
          <p:cNvPr id="16" name="">
            <a:extLst xmlns:a="http://schemas.openxmlformats.org/drawingml/2006/main">
              <a:ext uri="{FF2B5EF4-FFF2-40B4-BE49-F238E27FC236}">
                <a16:creationId xmlns:a16="http://schemas.microsoft.com/office/drawing/2014/main" id="{CC2B116D-CF30-4FE4-8B90-0966FF3BBF7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학습 모델로 그래프 정보 전달</a:t>
            </a:r>
          </a:p>
        </p:txBody>
      </p:sp>
      <p:sp>
        <p:nvSpPr>
          <p:cNvPr id="18" name="">
            <a:extLst xmlns:a="http://schemas.openxmlformats.org/drawingml/2006/main">
              <a:ext uri="{FF2B5EF4-FFF2-40B4-BE49-F238E27FC236}">
                <a16:creationId xmlns:a16="http://schemas.microsoft.com/office/drawing/2014/main" id="{13982F2C-D428-4256-8D43-FA709E1A9DB4}"/>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관련 노드와 문서 예측</a:t>
            </a:r>
          </a:p>
        </p:txBody>
      </p:sp>
      <p:sp>
        <p:nvSpPr>
          <p:cNvPr id="20" name="">
            <a:extLst xmlns:a="http://schemas.openxmlformats.org/drawingml/2006/main">
              <a:ext uri="{FF2B5EF4-FFF2-40B4-BE49-F238E27FC236}">
                <a16:creationId xmlns:a16="http://schemas.microsoft.com/office/drawing/2014/main" id="{A30ABD75-E834-4097-AD9F-C56AAB754EB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답변에 필요한 근거 선택</a:t>
            </a:r>
          </a:p>
        </p:txBody>
      </p:sp>
      <p:sp>
        <p:nvSpPr>
          <p:cNvPr id="22" name="">
            <a:extLst xmlns:a="http://schemas.openxmlformats.org/drawingml/2006/main">
              <a:ext uri="{FF2B5EF4-FFF2-40B4-BE49-F238E27FC236}">
                <a16:creationId xmlns:a16="http://schemas.microsoft.com/office/drawing/2014/main" id="{AA38B5CC-BCE5-421C-B89B-1C27597A9A06}"/>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선택한 근거로 답변 작성</a:t>
            </a:r>
          </a:p>
        </p:txBody>
      </p:sp>
      <p:sp>
        <p:nvSpPr>
          <p:cNvPr id="24" name="">
            <a:extLst xmlns:a="http://schemas.openxmlformats.org/drawingml/2006/main">
              <a:ext uri="{FF2B5EF4-FFF2-40B4-BE49-F238E27FC236}">
                <a16:creationId xmlns:a16="http://schemas.microsoft.com/office/drawing/2014/main" id="{A1CA9A62-1F46-494D-AD09-3962C79FA099}"/>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여러 지식 구조를 한 그래프로 연결</a:t>
            </a:r>
          </a:p>
        </p:txBody>
      </p:sp>
    </p:spTree>
    <p:extLst>
      <p:ext uri="{BB962C8B-B14F-4D97-AF65-F5344CB8AC3E}">
        <p14:creationId xmlns:p14="http://schemas.microsoft.com/office/powerpoint/2010/main" val="1662042245"/>
      </p:ext>
    </p:extLst>
  </p:cSld>
</p:sld>
</file>

<file path=ppt/slides/slide29.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E0E06C50-AE9B-4ACB-8742-6D83AAA49E4D}"/>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9F35C1C9-2557-442E-9D3C-42AE53FA45C6}"/>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D7FA19F1-E75C-4B9F-9106-74791BEB7790}"/>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FEF9B1A2-416F-45D0-A572-97770774D043}"/>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10C42EC6-9AA1-4E57-B71B-BB8B1EE29E13}"/>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77715C4C-5DD8-47CB-A800-A56ACF66256E}"/>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39DB6889-8218-4B8A-8D36-4898B01D32C1}"/>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CBF9BC19-DBE8-400A-8C2E-73119A5137BD}"/>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E096587-04B4-4119-84AD-8893CA7AE0C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글과 표와 그림</a:t>
            </a:r>
          </a:p>
        </p:txBody>
      </p:sp>
      <p:sp>
        <p:nvSpPr>
          <p:cNvPr id="2" name="">
            <a:extLst xmlns:a="http://schemas.openxmlformats.org/drawingml/2006/main">
              <a:ext uri="{FF2B5EF4-FFF2-40B4-BE49-F238E27FC236}">
                <a16:creationId xmlns:a16="http://schemas.microsoft.com/office/drawing/2014/main" id="{11AF616D-3DFB-459D-9A2A-8C7F5C1D35CB}"/>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RAG-Anything의 전체 처리 순서</a:t>
            </a:r>
          </a:p>
        </p:txBody>
      </p:sp>
      <p:sp>
        <p:nvSpPr>
          <p:cNvPr id="3" name="">
            <a:extLst xmlns:a="http://schemas.openxmlformats.org/drawingml/2006/main">
              <a:ext uri="{FF2B5EF4-FFF2-40B4-BE49-F238E27FC236}">
                <a16:creationId xmlns:a16="http://schemas.microsoft.com/office/drawing/2014/main" id="{53BDFA6F-B22A-4E42-B8B1-B1197872FB05}"/>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29</a:t>
            </a:r>
          </a:p>
        </p:txBody>
      </p:sp>
      <p:sp>
        <p:nvSpPr>
          <p:cNvPr id="4" name="">
            <a:extLst xmlns:a="http://schemas.openxmlformats.org/drawingml/2006/main">
              <a:ext uri="{FF2B5EF4-FFF2-40B4-BE49-F238E27FC236}">
                <a16:creationId xmlns:a16="http://schemas.microsoft.com/office/drawing/2014/main" id="{B3BDA045-50DB-4D18-93F4-C74D80522FD7}"/>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8977D500-E48D-42E4-9FD7-EC9FADD2797C}"/>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글·표·그림 읽기</a:t>
            </a:r>
          </a:p>
        </p:txBody>
      </p:sp>
      <p:sp>
        <p:nvSpPr>
          <p:cNvPr id="6" name="">
            <a:extLst xmlns:a="http://schemas.openxmlformats.org/drawingml/2006/main">
              <a:ext uri="{FF2B5EF4-FFF2-40B4-BE49-F238E27FC236}">
                <a16:creationId xmlns:a16="http://schemas.microsoft.com/office/drawing/2014/main" id="{B795D30A-8663-4388-B5ED-8D74A8D288B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요소별 종류 구분</a:t>
            </a:r>
          </a:p>
        </p:txBody>
      </p:sp>
      <p:sp>
        <p:nvSpPr>
          <p:cNvPr id="8" name="">
            <a:extLst xmlns:a="http://schemas.openxmlformats.org/drawingml/2006/main">
              <a:ext uri="{FF2B5EF4-FFF2-40B4-BE49-F238E27FC236}">
                <a16:creationId xmlns:a16="http://schemas.microsoft.com/office/drawing/2014/main" id="{E55DD656-CF04-4C71-8FF7-E4EA97F64211}"/>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각 요소의 내용을 설명·정리</a:t>
            </a:r>
          </a:p>
        </p:txBody>
      </p:sp>
      <p:sp>
        <p:nvSpPr>
          <p:cNvPr id="10" name="">
            <a:extLst xmlns:a="http://schemas.openxmlformats.org/drawingml/2006/main">
              <a:ext uri="{FF2B5EF4-FFF2-40B4-BE49-F238E27FC236}">
                <a16:creationId xmlns:a16="http://schemas.microsoft.com/office/drawing/2014/main" id="{7E455D21-A3B1-4F24-BB43-66EC6F7875BF}"/>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서로 다른 요소를 연결</a:t>
            </a:r>
          </a:p>
        </p:txBody>
      </p:sp>
      <p:sp>
        <p:nvSpPr>
          <p:cNvPr id="12" name="">
            <a:extLst xmlns:a="http://schemas.openxmlformats.org/drawingml/2006/main">
              <a:ext uri="{FF2B5EF4-FFF2-40B4-BE49-F238E27FC236}">
                <a16:creationId xmlns:a16="http://schemas.microsoft.com/office/drawing/2014/main" id="{1E02069B-2D00-4AD0-B2F3-6CF365E8C0ED}"/>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검색용 그래프와 벡터 저장</a:t>
            </a:r>
          </a:p>
        </p:txBody>
      </p:sp>
      <p:sp>
        <p:nvSpPr>
          <p:cNvPr id="14" name="">
            <a:extLst xmlns:a="http://schemas.openxmlformats.org/drawingml/2006/main">
              <a:ext uri="{FF2B5EF4-FFF2-40B4-BE49-F238E27FC236}">
                <a16:creationId xmlns:a16="http://schemas.microsoft.com/office/drawing/2014/main" id="{9EDD1180-F477-49CE-B91F-2C09F818A67E}"/>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600D1A80-43F5-4A82-BB06-C4364C996F30}"/>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질문의 내용과 형태 파악</a:t>
            </a:r>
          </a:p>
        </p:txBody>
      </p:sp>
      <p:sp>
        <p:nvSpPr>
          <p:cNvPr id="16" name="">
            <a:extLst xmlns:a="http://schemas.openxmlformats.org/drawingml/2006/main">
              <a:ext uri="{FF2B5EF4-FFF2-40B4-BE49-F238E27FC236}">
                <a16:creationId xmlns:a16="http://schemas.microsoft.com/office/drawing/2014/main" id="{04DFC006-1C36-443C-9499-BEE686FDE08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관련 개체와 관계 검색</a:t>
            </a:r>
          </a:p>
        </p:txBody>
      </p:sp>
      <p:sp>
        <p:nvSpPr>
          <p:cNvPr id="18" name="">
            <a:extLst xmlns:a="http://schemas.openxmlformats.org/drawingml/2006/main">
              <a:ext uri="{FF2B5EF4-FFF2-40B4-BE49-F238E27FC236}">
                <a16:creationId xmlns:a16="http://schemas.microsoft.com/office/drawing/2014/main" id="{86497906-D263-46E4-BA8B-FAB0BA74A8CC}"/>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관련 글·표·그림 가져오기</a:t>
            </a:r>
          </a:p>
        </p:txBody>
      </p:sp>
      <p:sp>
        <p:nvSpPr>
          <p:cNvPr id="20" name="">
            <a:extLst xmlns:a="http://schemas.openxmlformats.org/drawingml/2006/main">
              <a:ext uri="{FF2B5EF4-FFF2-40B4-BE49-F238E27FC236}">
                <a16:creationId xmlns:a16="http://schemas.microsoft.com/office/drawing/2014/main" id="{35B8AC4B-2C7C-4D8F-8055-D55A7B3CA019}"/>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서로 맞는 근거끼리 모으기</a:t>
            </a:r>
          </a:p>
        </p:txBody>
      </p:sp>
      <p:sp>
        <p:nvSpPr>
          <p:cNvPr id="22" name="">
            <a:extLst xmlns:a="http://schemas.openxmlformats.org/drawingml/2006/main">
              <a:ext uri="{FF2B5EF4-FFF2-40B4-BE49-F238E27FC236}">
                <a16:creationId xmlns:a16="http://schemas.microsoft.com/office/drawing/2014/main" id="{7C1B3806-BE30-4B97-A276-D83577936F64}"/>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언어·시각 모델로 답변 작성</a:t>
            </a:r>
          </a:p>
        </p:txBody>
      </p:sp>
      <p:sp>
        <p:nvSpPr>
          <p:cNvPr id="24" name="">
            <a:extLst xmlns:a="http://schemas.openxmlformats.org/drawingml/2006/main">
              <a:ext uri="{FF2B5EF4-FFF2-40B4-BE49-F238E27FC236}">
                <a16:creationId xmlns:a16="http://schemas.microsoft.com/office/drawing/2014/main" id="{9BF8B059-B253-4068-9EB4-E9F2AF853204}"/>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글·표·그림을 함께 검색</a:t>
            </a:r>
          </a:p>
        </p:txBody>
      </p:sp>
    </p:spTree>
    <p:extLst>
      <p:ext uri="{BB962C8B-B14F-4D97-AF65-F5344CB8AC3E}">
        <p14:creationId xmlns:p14="http://schemas.microsoft.com/office/powerpoint/2010/main" val="1175252784"/>
      </p:ext>
    </p:extLst>
  </p:cSld>
</p:sld>
</file>

<file path=ppt/slides/slide30.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DDD9C07F-BF43-4460-AE7A-D810C33A1F39}"/>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0">
            <a:solidFill>
              <a:srgbClr val="071923"/>
            </a:solidFill>
            <a:tailEnd type="arrow" w="med" len="med"/>
          </a:ln>
        </p:spPr>
      </p:cxnSp>
      <p:cxnSp>
        <p:nvCxnSpPr>
          <p:cNvPr id="21" name="">
            <a:extLst xmlns:a="http://schemas.openxmlformats.org/drawingml/2006/main">
              <a:ext uri="{FF2B5EF4-FFF2-40B4-BE49-F238E27FC236}">
                <a16:creationId xmlns:a16="http://schemas.microsoft.com/office/drawing/2014/main" id="{B9223629-F666-426F-BC44-324A00EDA6D4}"/>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0">
            <a:solidFill>
              <a:srgbClr val="071923"/>
            </a:solidFill>
            <a:tailEnd type="arrow" w="med" len="med"/>
          </a:ln>
        </p:spPr>
      </p:cxnSp>
      <p:cxnSp>
        <p:nvCxnSpPr>
          <p:cNvPr id="19" name="">
            <a:extLst xmlns:a="http://schemas.openxmlformats.org/drawingml/2006/main">
              <a:ext uri="{FF2B5EF4-FFF2-40B4-BE49-F238E27FC236}">
                <a16:creationId xmlns:a16="http://schemas.microsoft.com/office/drawing/2014/main" id="{56ACDAD9-BBDA-401A-849E-54C1C6727D7C}"/>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0">
            <a:solidFill>
              <a:srgbClr val="071923"/>
            </a:solidFill>
            <a:tailEnd type="arrow" w="med" len="med"/>
          </a:ln>
        </p:spPr>
      </p:cxnSp>
      <p:cxnSp>
        <p:nvCxnSpPr>
          <p:cNvPr id="17" name="">
            <a:extLst xmlns:a="http://schemas.openxmlformats.org/drawingml/2006/main">
              <a:ext uri="{FF2B5EF4-FFF2-40B4-BE49-F238E27FC236}">
                <a16:creationId xmlns:a16="http://schemas.microsoft.com/office/drawing/2014/main" id="{5AC24DEE-1EFE-4D16-AFE4-8F8E50055DA9}"/>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0">
            <a:solidFill>
              <a:srgbClr val="071923"/>
            </a:solidFill>
            <a:tailEnd type="arrow" w="med" len="med"/>
          </a:ln>
        </p:spPr>
      </p:cxnSp>
      <p:cxnSp>
        <p:nvCxnSpPr>
          <p:cNvPr id="13" name="">
            <a:extLst xmlns:a="http://schemas.openxmlformats.org/drawingml/2006/main">
              <a:ext uri="{FF2B5EF4-FFF2-40B4-BE49-F238E27FC236}">
                <a16:creationId xmlns:a16="http://schemas.microsoft.com/office/drawing/2014/main" id="{263598A3-F5BF-4835-BFD7-672DE5A6B0A3}"/>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0">
            <a:solidFill>
              <a:srgbClr val="071923"/>
            </a:solidFill>
            <a:tailEnd type="arrow" w="med" len="med"/>
          </a:ln>
        </p:spPr>
      </p:cxnSp>
      <p:cxnSp>
        <p:nvCxnSpPr>
          <p:cNvPr id="11" name="">
            <a:extLst xmlns:a="http://schemas.openxmlformats.org/drawingml/2006/main">
              <a:ext uri="{FF2B5EF4-FFF2-40B4-BE49-F238E27FC236}">
                <a16:creationId xmlns:a16="http://schemas.microsoft.com/office/drawing/2014/main" id="{41360501-FE08-4757-AD04-864D3D14736B}"/>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0">
            <a:solidFill>
              <a:srgbClr val="071923"/>
            </a:solidFill>
            <a:tailEnd type="arrow" w="med" len="med"/>
          </a:ln>
        </p:spPr>
      </p:cxnSp>
      <p:cxnSp>
        <p:nvCxnSpPr>
          <p:cNvPr id="9" name="">
            <a:extLst xmlns:a="http://schemas.openxmlformats.org/drawingml/2006/main">
              <a:ext uri="{FF2B5EF4-FFF2-40B4-BE49-F238E27FC236}">
                <a16:creationId xmlns:a16="http://schemas.microsoft.com/office/drawing/2014/main" id="{8D0A34F7-76FC-4D8C-9080-9BAB778A75CE}"/>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0">
            <a:solidFill>
              <a:srgbClr val="071923"/>
            </a:solidFill>
            <a:tailEnd type="arrow" w="med" len="med"/>
          </a:ln>
        </p:spPr>
      </p:cxnSp>
      <p:cxnSp>
        <p:nvCxnSpPr>
          <p:cNvPr id="7" name="">
            <a:extLst xmlns:a="http://schemas.openxmlformats.org/drawingml/2006/main">
              <a:ext uri="{FF2B5EF4-FFF2-40B4-BE49-F238E27FC236}">
                <a16:creationId xmlns:a16="http://schemas.microsoft.com/office/drawing/2014/main" id="{71FB7C4A-E7EF-4C25-AF9E-D0C0F141B9F7}"/>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0">
            <a:solidFill>
              <a:srgbClr val="071923"/>
            </a:solidFill>
            <a:tailEnd type="arrow" w="med" len="med"/>
          </a:ln>
        </p:spPr>
      </p:cxnSp>
      <p:sp>
        <p:nvSpPr>
          <p:cNvPr id="25" name="">
            <a:extLst xmlns:a="http://schemas.openxmlformats.org/drawingml/2006/main">
              <a:ext uri="{FF2B5EF4-FFF2-40B4-BE49-F238E27FC236}">
                <a16:creationId xmlns:a16="http://schemas.microsoft.com/office/drawing/2014/main" id="{0EF54B4C-E447-4565-B7DD-28EFBDD22A44}"/>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도입 기준과 실습 정리</a:t>
            </a:r>
          </a:p>
        </p:txBody>
      </p:sp>
      <p:sp>
        <p:nvSpPr>
          <p:cNvPr id="2" name="">
            <a:extLst xmlns:a="http://schemas.openxmlformats.org/drawingml/2006/main">
              <a:ext uri="{FF2B5EF4-FFF2-40B4-BE49-F238E27FC236}">
                <a16:creationId xmlns:a16="http://schemas.microsoft.com/office/drawing/2014/main" id="{6A551841-0C65-4FFA-B555-F48A50888903}"/>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When to use GraphRAG</a:t>
            </a:r>
          </a:p>
        </p:txBody>
      </p:sp>
      <p:sp>
        <p:nvSpPr>
          <p:cNvPr id="3" name="">
            <a:extLst xmlns:a="http://schemas.openxmlformats.org/drawingml/2006/main">
              <a:ext uri="{FF2B5EF4-FFF2-40B4-BE49-F238E27FC236}">
                <a16:creationId xmlns:a16="http://schemas.microsoft.com/office/drawing/2014/main" id="{C4BD04C0-CA3B-470F-9281-CF689D50716F}"/>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30</a:t>
            </a:r>
          </a:p>
        </p:txBody>
      </p:sp>
      <p:sp>
        <p:nvSpPr>
          <p:cNvPr id="4" name="">
            <a:extLst xmlns:a="http://schemas.openxmlformats.org/drawingml/2006/main">
              <a:ext uri="{FF2B5EF4-FFF2-40B4-BE49-F238E27FC236}">
                <a16:creationId xmlns:a16="http://schemas.microsoft.com/office/drawing/2014/main" id="{B21E88FF-A907-4026-B006-4416D3E26AE3}"/>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GraphRAG를 검토할 때</a:t>
            </a:r>
          </a:p>
        </p:txBody>
      </p:sp>
      <p:sp>
        <p:nvSpPr>
          <p:cNvPr id="5" name="">
            <a:extLst xmlns:a="http://schemas.openxmlformats.org/drawingml/2006/main">
              <a:ext uri="{FF2B5EF4-FFF2-40B4-BE49-F238E27FC236}">
                <a16:creationId xmlns:a16="http://schemas.microsoft.com/office/drawing/2014/main" id="{7A3C85B2-5D39-456A-8625-02F8CA07A6D3}"/>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여러 문서의 관계를 이어야 함</a:t>
            </a:r>
          </a:p>
        </p:txBody>
      </p:sp>
      <p:sp>
        <p:nvSpPr>
          <p:cNvPr id="6" name="">
            <a:extLst xmlns:a="http://schemas.openxmlformats.org/drawingml/2006/main">
              <a:ext uri="{FF2B5EF4-FFF2-40B4-BE49-F238E27FC236}">
                <a16:creationId xmlns:a16="http://schemas.microsoft.com/office/drawing/2014/main" id="{78FD7C24-62C6-4A56-A8A8-A7FC71F1361D}"/>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예: 장애 서비스와 담당 팀 연결</a:t>
            </a:r>
          </a:p>
        </p:txBody>
      </p:sp>
      <p:sp>
        <p:nvSpPr>
          <p:cNvPr id="8" name="">
            <a:extLst xmlns:a="http://schemas.openxmlformats.org/drawingml/2006/main">
              <a:ext uri="{FF2B5EF4-FFF2-40B4-BE49-F238E27FC236}">
                <a16:creationId xmlns:a16="http://schemas.microsoft.com/office/drawing/2014/main" id="{24F0E313-C10B-4AE8-9F34-4043D13CC521}"/>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전체 문서의 공통 주제를 종합</a:t>
            </a:r>
          </a:p>
        </p:txBody>
      </p:sp>
      <p:sp>
        <p:nvSpPr>
          <p:cNvPr id="10" name="">
            <a:extLst xmlns:a="http://schemas.openxmlformats.org/drawingml/2006/main">
              <a:ext uri="{FF2B5EF4-FFF2-40B4-BE49-F238E27FC236}">
                <a16:creationId xmlns:a16="http://schemas.microsoft.com/office/drawing/2014/main" id="{74BBDF4C-9D78-4EE4-B2B6-06A94D079FA4}"/>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예: 여러 장애의 반복 원인 분석</a:t>
            </a:r>
          </a:p>
        </p:txBody>
      </p:sp>
      <p:sp>
        <p:nvSpPr>
          <p:cNvPr id="12" name="">
            <a:extLst xmlns:a="http://schemas.openxmlformats.org/drawingml/2006/main">
              <a:ext uri="{FF2B5EF4-FFF2-40B4-BE49-F238E27FC236}">
                <a16:creationId xmlns:a16="http://schemas.microsoft.com/office/drawing/2014/main" id="{43E33B9E-898A-4678-A618-6F2C8854D83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질문에 맞는 그래프 구조를 선택</a:t>
            </a:r>
          </a:p>
        </p:txBody>
      </p:sp>
      <p:sp>
        <p:nvSpPr>
          <p:cNvPr id="14" name="">
            <a:extLst xmlns:a="http://schemas.openxmlformats.org/drawingml/2006/main">
              <a:ext uri="{FF2B5EF4-FFF2-40B4-BE49-F238E27FC236}">
                <a16:creationId xmlns:a16="http://schemas.microsoft.com/office/drawing/2014/main" id="{C2975E61-4BBE-4D1E-BFDB-2AC0E9589920}"/>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일반 RAG부터 시작할 때</a:t>
            </a:r>
          </a:p>
        </p:txBody>
      </p:sp>
      <p:sp>
        <p:nvSpPr>
          <p:cNvPr id="15" name="">
            <a:extLst xmlns:a="http://schemas.openxmlformats.org/drawingml/2006/main">
              <a:ext uri="{FF2B5EF4-FFF2-40B4-BE49-F238E27FC236}">
                <a16:creationId xmlns:a16="http://schemas.microsoft.com/office/drawing/2014/main" id="{91BF548E-C0FB-4CE5-BB90-AA1C76B7137D}"/>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한 문서에 답이 명확하게 있음</a:t>
            </a:r>
          </a:p>
        </p:txBody>
      </p:sp>
      <p:sp>
        <p:nvSpPr>
          <p:cNvPr id="16" name="">
            <a:extLst xmlns:a="http://schemas.openxmlformats.org/drawingml/2006/main">
              <a:ext uri="{FF2B5EF4-FFF2-40B4-BE49-F238E27FC236}">
                <a16:creationId xmlns:a16="http://schemas.microsoft.com/office/drawing/2014/main" id="{349B25D1-D828-4DD0-8A42-01F9C6A2D2AE}"/>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예: 환불 신청 기한은 며칠인가?</a:t>
            </a:r>
          </a:p>
        </p:txBody>
      </p:sp>
      <p:sp>
        <p:nvSpPr>
          <p:cNvPr id="18" name="">
            <a:extLst xmlns:a="http://schemas.openxmlformats.org/drawingml/2006/main">
              <a:ext uri="{FF2B5EF4-FFF2-40B4-BE49-F238E27FC236}">
                <a16:creationId xmlns:a16="http://schemas.microsoft.com/office/drawing/2014/main" id="{5F07CF09-A3BE-4C9B-BD45-25BDEA09B64A}"/>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관계 정보가 부정확하거나 자주 바뀜</a:t>
            </a:r>
          </a:p>
        </p:txBody>
      </p:sp>
      <p:sp>
        <p:nvSpPr>
          <p:cNvPr id="20" name="">
            <a:extLst xmlns:a="http://schemas.openxmlformats.org/drawingml/2006/main">
              <a:ext uri="{FF2B5EF4-FFF2-40B4-BE49-F238E27FC236}">
                <a16:creationId xmlns:a16="http://schemas.microsoft.com/office/drawing/2014/main" id="{18428463-683D-4212-89F5-4AA21C90E6F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색인 구축·갱신 비용이 큼</a:t>
            </a:r>
          </a:p>
        </p:txBody>
      </p:sp>
      <p:sp>
        <p:nvSpPr>
          <p:cNvPr id="22" name="">
            <a:extLst xmlns:a="http://schemas.openxmlformats.org/drawingml/2006/main">
              <a:ext uri="{FF2B5EF4-FFF2-40B4-BE49-F238E27FC236}">
                <a16:creationId xmlns:a16="http://schemas.microsoft.com/office/drawing/2014/main" id="{19EA944F-63B5-4D33-9028-D02682CF2056}"/>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같은 질문으로 일반 RAG와 비교</a:t>
            </a:r>
          </a:p>
        </p:txBody>
      </p:sp>
      <p:sp>
        <p:nvSpPr>
          <p:cNvPr id="24" name="">
            <a:extLst xmlns:a="http://schemas.openxmlformats.org/drawingml/2006/main">
              <a:ext uri="{FF2B5EF4-FFF2-40B4-BE49-F238E27FC236}">
                <a16:creationId xmlns:a16="http://schemas.microsoft.com/office/drawing/2014/main" id="{3A0157F2-02DF-4B83-9082-D6C716B8C08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도입 기준: 같은 질문에서 근거 정확도·답변 품질·지연·총비용을 비교</a:t>
            </a:r>
          </a:p>
        </p:txBody>
      </p:sp>
    </p:spTree>
    <p:extLst>
      <p:ext uri="{BB962C8B-B14F-4D97-AF65-F5344CB8AC3E}">
        <p14:creationId xmlns:p14="http://schemas.microsoft.com/office/powerpoint/2010/main" val="19765149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2026-10-27T10:05:01.2300000Z</dcterms:created>
  <dcterms:modified xsi:type="dcterms:W3CDTF">2026-10-27T10:05:01.2300000Z</dcterms:modified>
</coreProperties>
</file>